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e85d45e7214563" /><Relationship Type="http://schemas.openxmlformats.org/officeDocument/2006/relationships/extended-properties" Target="/docProps/app.xml" Id="R4c7184585fb14a5e" /><Relationship Type="http://schemas.openxmlformats.org/officeDocument/2006/relationships/officeDocument" Target="/ppt/presentation.xml" Id="R53553c96fda3453a" /></Relationships>
</file>

<file path=ppt/presentation.xml><?xml version="1.0" encoding="utf-8"?>
<p:presentation xmlns:p="http://schemas.openxmlformats.org/presentationml/2006/main">
  <p:sldMasterIdLst>
    <p:sldMasterId xmlns:r="http://schemas.openxmlformats.org/officeDocument/2006/relationships" id="2147483648" r:id="Rba71c7ddd0854a99"/>
  </p:sldMasterIdLst>
  <p:notesMasterIdLst>
    <p:notesMasterId xmlns:r="http://schemas.openxmlformats.org/officeDocument/2006/relationships" r:id="R3802c0493d014fc6"/>
  </p:notesMasterIdLst>
  <p:sldIdLst>
    <p:sldId xmlns:r="http://schemas.openxmlformats.org/officeDocument/2006/relationships" id="256" r:id="Rb68b012b3371481b"/>
    <p:sldId xmlns:r="http://schemas.openxmlformats.org/officeDocument/2006/relationships" id="257" r:id="R14ba35c3693c4d49"/>
    <p:sldId xmlns:r="http://schemas.openxmlformats.org/officeDocument/2006/relationships" id="258" r:id="Rb1b52e2d77734b3b"/>
    <p:sldId xmlns:r="http://schemas.openxmlformats.org/officeDocument/2006/relationships" id="259" r:id="R9837ac54954a4965"/>
    <p:sldId xmlns:r="http://schemas.openxmlformats.org/officeDocument/2006/relationships" id="260" r:id="Radeb5770c18c45b1"/>
    <p:sldId xmlns:r="http://schemas.openxmlformats.org/officeDocument/2006/relationships" id="261" r:id="R096460a6af884ecc"/>
    <p:sldId xmlns:r="http://schemas.openxmlformats.org/officeDocument/2006/relationships" id="262" r:id="Re53c069851b54df2"/>
    <p:sldId xmlns:r="http://schemas.openxmlformats.org/officeDocument/2006/relationships" id="263" r:id="R59a2f6f7dda246b7"/>
    <p:sldId xmlns:r="http://schemas.openxmlformats.org/officeDocument/2006/relationships" id="264" r:id="R20a99abb6e5d474e"/>
    <p:sldId xmlns:r="http://schemas.openxmlformats.org/officeDocument/2006/relationships" id="265" r:id="Rdf06e066833a414e"/>
    <p:sldId xmlns:r="http://schemas.openxmlformats.org/officeDocument/2006/relationships" id="266" r:id="R0d4b7e139b9040ce"/>
    <p:sldId xmlns:r="http://schemas.openxmlformats.org/officeDocument/2006/relationships" id="267" r:id="Rfc0f011649f74ace"/>
    <p:sldId xmlns:r="http://schemas.openxmlformats.org/officeDocument/2006/relationships" id="268" r:id="Reb92cff51a134eb4"/>
    <p:sldId xmlns:r="http://schemas.openxmlformats.org/officeDocument/2006/relationships" id="269" r:id="Recef355cdd6648c7"/>
    <p:sldId xmlns:r="http://schemas.openxmlformats.org/officeDocument/2006/relationships" id="270" r:id="R68c992cc5fc344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37bb50bca8494f" /><Relationship Type="http://schemas.openxmlformats.org/officeDocument/2006/relationships/slideMaster" Target="/ppt/slideMasters/slideMaster1.xml" Id="Rba71c7ddd0854a99" /><Relationship Type="http://schemas.openxmlformats.org/officeDocument/2006/relationships/notesMaster" Target="/ppt/notesMasters/notesMaster1.xml" Id="R3802c0493d014fc6" /><Relationship Type="http://schemas.openxmlformats.org/officeDocument/2006/relationships/presProps" Target="/ppt/presProps.xml" Id="R5658b3dc41f646f2" /><Relationship Type="http://schemas.openxmlformats.org/officeDocument/2006/relationships/tableStyles" Target="/ppt/tableStyles.xml" Id="Rb2fd060960b54993" /><Relationship Type="http://schemas.openxmlformats.org/officeDocument/2006/relationships/slide" Target="/ppt/slides/slide1.xml" Id="Rb68b012b3371481b" /><Relationship Type="http://schemas.openxmlformats.org/officeDocument/2006/relationships/slide" Target="/ppt/slides/slide2.xml" Id="R14ba35c3693c4d49" /><Relationship Type="http://schemas.openxmlformats.org/officeDocument/2006/relationships/slide" Target="/ppt/slides/slide3.xml" Id="Rb1b52e2d77734b3b" /><Relationship Type="http://schemas.openxmlformats.org/officeDocument/2006/relationships/slide" Target="/ppt/slides/slide4.xml" Id="R9837ac54954a4965" /><Relationship Type="http://schemas.openxmlformats.org/officeDocument/2006/relationships/slide" Target="/ppt/slides/slide5.xml" Id="Radeb5770c18c45b1" /><Relationship Type="http://schemas.openxmlformats.org/officeDocument/2006/relationships/slide" Target="/ppt/slides/slide6.xml" Id="R096460a6af884ecc" /><Relationship Type="http://schemas.openxmlformats.org/officeDocument/2006/relationships/slide" Target="/ppt/slides/slide7.xml" Id="Re53c069851b54df2" /><Relationship Type="http://schemas.openxmlformats.org/officeDocument/2006/relationships/slide" Target="/ppt/slides/slide8.xml" Id="R59a2f6f7dda246b7" /><Relationship Type="http://schemas.openxmlformats.org/officeDocument/2006/relationships/slide" Target="/ppt/slides/slide9.xml" Id="R20a99abb6e5d474e" /><Relationship Type="http://schemas.openxmlformats.org/officeDocument/2006/relationships/slide" Target="/ppt/slides/slide10.xml" Id="Rdf06e066833a414e" /><Relationship Type="http://schemas.openxmlformats.org/officeDocument/2006/relationships/slide" Target="/ppt/slides/slide11.xml" Id="R0d4b7e139b9040ce" /><Relationship Type="http://schemas.openxmlformats.org/officeDocument/2006/relationships/slide" Target="/ppt/slides/slide12.xml" Id="Rfc0f011649f74ace" /><Relationship Type="http://schemas.openxmlformats.org/officeDocument/2006/relationships/slide" Target="/ppt/slides/slide13.xml" Id="Reb92cff51a134eb4" /><Relationship Type="http://schemas.openxmlformats.org/officeDocument/2006/relationships/slide" Target="/ppt/slides/slide14.xml" Id="Recef355cdd6648c7" /><Relationship Type="http://schemas.openxmlformats.org/officeDocument/2006/relationships/slide" Target="/ppt/slides/slide15.xml" Id="R68c992cc5fc344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7f2b7ed55e44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7c8a061a9d4b01" /><Relationship Type="http://schemas.openxmlformats.org/officeDocument/2006/relationships/notesMaster" Target="/ppt/notesMasters/notesMaster1.xml" Id="R59cb69989a444a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8ea8dac06247d8" /><Relationship Type="http://schemas.openxmlformats.org/officeDocument/2006/relationships/notesMaster" Target="/ppt/notesMasters/notesMaster1.xml" Id="R3254bc87487747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926a869a8c48b1" /><Relationship Type="http://schemas.openxmlformats.org/officeDocument/2006/relationships/notesMaster" Target="/ppt/notesMasters/notesMaster1.xml" Id="R613871b00a6348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4d4c907b484440" /><Relationship Type="http://schemas.openxmlformats.org/officeDocument/2006/relationships/notesMaster" Target="/ppt/notesMasters/notesMaster1.xml" Id="R96946f66ecf849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e62d88ac0447a1" /><Relationship Type="http://schemas.openxmlformats.org/officeDocument/2006/relationships/notesMaster" Target="/ppt/notesMasters/notesMaster1.xml" Id="R3f5b2f8c49fb46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380ae500d84281" /><Relationship Type="http://schemas.openxmlformats.org/officeDocument/2006/relationships/notesMaster" Target="/ppt/notesMasters/notesMaster1.xml" Id="R8c82fcc5207c4f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203460940d4d1a" /><Relationship Type="http://schemas.openxmlformats.org/officeDocument/2006/relationships/notesMaster" Target="/ppt/notesMasters/notesMaster1.xml" Id="R628672977e9a44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417ee3f6fa4f20" /><Relationship Type="http://schemas.openxmlformats.org/officeDocument/2006/relationships/notesMaster" Target="/ppt/notesMasters/notesMaster1.xml" Id="Rd2f09997576f4f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29eafaad654fcc" /><Relationship Type="http://schemas.openxmlformats.org/officeDocument/2006/relationships/notesMaster" Target="/ppt/notesMasters/notesMaster1.xml" Id="Reada8db165de4a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cf0f0aa0264059" /><Relationship Type="http://schemas.openxmlformats.org/officeDocument/2006/relationships/notesMaster" Target="/ppt/notesMasters/notesMaster1.xml" Id="Rea9bd774ce654d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cb9417ab4f4e41" /><Relationship Type="http://schemas.openxmlformats.org/officeDocument/2006/relationships/notesMaster" Target="/ppt/notesMasters/notesMaster1.xml" Id="R6fe75394aa3f48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bac5f520ce4d26" /><Relationship Type="http://schemas.openxmlformats.org/officeDocument/2006/relationships/notesMaster" Target="/ppt/notesMasters/notesMaster1.xml" Id="R4755b6c5afac41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2f0ff4059444f5" /><Relationship Type="http://schemas.openxmlformats.org/officeDocument/2006/relationships/notesMaster" Target="/ppt/notesMasters/notesMaster1.xml" Id="R258e1dad3aab43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918a4a1d5b40dd" /><Relationship Type="http://schemas.openxmlformats.org/officeDocument/2006/relationships/notesMaster" Target="/ppt/notesMasters/notesMaster1.xml" Id="R79b8a2f326d54a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bd93f400e547f6" /><Relationship Type="http://schemas.openxmlformats.org/officeDocument/2006/relationships/notesMaster" Target="/ppt/notesMasters/notesMaster1.xml" Id="R355d5ab558fb4b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この発表では、Depth Anything V2の深度出力が稲高計測にそのまま使えるかを段階的に確認した予備実験を紹介します。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深度推定の出力は、画素のカメラ距離または相対的な順序です。稲高へ変換するには地面の位置、カメラの姿勢と尺度が必要です。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DA2にはmetric depthとrelative depthの出力があります。相対深度をGTに合わせてscale+shiftした値は診断用途であり、未知データでの自動校正を意味しません。</a:t>
            </a:r>
          </a:p>
          <a:p xmlns:a="http://schemas.openxmlformats.org/drawingml/2006/main">
            <a:r>
              <a:t/>
            </a:r>
          </a:p>
          <a:p xmlns:a="http://schemas.openxmlformats.org/drawingml/2006/main">
            <a:r>
              <a:t>一次資料:</a:t>
            </a:r>
          </a:p>
          <a:p xmlns:a="http://schemas.openxmlformats.org/drawingml/2006/main">
            <a:r>
              <a:t>- https://arxiv.org/abs/2406.09414</a:t>
            </a:r>
          </a:p>
          <a:p xmlns:a="http://schemas.openxmlformats.org/drawingml/2006/main">
            <a:r>
              <a:t>- https://github.com/DepthAnything/Depth-Anything-V2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一般道路から始めて評価基盤を確認し、次に点群化、稲画像への適用、作物UAVのGT深度、実稲のCHMへ進みました。各段階で別の研究上の問いを確認しています。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50画像・有効画素をpoolして集計。GT距離帯MAEは0–10 m 0.7002、10–20 m 1.7930、20–40 m 4.7977、40–60 m 13.7114、60–80 m 20.1499 m。屋外道路domainでの確認で、作物domainの性能を意味しません。</a:t>
            </a:r>
          </a:p>
          <a:p xmlns:a="http://schemas.openxmlformats.org/drawingml/2006/main">
            <a:r>
              <a:t/>
            </a:r>
          </a:p>
          <a:p xmlns:a="http://schemas.openxmlformats.org/drawingml/2006/main">
            <a:r>
              <a:t>一次資料:</a:t>
            </a:r>
          </a:p>
          <a:p xmlns:a="http://schemas.openxmlformats.org/drawingml/2006/main">
            <a:r>
              <a:t>- https://www.cvlibs.net/datasets/kitti/</a:t>
            </a:r>
          </a:p>
          <a:p xmlns:a="http://schemas.openxmlformats.org/drawingml/2006/main">
            <a:r>
              <a:t>- https://www.cvlibs.net/publications/Geiger2012CVPR.pdf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ETH3Dの1画像でdisparity由来GT depthと予測を比較し、intrinsicsを使った点群を生成しました。予測115,395点・GT 86,105点からそれぞれ50,000点sample。ICP等のalignmentなしで、予測→GT NN平均0.6751m、GT→予測1.1517m、対称平均0.9134m。</a:t>
            </a:r>
          </a:p>
          <a:p xmlns:a="http://schemas.openxmlformats.org/drawingml/2006/main">
            <a:r>
              <a:t/>
            </a:r>
          </a:p>
          <a:p xmlns:a="http://schemas.openxmlformats.org/drawingml/2006/main">
            <a:r>
              <a:t>一次資料:</a:t>
            </a:r>
          </a:p>
          <a:p xmlns:a="http://schemas.openxmlformats.org/drawingml/2006/main">
            <a:r>
              <a:t>- https://eth3d.ethz.ch/</a:t>
            </a:r>
          </a:p>
          <a:p xmlns:a="http://schemas.openxmlformats.org/drawingml/2006/main">
            <a:r>
              <a:t>- https://openaccess.thecvf.com/content_cvpr_2017/papers/Schops_A_Multi-View_Stereo_CVPR_2017_paper.pdf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Early/middle/lateを各3枚、合計9枚に適用。canopy-ground depth differenceは地面・canopyの対応やframe-level GTがないためproxyにとどまり、稲高とは呼びません。Lateの候補地面値は最終methodでNO_GROUND_REFERENCEとして除外されています。</a:t>
            </a:r>
          </a:p>
          <a:p xmlns:a="http://schemas.openxmlformats.org/drawingml/2006/main">
            <a:r>
              <a:t/>
            </a:r>
          </a:p>
          <a:p xmlns:a="http://schemas.openxmlformats.org/drawingml/2006/main">
            <a:r>
              <a:t>一次資料:</a:t>
            </a:r>
          </a:p>
          <a:p xmlns:a="http://schemas.openxmlformats.org/drawingml/2006/main">
            <a:r>
              <a:t>- https://github.com/LUMS-WIT/infrastructure-free-uav-phenotyping</a:t>
            </a:r>
          </a:p>
          <a:p xmlns:a="http://schemas.openxmlformats.org/drawingml/2006/main">
            <a:r>
              <a:t>- https://doi.org/10.1016/j.compag.2026.111677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全52画像はWheat20 + Oat16 + Corn16、nadir26 + oblique26のcanonical uav3dcrop_all集計。MAE/RMSE/AbsRel/Biasはpooled。提示したRGB/GT/pred図は既存のWheat-only図なので代表例と明記。KITTIとの直接ランキングはしません。</a:t>
            </a:r>
          </a:p>
          <a:p xmlns:a="http://schemas.openxmlformats.org/drawingml/2006/main">
            <a:r>
              <a:t/>
            </a:r>
          </a:p>
          <a:p xmlns:a="http://schemas.openxmlformats.org/drawingml/2006/main">
            <a:r>
              <a:t>一次資料:</a:t>
            </a:r>
          </a:p>
          <a:p xmlns:a="http://schemas.openxmlformats.org/drawingml/2006/main">
            <a:r>
              <a:t>- https://link-dev.github.io/UAV3DCrop/</a:t>
            </a:r>
          </a:p>
          <a:p xmlns:a="http://schemas.openxmlformats.org/drawingml/2006/main">
            <a:r>
              <a:t>- https://arxiv.org/abs/2608.06404</a:t>
            </a:r>
          </a:p>
          <a:p xmlns:a="http://schemas.openxmlformats.org/drawingml/2006/main">
            <a:r>
              <a:t>- https://github.com/Link-dev/UAV3DCrop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|GT差分|中央値0.015625 m、mean absolute GT difference = zero-baseline MAE = 0.0406557 m。metric raw MAEは0.0532587、relative scale+shiftは0.0408736 mでzeroより0.000218m悪い。relative alignmentはGTを使う診断であり、実運用で利用できる校正ではありません。Local differenceはcrop GTのcamera-frame Z差。</a:t>
            </a:r>
          </a:p>
          <a:p xmlns:a="http://schemas.openxmlformats.org/drawingml/2006/main">
            <a:r>
              <a:t/>
            </a:r>
          </a:p>
          <a:p xmlns:a="http://schemas.openxmlformats.org/drawingml/2006/main">
            <a:r>
              <a:t>一次資料:</a:t>
            </a:r>
          </a:p>
          <a:p xmlns:a="http://schemas.openxmlformats.org/drawingml/2006/main">
            <a:r>
              <a:t>- https://arxiv.org/abs/2608.06404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use the report target-magnitude definition: |GT Δ| within ±20% around 0.1, 0.2, 0.5, and 1.0m, pooled over all tested separations (not only 32px). The GT is photogrammetry camera Z depth, not measured plant height. Sign agreement rises from .652 to .883; regression slopes remain .178–.306.</a:t>
            </a:r>
          </a:p>
          <a:p xmlns:a="http://schemas.openxmlformats.org/drawingml/2006/main">
            <a:r>
              <a:t/>
            </a:r>
          </a:p>
          <a:p xmlns:a="http://schemas.openxmlformats.org/drawingml/2006/main">
            <a:r>
              <a:t>一次資料:</a:t>
            </a:r>
          </a:p>
          <a:p xmlns:a="http://schemas.openxmlformats.org/drawingml/2006/main">
            <a:r>
              <a:t>- https://arxiv.org/abs/2608.06404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実際の稲の1日分（20220505）を使ったpixel comparison。sample 300,000、valid 4,958,593。relativeとCHMのPearson .257874 / Spearman .209845。GT-assisted scale+shift aligned MAE/RMSE .079086/.144965m。CHM sample median constant baseline MAE/RMSE .056350/.158830m。DA2はMAEでconstant baselineを上回らず、RMSEでは下回る。CHMは簡略化したSOR+CSF/rasterizationによる近似で公式AirMeasurer GUIと同一ではない。入力はorthomosaicで単一raw camera frameではありません。</a:t>
            </a:r>
          </a:p>
          <a:p xmlns:a="http://schemas.openxmlformats.org/drawingml/2006/main">
            <a:r>
              <a:t/>
            </a:r>
          </a:p>
          <a:p xmlns:a="http://schemas.openxmlformats.org/drawingml/2006/main">
            <a:r>
              <a:t>一次資料:</a:t>
            </a:r>
          </a:p>
          <a:p xmlns:a="http://schemas.openxmlformats.org/drawingml/2006/main">
            <a:r>
              <a:t>- https://doi.org/10.1111/nph.18314</a:t>
            </a:r>
          </a:p>
          <a:p xmlns:a="http://schemas.openxmlformats.org/drawingml/2006/main">
            <a:r>
              <a:t>- https://github.com/The-Zhou-Lab/UAV-AirMeasurer/releases/tag/V2.0.2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 local 32px all-pair summary: n=64,569, MAE .0507964m, RMSE .1305396, Pearson .444826, Spearman .273283, sign .554222, slope .047368. Table magnitude bins pool across all separations using target ±20%. Magnitude trends are local relative-depth differences compared with CHM; they do not validate absolute rice height.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結論では出力の生成可能性、順序の部分保持、振幅の校正可能性、実測稲高との対応を分けて述べます。現在のデータから絶対稲高精度は確認できていません。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Height estimation needs camera geometry, a ground reference, scale information, and measured heights. Current results do not establish sufficient alignment to ground truth rice height.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今後は、intrinsics、camera pose/AGL、地面基準、plotごとの実測稲高を同期取得します。DA2深度をgeometry-awareに補正し、校正用とは独立したplot/dateのhold-outで評価します。</a:t>
            </a:r>
          </a:p>
          <a:p xmlns:a="http://schemas.openxmlformats.org/drawingml/2006/main">
            <a:r>
              <a:t/>
            </a:r>
          </a:p>
          <a:p xmlns:a="http://schemas.openxmlformats.org/drawingml/2006/main">
            <a:r>
              <a:t>一次資料:</a:t>
            </a:r>
          </a:p>
          <a:p xmlns:a="http://schemas.openxmlformats.org/drawingml/2006/main">
            <a:r>
              <a:t>- https://arxiv.org/abs/2406.09414</a:t>
            </a:r>
          </a:p>
          <a:p xmlns:a="http://schemas.openxmlformats.org/drawingml/2006/main">
            <a:r>
              <a:t>- https://www.cvlibs.net/publications/Geiger2012CVPR.pdf</a:t>
            </a:r>
          </a:p>
          <a:p xmlns:a="http://schemas.openxmlformats.org/drawingml/2006/main">
            <a:r>
              <a:t>- https://openaccess.thecvf.com/content_cvpr_2017/papers/Schops_A_Multi-View_Stereo_CVPR_2017_paper.pdf</a:t>
            </a:r>
          </a:p>
          <a:p xmlns:a="http://schemas.openxmlformats.org/drawingml/2006/main">
            <a:r>
              <a:t>- https://github.com/LUMS-WIT/infrastructure-free-uav-phenotyping</a:t>
            </a:r>
          </a:p>
          <a:p xmlns:a="http://schemas.openxmlformats.org/drawingml/2006/main">
            <a:r>
              <a:t>- https://arxiv.org/abs/2608.06404</a:t>
            </a:r>
          </a:p>
          <a:p xmlns:a="http://schemas.openxmlformats.org/drawingml/2006/main">
            <a:r>
              <a:t>- https://doi.org/10.1111/nph.18314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b08747f6f34b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027d9298e24951" /><Relationship Type="http://schemas.openxmlformats.org/officeDocument/2006/relationships/slideLayout" Target="/ppt/slideLayouts/slideLayout1.xml" Id="R2c89ee04fd64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89ee04fd64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1cdb2fcacd438c" /><Relationship Type="http://schemas.openxmlformats.org/officeDocument/2006/relationships/notesSlide" Target="/ppt/notesSlides/notesSlide1.xml" Id="Re0ba1e94816c44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2419301d46476b" /><Relationship Type="http://schemas.openxmlformats.org/officeDocument/2006/relationships/notesSlide" Target="/ppt/notesSlides/notesSlide2.xml" Id="R54e87bc0a88348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e8a9a0f82f40f3" /><Relationship Type="http://schemas.openxmlformats.org/officeDocument/2006/relationships/notesSlide" Target="/ppt/notesSlides/notesSlide3.xml" Id="R492d980997e6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c6252102974916" /><Relationship Type="http://schemas.openxmlformats.org/officeDocument/2006/relationships/notesSlide" Target="/ppt/notesSlides/notesSlide4.xml" Id="R551a63f1a0e142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4c0e44239c4dec" /><Relationship Type="http://schemas.openxmlformats.org/officeDocument/2006/relationships/image" Target="/ppt/media/image.png" Id="R282a1fdc30ce452c" /><Relationship Type="http://schemas.openxmlformats.org/officeDocument/2006/relationships/image" Target="/ppt/media/image2.png" Id="Rbc28271057054f26" /><Relationship Type="http://schemas.openxmlformats.org/officeDocument/2006/relationships/notesSlide" Target="/ppt/notesSlides/notesSlide5.xml" Id="Ra159bfd105ed4a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327f95c21a4a10" /><Relationship Type="http://schemas.openxmlformats.org/officeDocument/2006/relationships/image" Target="/ppt/media/image3.png" Id="Rd5e9d93e49224be7" /><Relationship Type="http://schemas.openxmlformats.org/officeDocument/2006/relationships/notesSlide" Target="/ppt/notesSlides/notesSlide6.xml" Id="R1899105e79ad4d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c86a93e5cf40bf" /><Relationship Type="http://schemas.openxmlformats.org/officeDocument/2006/relationships/image" Target="/ppt/media/image4.png" Id="R7045c6c633b64c36" /><Relationship Type="http://schemas.openxmlformats.org/officeDocument/2006/relationships/notesSlide" Target="/ppt/notesSlides/notesSlide7.xml" Id="R48546f5802134d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c3cfc436844174" /><Relationship Type="http://schemas.openxmlformats.org/officeDocument/2006/relationships/image" Target="/ppt/media/image5.png" Id="R54ccf1167d174233" /><Relationship Type="http://schemas.openxmlformats.org/officeDocument/2006/relationships/notesSlide" Target="/ppt/notesSlides/notesSlide8.xml" Id="Rc7b27e4877f64e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ba4c7a3e954a77" /><Relationship Type="http://schemas.openxmlformats.org/officeDocument/2006/relationships/image" Target="/ppt/media/image6.png" Id="R1dc04703425d4623" /><Relationship Type="http://schemas.openxmlformats.org/officeDocument/2006/relationships/notesSlide" Target="/ppt/notesSlides/notesSlide9.xml" Id="Re6dfb34fd6324c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0644f53d6b4869" /><Relationship Type="http://schemas.openxmlformats.org/officeDocument/2006/relationships/notesSlide" Target="/ppt/notesSlides/notesSlide10.xml" Id="R2e41d09126c344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5473f34ec5477a" /><Relationship Type="http://schemas.openxmlformats.org/officeDocument/2006/relationships/image" Target="/ppt/media/image7.png" Id="Rb8018e16bf67449f" /><Relationship Type="http://schemas.openxmlformats.org/officeDocument/2006/relationships/notesSlide" Target="/ppt/notesSlides/notesSlide11.xml" Id="Red26602c003e4d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88d08ab1ca4584" /><Relationship Type="http://schemas.openxmlformats.org/officeDocument/2006/relationships/image" Target="/ppt/media/image8.png" Id="Rdb0169621f124dda" /><Relationship Type="http://schemas.openxmlformats.org/officeDocument/2006/relationships/notesSlide" Target="/ppt/notesSlides/notesSlide12.xml" Id="Rf3ff200d6ca244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3b374c1eed4fab" /><Relationship Type="http://schemas.openxmlformats.org/officeDocument/2006/relationships/notesSlide" Target="/ppt/notesSlides/notesSlide13.xml" Id="R427f8a01456049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182113df364562" /><Relationship Type="http://schemas.openxmlformats.org/officeDocument/2006/relationships/notesSlide" Target="/ppt/notesSlides/notesSlide14.xml" Id="Rd46cef7f90ab42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d020df1cbf4e8d" /><Relationship Type="http://schemas.openxmlformats.org/officeDocument/2006/relationships/notesSlide" Target="/ppt/notesSlides/notesSlide15.xml" Id="R1ee24f943e3d4c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9F57215-9B6F-4DD5-BE80-E33B3E738D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42E856-1708-46C6-AA9D-F4F8980AACC7}"/>
              </a:ext>
            </a:extLst>
          </p:cNvPr>
          <p:cNvSpPr>
            <a:spLocks xmlns:a="http://schemas.openxmlformats.org/drawingml/2006/main" noGrp="1"/>
          </p:cNvSpPr>
          <p:nvPr/>
        </p:nvSpPr>
        <p:spPr>
          <a:xfrm xmlns:a="http://schemas.openxmlformats.org/drawingml/2006/main">
            <a:off x="685800" y="876300"/>
            <a:ext cx="895350" cy="762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FEF4446-7B5B-45F9-94DE-00027DE733CB}"/>
              </a:ext>
            </a:extLst>
          </p:cNvPr>
          <p:cNvSpPr>
            <a:spLocks xmlns:a="http://schemas.openxmlformats.org/drawingml/2006/main" noGrp="1"/>
          </p:cNvSpPr>
          <p:nvPr/>
        </p:nvSpPr>
        <p:spPr>
          <a:xfrm xmlns:a="http://schemas.openxmlformats.org/drawingml/2006/main">
            <a:off x="685800" y="1381125"/>
            <a:ext cx="10382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a:solidFill>
                  <a:srgbClr val="142A43"/>
                </a:solidFill>
                <a:latin typeface="Yu Gothic"/>
                <a:ea typeface="Yu Gothic"/>
                <a:cs typeface="Yu Gothic"/>
              </a:defRPr>
            </a:pPr>
            <a:r>
              <a:rPr sz="3450" b="1">
                <a:solidFill>
                  <a:srgbClr val="142A43"/>
                </a:solidFill>
                <a:latin typeface="Yu Gothic"/>
                <a:ea typeface="Yu Gothic"/>
                <a:cs typeface="Yu Gothic"/>
              </a:rPr>
              <a:t>Depth Anything V2を用いた</a:t>
            </a:r>
          </a:p>
          <a:p xmlns:a="http://schemas.openxmlformats.org/drawingml/2006/main">
            <a:pPr algn="l">
              <a:lnSpc>
                <a:spcPct val="100000"/>
              </a:lnSpc>
              <a:buNone/>
              <a:defRPr sz="3450" b="1">
                <a:solidFill>
                  <a:srgbClr val="142A43"/>
                </a:solidFill>
                <a:latin typeface="Yu Gothic"/>
                <a:ea typeface="Yu Gothic"/>
                <a:cs typeface="Yu Gothic"/>
              </a:defRPr>
            </a:pPr>
            <a:r>
              <a:rPr sz="3450" b="1">
                <a:solidFill>
                  <a:srgbClr val="142A43"/>
                </a:solidFill>
                <a:latin typeface="Yu Gothic"/>
                <a:ea typeface="Yu Gothic"/>
                <a:cs typeface="Yu Gothic"/>
              </a:rPr>
              <a:t>UAV稲画像からの高さ推定・3D復元に向けた</a:t>
            </a:r>
          </a:p>
          <a:p xmlns:a="http://schemas.openxmlformats.org/drawingml/2006/main">
            <a:pPr algn="l">
              <a:lnSpc>
                <a:spcPct val="100000"/>
              </a:lnSpc>
              <a:buNone/>
              <a:defRPr sz="3450" b="1">
                <a:solidFill>
                  <a:srgbClr val="142A43"/>
                </a:solidFill>
                <a:latin typeface="Yu Gothic"/>
                <a:ea typeface="Yu Gothic"/>
                <a:cs typeface="Yu Gothic"/>
              </a:defRPr>
            </a:pPr>
            <a:r>
              <a:rPr sz="3450" b="1">
                <a:solidFill>
                  <a:srgbClr val="142A43"/>
                </a:solidFill>
                <a:latin typeface="Yu Gothic"/>
                <a:ea typeface="Yu Gothic"/>
                <a:cs typeface="Yu Gothic"/>
              </a:rPr>
              <a:t>予備的検討</a:t>
            </a:r>
          </a:p>
        </p:txBody>
      </p:sp>
      <p:sp>
        <p:nvSpPr>
          <p:cNvPr id="4" name="">
            <a:extLst xmlns:a="http://schemas.openxmlformats.org/drawingml/2006/main">
              <a:ext uri="{FF2B5EF4-FFF2-40B4-BE49-F238E27FC236}">
                <a16:creationId xmlns:a16="http://schemas.microsoft.com/office/drawing/2014/main" id="{88F99ACA-16F2-4471-BC9D-6671E183160A}"/>
              </a:ext>
            </a:extLst>
          </p:cNvPr>
          <p:cNvSpPr>
            <a:spLocks xmlns:a="http://schemas.openxmlformats.org/drawingml/2006/main" noGrp="1"/>
          </p:cNvSpPr>
          <p:nvPr/>
        </p:nvSpPr>
        <p:spPr>
          <a:xfrm xmlns:a="http://schemas.openxmlformats.org/drawingml/2006/main">
            <a:off x="723900" y="3667125"/>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025" b="1">
                <a:solidFill>
                  <a:srgbClr val="2D6F9F"/>
                </a:solidFill>
                <a:latin typeface="Yu Gothic"/>
                <a:ea typeface="Yu Gothic"/>
                <a:cs typeface="Yu Gothic"/>
              </a:defRPr>
            </a:pPr>
            <a:r>
              <a:rPr sz="2025" b="1">
                <a:solidFill>
                  <a:srgbClr val="2D6F9F"/>
                </a:solidFill>
                <a:latin typeface="Yu Gothic"/>
                <a:ea typeface="Yu Gothic"/>
                <a:cs typeface="Yu Gothic"/>
              </a:rPr>
              <a:t>一般環境評価から実稲UAV画像・CHM比較まで</a:t>
            </a:r>
          </a:p>
        </p:txBody>
      </p:sp>
      <p:sp>
        <p:nvSpPr>
          <p:cNvPr id="5" name="">
            <a:extLst xmlns:a="http://schemas.openxmlformats.org/drawingml/2006/main">
              <a:ext uri="{FF2B5EF4-FFF2-40B4-BE49-F238E27FC236}">
                <a16:creationId xmlns:a16="http://schemas.microsoft.com/office/drawing/2014/main" id="{ACB2A081-3CE5-44DE-8CAC-18496BC5A0D7}"/>
              </a:ext>
            </a:extLst>
          </p:cNvPr>
          <p:cNvSpPr>
            <a:spLocks xmlns:a="http://schemas.openxmlformats.org/drawingml/2006/main" noGrp="1"/>
          </p:cNvSpPr>
          <p:nvPr/>
        </p:nvSpPr>
        <p:spPr>
          <a:xfrm xmlns:a="http://schemas.openxmlformats.org/drawingml/2006/main">
            <a:off x="723900" y="4905375"/>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62717F"/>
                </a:solidFill>
                <a:latin typeface="Yu Gothic"/>
                <a:ea typeface="Yu Gothic"/>
                <a:cs typeface="Yu Gothic"/>
              </a:defRPr>
            </a:pPr>
            <a:r>
              <a:rPr sz="1575" b="0">
                <a:solidFill>
                  <a:srgbClr val="62717F"/>
                </a:solidFill>
                <a:latin typeface="Yu Gothic"/>
                <a:ea typeface="Yu Gothic"/>
                <a:cs typeface="Yu Gothic"/>
              </a:rPr>
              <a:t>卒業研究 発表資料</a:t>
            </a:r>
          </a:p>
        </p:txBody>
      </p:sp>
      <p:sp>
        <p:nvSpPr>
          <p:cNvPr id="6" name="">
            <a:extLst xmlns:a="http://schemas.openxmlformats.org/drawingml/2006/main">
              <a:ext uri="{FF2B5EF4-FFF2-40B4-BE49-F238E27FC236}">
                <a16:creationId xmlns:a16="http://schemas.microsoft.com/office/drawing/2014/main" id="{65296270-D7BA-4D69-BB2A-C29D865D86A3}"/>
              </a:ext>
            </a:extLst>
          </p:cNvPr>
          <p:cNvSpPr>
            <a:spLocks xmlns:a="http://schemas.openxmlformats.org/drawingml/2006/main" noGrp="1"/>
          </p:cNvSpPr>
          <p:nvPr/>
        </p:nvSpPr>
        <p:spPr>
          <a:xfrm xmlns:a="http://schemas.openxmlformats.org/drawingml/2006/main">
            <a:off x="723900" y="538162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62717F"/>
                </a:solidFill>
                <a:latin typeface="Yu Gothic"/>
                <a:ea typeface="Yu Gothic"/>
                <a:cs typeface="Yu Gothic"/>
              </a:defRPr>
            </a:pPr>
            <a:r>
              <a:rPr sz="1425" b="0">
                <a:solidFill>
                  <a:srgbClr val="62717F"/>
                </a:solidFill>
                <a:latin typeface="Yu Gothic"/>
                <a:ea typeface="Yu Gothic"/>
                <a:cs typeface="Yu Gothic"/>
              </a:rPr>
              <a:t>発表者：＿＿＿＿＿＿＿＿　　所属：＿＿＿＿＿＿＿＿</a:t>
            </a:r>
          </a:p>
        </p:txBody>
      </p:sp>
      <p:sp>
        <p:nvSpPr>
          <p:cNvPr id="7" name="">
            <a:extLst xmlns:a="http://schemas.openxmlformats.org/drawingml/2006/main">
              <a:ext uri="{FF2B5EF4-FFF2-40B4-BE49-F238E27FC236}">
                <a16:creationId xmlns:a16="http://schemas.microsoft.com/office/drawing/2014/main" id="{643DB606-0669-45DB-A630-2F24D45A88B5}"/>
              </a:ext>
            </a:extLst>
          </p:cNvPr>
          <p:cNvSpPr>
            <a:spLocks xmlns:a="http://schemas.openxmlformats.org/drawingml/2006/main" noGrp="1"/>
          </p:cNvSpPr>
          <p:nvPr/>
        </p:nvSpPr>
        <p:spPr>
          <a:xfrm xmlns:a="http://schemas.openxmlformats.org/drawingml/2006/main">
            <a:off x="7810500" y="4476750"/>
            <a:ext cx="1066800" cy="723900"/>
          </a:xfrm>
          <a:prstGeom xmlns:a="http://schemas.openxmlformats.org/drawingml/2006/main" prst="roundRect">
            <a:avLst>
              <a:gd name="adj" fmla="val 10526"/>
            </a:avLst>
          </a:prstGeom>
          <a:solidFill xmlns:a="http://schemas.openxmlformats.org/drawingml/2006/main">
            <a:srgbClr val="DCEAF4"/>
          </a:solidFill>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3E6E127F-3F04-431E-B4E0-4E57C8CCDB2C}"/>
              </a:ext>
            </a:extLst>
          </p:cNvPr>
          <p:cNvSpPr>
            <a:spLocks xmlns:a="http://schemas.openxmlformats.org/drawingml/2006/main" noGrp="1"/>
          </p:cNvSpPr>
          <p:nvPr/>
        </p:nvSpPr>
        <p:spPr>
          <a:xfrm xmlns:a="http://schemas.openxmlformats.org/drawingml/2006/main">
            <a:off x="7810500" y="4476750"/>
            <a:ext cx="66675" cy="72390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F044ED-60A9-4837-B7FE-8F1F4F55DA0A}"/>
              </a:ext>
            </a:extLst>
          </p:cNvPr>
          <p:cNvSpPr>
            <a:spLocks xmlns:a="http://schemas.openxmlformats.org/drawingml/2006/main" noGrp="1"/>
          </p:cNvSpPr>
          <p:nvPr/>
        </p:nvSpPr>
        <p:spPr>
          <a:xfrm xmlns:a="http://schemas.openxmlformats.org/drawingml/2006/main">
            <a:off x="7972425" y="45720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UAV</a:t>
            </a:r>
          </a:p>
        </p:txBody>
      </p:sp>
      <p:sp>
        <p:nvSpPr>
          <p:cNvPr id="10" name="">
            <a:extLst xmlns:a="http://schemas.openxmlformats.org/drawingml/2006/main">
              <a:ext uri="{FF2B5EF4-FFF2-40B4-BE49-F238E27FC236}">
                <a16:creationId xmlns:a16="http://schemas.microsoft.com/office/drawing/2014/main" id="{733153C6-8D20-476B-9BF9-B3651298AFDD}"/>
              </a:ext>
            </a:extLst>
          </p:cNvPr>
          <p:cNvSpPr>
            <a:spLocks xmlns:a="http://schemas.openxmlformats.org/drawingml/2006/main" noGrp="1"/>
          </p:cNvSpPr>
          <p:nvPr/>
        </p:nvSpPr>
        <p:spPr>
          <a:xfrm xmlns:a="http://schemas.openxmlformats.org/drawingml/2006/main">
            <a:off x="7972425" y="48958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RGB</a:t>
            </a:r>
          </a:p>
        </p:txBody>
      </p:sp>
      <p:sp>
        <p:nvSpPr>
          <p:cNvPr id="11" name="">
            <a:extLst xmlns:a="http://schemas.openxmlformats.org/drawingml/2006/main">
              <a:ext uri="{FF2B5EF4-FFF2-40B4-BE49-F238E27FC236}">
                <a16:creationId xmlns:a16="http://schemas.microsoft.com/office/drawing/2014/main" id="{04F20BB0-018F-4D4C-9B41-6A4F68458E57}"/>
              </a:ext>
            </a:extLst>
          </p:cNvPr>
          <p:cNvSpPr>
            <a:spLocks xmlns:a="http://schemas.openxmlformats.org/drawingml/2006/main" noGrp="1"/>
          </p:cNvSpPr>
          <p:nvPr/>
        </p:nvSpPr>
        <p:spPr>
          <a:xfrm xmlns:a="http://schemas.openxmlformats.org/drawingml/2006/main">
            <a:off x="9001125" y="4714875"/>
            <a:ext cx="419100" cy="266700"/>
          </a:xfrm>
          <a:prstGeom xmlns:a="http://schemas.openxmlformats.org/drawingml/2006/main" prst="rightArrow">
            <a:avLst/>
          </a:prstGeom>
          <a:solidFill xmlns:a="http://schemas.openxmlformats.org/drawingml/2006/main">
            <a:srgbClr val="168C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EA34F8-78B6-4030-BA6D-AE31DC2B9145}"/>
              </a:ext>
            </a:extLst>
          </p:cNvPr>
          <p:cNvSpPr>
            <a:spLocks xmlns:a="http://schemas.openxmlformats.org/drawingml/2006/main" noGrp="1"/>
          </p:cNvSpPr>
          <p:nvPr/>
        </p:nvSpPr>
        <p:spPr>
          <a:xfrm xmlns:a="http://schemas.openxmlformats.org/drawingml/2006/main">
            <a:off x="9505950" y="4476750"/>
            <a:ext cx="1066800" cy="723900"/>
          </a:xfrm>
          <a:prstGeom xmlns:a="http://schemas.openxmlformats.org/drawingml/2006/main" prst="roundRect">
            <a:avLst>
              <a:gd name="adj" fmla="val 10526"/>
            </a:avLst>
          </a:prstGeom>
          <a:solidFill xmlns:a="http://schemas.openxmlformats.org/drawingml/2006/main">
            <a:srgbClr val="E3F3F1"/>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7AF3D325-7F58-4B47-99A8-D0ED5E0C4547}"/>
              </a:ext>
            </a:extLst>
          </p:cNvPr>
          <p:cNvSpPr>
            <a:spLocks xmlns:a="http://schemas.openxmlformats.org/drawingml/2006/main" noGrp="1"/>
          </p:cNvSpPr>
          <p:nvPr/>
        </p:nvSpPr>
        <p:spPr>
          <a:xfrm xmlns:a="http://schemas.openxmlformats.org/drawingml/2006/main">
            <a:off x="9505950" y="4476750"/>
            <a:ext cx="66675" cy="7239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8FBB41-F713-4569-B1B7-D08720755F02}"/>
              </a:ext>
            </a:extLst>
          </p:cNvPr>
          <p:cNvSpPr>
            <a:spLocks xmlns:a="http://schemas.openxmlformats.org/drawingml/2006/main" noGrp="1"/>
          </p:cNvSpPr>
          <p:nvPr/>
        </p:nvSpPr>
        <p:spPr>
          <a:xfrm xmlns:a="http://schemas.openxmlformats.org/drawingml/2006/main">
            <a:off x="9667875" y="45720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DA2</a:t>
            </a:r>
          </a:p>
        </p:txBody>
      </p:sp>
      <p:sp>
        <p:nvSpPr>
          <p:cNvPr id="15" name="">
            <a:extLst xmlns:a="http://schemas.openxmlformats.org/drawingml/2006/main">
              <a:ext uri="{FF2B5EF4-FFF2-40B4-BE49-F238E27FC236}">
                <a16:creationId xmlns:a16="http://schemas.microsoft.com/office/drawing/2014/main" id="{E3A42692-BD21-4DAD-86D3-06B7B6400C43}"/>
              </a:ext>
            </a:extLst>
          </p:cNvPr>
          <p:cNvSpPr>
            <a:spLocks xmlns:a="http://schemas.openxmlformats.org/drawingml/2006/main" noGrp="1"/>
          </p:cNvSpPr>
          <p:nvPr/>
        </p:nvSpPr>
        <p:spPr>
          <a:xfrm xmlns:a="http://schemas.openxmlformats.org/drawingml/2006/main">
            <a:off x="9667875" y="48958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depth</a:t>
            </a:r>
          </a:p>
        </p:txBody>
      </p:sp>
      <p:sp>
        <p:nvSpPr>
          <p:cNvPr id="16" name="">
            <a:extLst xmlns:a="http://schemas.openxmlformats.org/drawingml/2006/main">
              <a:ext uri="{FF2B5EF4-FFF2-40B4-BE49-F238E27FC236}">
                <a16:creationId xmlns:a16="http://schemas.microsoft.com/office/drawing/2014/main" id="{C0897331-4319-4AA1-A2F3-7191FF95C865}"/>
              </a:ext>
            </a:extLst>
          </p:cNvPr>
          <p:cNvSpPr>
            <a:spLocks xmlns:a="http://schemas.openxmlformats.org/drawingml/2006/main" noGrp="1"/>
          </p:cNvSpPr>
          <p:nvPr/>
        </p:nvSpPr>
        <p:spPr>
          <a:xfrm xmlns:a="http://schemas.openxmlformats.org/drawingml/2006/main">
            <a:off x="10668000" y="4714875"/>
            <a:ext cx="400050" cy="266700"/>
          </a:xfrm>
          <a:prstGeom xmlns:a="http://schemas.openxmlformats.org/drawingml/2006/main" prst="rightArrow">
            <a:avLst/>
          </a:prstGeom>
          <a:solidFill xmlns:a="http://schemas.openxmlformats.org/drawingml/2006/main">
            <a:srgbClr val="D9883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FEB68C-23F4-4736-9881-1A7DCF1EDE6A}"/>
              </a:ext>
            </a:extLst>
          </p:cNvPr>
          <p:cNvSpPr>
            <a:spLocks xmlns:a="http://schemas.openxmlformats.org/drawingml/2006/main" noGrp="1"/>
          </p:cNvSpPr>
          <p:nvPr/>
        </p:nvSpPr>
        <p:spPr>
          <a:xfrm xmlns:a="http://schemas.openxmlformats.org/drawingml/2006/main">
            <a:off x="11125200" y="4476750"/>
            <a:ext cx="800100" cy="723900"/>
          </a:xfrm>
          <a:prstGeom xmlns:a="http://schemas.openxmlformats.org/drawingml/2006/main" prst="roundRect">
            <a:avLst>
              <a:gd name="adj" fmla="val 10526"/>
            </a:avLst>
          </a:prstGeom>
          <a:solidFill xmlns:a="http://schemas.openxmlformats.org/drawingml/2006/main">
            <a:srgbClr val="F8EBDD"/>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20516AB1-7431-4FE3-AF0D-07EC240735C9}"/>
              </a:ext>
            </a:extLst>
          </p:cNvPr>
          <p:cNvSpPr>
            <a:spLocks xmlns:a="http://schemas.openxmlformats.org/drawingml/2006/main" noGrp="1"/>
          </p:cNvSpPr>
          <p:nvPr/>
        </p:nvSpPr>
        <p:spPr>
          <a:xfrm xmlns:a="http://schemas.openxmlformats.org/drawingml/2006/main">
            <a:off x="11125200" y="4476750"/>
            <a:ext cx="66675" cy="72390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D1D640-0A45-48E3-9185-AFC347B991C5}"/>
              </a:ext>
            </a:extLst>
          </p:cNvPr>
          <p:cNvSpPr>
            <a:spLocks xmlns:a="http://schemas.openxmlformats.org/drawingml/2006/main" noGrp="1"/>
          </p:cNvSpPr>
          <p:nvPr/>
        </p:nvSpPr>
        <p:spPr>
          <a:xfrm xmlns:a="http://schemas.openxmlformats.org/drawingml/2006/main">
            <a:off x="11287125" y="45720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稲高</a:t>
            </a:r>
          </a:p>
        </p:txBody>
      </p:sp>
      <p:sp>
        <p:nvSpPr>
          <p:cNvPr id="20" name="">
            <a:extLst xmlns:a="http://schemas.openxmlformats.org/drawingml/2006/main">
              <a:ext uri="{FF2B5EF4-FFF2-40B4-BE49-F238E27FC236}">
                <a16:creationId xmlns:a16="http://schemas.microsoft.com/office/drawing/2014/main" id="{8CFD876B-B8A1-40A1-85B5-F540FE5B6C13}"/>
              </a:ext>
            </a:extLst>
          </p:cNvPr>
          <p:cNvSpPr>
            <a:spLocks xmlns:a="http://schemas.openxmlformats.org/drawingml/2006/main" noGrp="1"/>
          </p:cNvSpPr>
          <p:nvPr/>
        </p:nvSpPr>
        <p:spPr>
          <a:xfrm xmlns:a="http://schemas.openxmlformats.org/drawingml/2006/main">
            <a:off x="10668000" y="60007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0">
                <a:solidFill>
                  <a:srgbClr val="62717F"/>
                </a:solidFill>
                <a:latin typeface="Yu Gothic"/>
                <a:ea typeface="Yu Gothic"/>
                <a:cs typeface="Yu Gothic"/>
              </a:defRPr>
            </a:pPr>
            <a:r>
              <a:rPr sz="1275" b="0">
                <a:solidFill>
                  <a:srgbClr val="62717F"/>
                </a:solidFill>
                <a:latin typeface="Yu Gothic"/>
                <a:ea typeface="Yu Gothic"/>
                <a:cs typeface="Yu Gothic"/>
              </a:rPr>
              <a:t>2026</a:t>
            </a:r>
          </a:p>
        </p:txBody>
      </p:sp>
    </p:spTree>
    <p:extLst>
      <p:ext uri="{BB962C8B-B14F-4D97-AF65-F5344CB8AC3E}">
        <p14:creationId xmlns:p14="http://schemas.microsoft.com/office/powerpoint/2010/main" val="463550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17D7511-1158-4FDA-AE04-2AD0ED06B4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362727-C92E-40A9-8A12-A4CAAA22EC9C}"/>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研究背景と最終目標</a:t>
            </a:r>
          </a:p>
        </p:txBody>
      </p:sp>
      <p:sp>
        <p:nvSpPr>
          <p:cNvPr id="3" name="">
            <a:extLst xmlns:a="http://schemas.openxmlformats.org/drawingml/2006/main">
              <a:ext uri="{FF2B5EF4-FFF2-40B4-BE49-F238E27FC236}">
                <a16:creationId xmlns:a16="http://schemas.microsoft.com/office/drawing/2014/main" id="{CF3796CC-5519-4765-ADE3-5A8CE60CBA70}"/>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4BCDA7-607F-4FED-9FED-D4B02553D87A}"/>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77DB17-B65E-4C42-A34E-EE1C3F5F0220}"/>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本研究の位置づけ：画像から深度を得ることと、地面基準の作物高を測ることは異なる。</a:t>
            </a:r>
          </a:p>
        </p:txBody>
      </p:sp>
      <p:sp>
        <p:nvSpPr>
          <p:cNvPr id="6" name="">
            <a:extLst xmlns:a="http://schemas.openxmlformats.org/drawingml/2006/main">
              <a:ext uri="{FF2B5EF4-FFF2-40B4-BE49-F238E27FC236}">
                <a16:creationId xmlns:a16="http://schemas.microsoft.com/office/drawing/2014/main" id="{C0C95BDF-537E-47A3-AD17-008F37ABB5FB}"/>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0B7D7336-0FEB-4472-B69F-9938B3C28B04}"/>
              </a:ext>
            </a:extLst>
          </p:cNvPr>
          <p:cNvSpPr>
            <a:spLocks xmlns:a="http://schemas.openxmlformats.org/drawingml/2006/main" noGrp="1"/>
          </p:cNvSpPr>
          <p:nvPr/>
        </p:nvSpPr>
        <p:spPr>
          <a:xfrm xmlns:a="http://schemas.openxmlformats.org/drawingml/2006/main">
            <a:off x="742950" y="13049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D6F9F"/>
                </a:solidFill>
                <a:latin typeface="Yu Gothic"/>
                <a:ea typeface="Yu Gothic"/>
                <a:cs typeface="Yu Gothic"/>
              </a:defRPr>
            </a:pPr>
            <a:r>
              <a:rPr sz="1800" b="1">
                <a:solidFill>
                  <a:srgbClr val="2D6F9F"/>
                </a:solidFill>
                <a:latin typeface="Yu Gothic"/>
                <a:ea typeface="Yu Gothic"/>
                <a:cs typeface="Yu Gothic"/>
              </a:rPr>
              <a:t>最終目標</a:t>
            </a:r>
          </a:p>
        </p:txBody>
      </p:sp>
      <p:sp>
        <p:nvSpPr>
          <p:cNvPr id="8" name="">
            <a:extLst xmlns:a="http://schemas.openxmlformats.org/drawingml/2006/main">
              <a:ext uri="{FF2B5EF4-FFF2-40B4-BE49-F238E27FC236}">
                <a16:creationId xmlns:a16="http://schemas.microsoft.com/office/drawing/2014/main" id="{E87B94A6-BFC5-4FF2-BF25-7958B4AB5122}"/>
              </a:ext>
            </a:extLst>
          </p:cNvPr>
          <p:cNvSpPr>
            <a:spLocks xmlns:a="http://schemas.openxmlformats.org/drawingml/2006/main" noGrp="1"/>
          </p:cNvSpPr>
          <p:nvPr/>
        </p:nvSpPr>
        <p:spPr>
          <a:xfrm xmlns:a="http://schemas.openxmlformats.org/drawingml/2006/main">
            <a:off x="742950" y="1685925"/>
            <a:ext cx="5048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142A43"/>
                </a:solidFill>
                <a:latin typeface="Yu Gothic"/>
                <a:ea typeface="Yu Gothic"/>
                <a:cs typeface="Yu Gothic"/>
              </a:defRPr>
            </a:pPr>
            <a:r>
              <a:rPr sz="2550" b="1">
                <a:solidFill>
                  <a:srgbClr val="142A43"/>
                </a:solidFill>
                <a:latin typeface="Yu Gothic"/>
                <a:ea typeface="Yu Gothic"/>
                <a:cs typeface="Yu Gothic"/>
              </a:rPr>
              <a:t>UAV RGB画像から</a:t>
            </a:r>
          </a:p>
          <a:p xmlns:a="http://schemas.openxmlformats.org/drawingml/2006/main">
            <a:pPr algn="l">
              <a:lnSpc>
                <a:spcPct val="100000"/>
              </a:lnSpc>
              <a:buNone/>
              <a:defRPr sz="2550" b="1">
                <a:solidFill>
                  <a:srgbClr val="142A43"/>
                </a:solidFill>
                <a:latin typeface="Yu Gothic"/>
                <a:ea typeface="Yu Gothic"/>
                <a:cs typeface="Yu Gothic"/>
              </a:defRPr>
            </a:pPr>
            <a:r>
              <a:rPr sz="2550" b="1">
                <a:solidFill>
                  <a:srgbClr val="142A43"/>
                </a:solidFill>
                <a:latin typeface="Yu Gothic"/>
                <a:ea typeface="Yu Gothic"/>
                <a:cs typeface="Yu Gothic"/>
              </a:rPr>
              <a:t>稲の高さと3D形状を推定する</a:t>
            </a:r>
          </a:p>
        </p:txBody>
      </p:sp>
      <p:sp>
        <p:nvSpPr>
          <p:cNvPr id="9" name="">
            <a:extLst xmlns:a="http://schemas.openxmlformats.org/drawingml/2006/main">
              <a:ext uri="{FF2B5EF4-FFF2-40B4-BE49-F238E27FC236}">
                <a16:creationId xmlns:a16="http://schemas.microsoft.com/office/drawing/2014/main" id="{538952CC-874D-4B2B-8844-D9A723D3C613}"/>
              </a:ext>
            </a:extLst>
          </p:cNvPr>
          <p:cNvSpPr>
            <a:spLocks xmlns:a="http://schemas.openxmlformats.org/drawingml/2006/main" noGrp="1"/>
          </p:cNvSpPr>
          <p:nvPr/>
        </p:nvSpPr>
        <p:spPr>
          <a:xfrm xmlns:a="http://schemas.openxmlformats.org/drawingml/2006/main">
            <a:off x="742950" y="3009900"/>
            <a:ext cx="4953000" cy="1200150"/>
          </a:xfrm>
          <a:prstGeom xmlns:a="http://schemas.openxmlformats.org/drawingml/2006/main" prst="roundRect">
            <a:avLst>
              <a:gd name="adj" fmla="val 6349"/>
            </a:avLst>
          </a:prstGeom>
          <a:solidFill xmlns:a="http://schemas.openxmlformats.org/drawingml/2006/main">
            <a:srgbClr val="F8EBD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CF1B0D-B622-4BF9-8A77-00814EF17697}"/>
              </a:ext>
            </a:extLst>
          </p:cNvPr>
          <p:cNvSpPr>
            <a:spLocks xmlns:a="http://schemas.openxmlformats.org/drawingml/2006/main" noGrp="1"/>
          </p:cNvSpPr>
          <p:nvPr/>
        </p:nvSpPr>
        <p:spPr>
          <a:xfrm xmlns:a="http://schemas.openxmlformats.org/drawingml/2006/main">
            <a:off x="990600" y="3171825"/>
            <a:ext cx="44767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250" b="1">
                <a:solidFill>
                  <a:srgbClr val="B54747"/>
                </a:solidFill>
                <a:latin typeface="Yu Gothic"/>
                <a:ea typeface="Yu Gothic"/>
                <a:cs typeface="Yu Gothic"/>
              </a:defRPr>
            </a:pPr>
            <a:r>
              <a:rPr sz="2250" b="1">
                <a:solidFill>
                  <a:srgbClr val="B54747"/>
                </a:solidFill>
                <a:latin typeface="Yu Gothic"/>
                <a:ea typeface="Yu Gothic"/>
                <a:cs typeface="Yu Gothic"/>
              </a:rPr>
              <a:t>カメラからの距離（depth）</a:t>
            </a:r>
          </a:p>
          <a:p xmlns:a="http://schemas.openxmlformats.org/drawingml/2006/main">
            <a:pPr algn="ctr">
              <a:lnSpc>
                <a:spcPct val="100000"/>
              </a:lnSpc>
              <a:buNone/>
              <a:defRPr sz="2250" b="1">
                <a:solidFill>
                  <a:srgbClr val="B54747"/>
                </a:solidFill>
                <a:latin typeface="Yu Gothic"/>
                <a:ea typeface="Yu Gothic"/>
                <a:cs typeface="Yu Gothic"/>
              </a:defRPr>
            </a:pPr>
            <a:r>
              <a:rPr sz="2250" b="1">
                <a:solidFill>
                  <a:srgbClr val="B54747"/>
                </a:solidFill>
                <a:latin typeface="Yu Gothic"/>
                <a:ea typeface="Yu Gothic"/>
                <a:cs typeface="Yu Gothic"/>
              </a:rPr>
              <a:t>≠ 地面からの稲高</a:t>
            </a:r>
          </a:p>
        </p:txBody>
      </p:sp>
      <p:sp>
        <p:nvSpPr>
          <p:cNvPr id="11" name="">
            <a:extLst xmlns:a="http://schemas.openxmlformats.org/drawingml/2006/main">
              <a:ext uri="{FF2B5EF4-FFF2-40B4-BE49-F238E27FC236}">
                <a16:creationId xmlns:a16="http://schemas.microsoft.com/office/drawing/2014/main" id="{D311B840-6F90-4A7C-AAE9-BF00ED03AC28}"/>
              </a:ext>
            </a:extLst>
          </p:cNvPr>
          <p:cNvSpPr>
            <a:spLocks xmlns:a="http://schemas.openxmlformats.org/drawingml/2006/main" noGrp="1"/>
          </p:cNvSpPr>
          <p:nvPr/>
        </p:nvSpPr>
        <p:spPr>
          <a:xfrm xmlns:a="http://schemas.openxmlformats.org/drawingml/2006/main">
            <a:off x="857250" y="4400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253443"/>
                </a:solidFill>
                <a:latin typeface="Yu Gothic"/>
                <a:ea typeface="Yu Gothic"/>
                <a:cs typeface="Yu Gothic"/>
              </a:defRPr>
            </a:pPr>
            <a:r>
              <a:rPr sz="1650" b="1">
                <a:solidFill>
                  <a:srgbClr val="253443"/>
                </a:solidFill>
                <a:latin typeface="Yu Gothic"/>
                <a:ea typeface="Yu Gothic"/>
                <a:cs typeface="Yu Gothic"/>
              </a:rPr>
              <a:t>地面基準・撮影幾何・実測スケールが必要</a:t>
            </a:r>
          </a:p>
        </p:txBody>
      </p:sp>
      <p:sp>
        <p:nvSpPr>
          <p:cNvPr id="12" name="">
            <a:extLst xmlns:a="http://schemas.openxmlformats.org/drawingml/2006/main">
              <a:ext uri="{FF2B5EF4-FFF2-40B4-BE49-F238E27FC236}">
                <a16:creationId xmlns:a16="http://schemas.microsoft.com/office/drawing/2014/main" id="{118A5F11-0E54-48B7-8DEC-A95A9C11C447}"/>
              </a:ext>
            </a:extLst>
          </p:cNvPr>
          <p:cNvSpPr>
            <a:spLocks xmlns:a="http://schemas.openxmlformats.org/drawingml/2006/main" noGrp="1"/>
          </p:cNvSpPr>
          <p:nvPr/>
        </p:nvSpPr>
        <p:spPr>
          <a:xfrm xmlns:a="http://schemas.openxmlformats.org/drawingml/2006/main">
            <a:off x="6619875" y="1457325"/>
            <a:ext cx="4191000" cy="723900"/>
          </a:xfrm>
          <a:prstGeom xmlns:a="http://schemas.openxmlformats.org/drawingml/2006/main" prst="roundRect">
            <a:avLst>
              <a:gd name="adj" fmla="val 10526"/>
            </a:avLst>
          </a:prstGeom>
          <a:solidFill xmlns:a="http://schemas.openxmlformats.org/drawingml/2006/main">
            <a:srgbClr val="DCEAF4"/>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0F079C62-2778-49F9-BAA0-44E86963F4FD}"/>
              </a:ext>
            </a:extLst>
          </p:cNvPr>
          <p:cNvSpPr>
            <a:spLocks xmlns:a="http://schemas.openxmlformats.org/drawingml/2006/main" noGrp="1"/>
          </p:cNvSpPr>
          <p:nvPr/>
        </p:nvSpPr>
        <p:spPr>
          <a:xfrm xmlns:a="http://schemas.openxmlformats.org/drawingml/2006/main">
            <a:off x="6619875" y="1457325"/>
            <a:ext cx="66675" cy="72390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58B7F2-C24C-4AE4-A46D-74934A97BAE4}"/>
              </a:ext>
            </a:extLst>
          </p:cNvPr>
          <p:cNvSpPr>
            <a:spLocks xmlns:a="http://schemas.openxmlformats.org/drawingml/2006/main" noGrp="1"/>
          </p:cNvSpPr>
          <p:nvPr/>
        </p:nvSpPr>
        <p:spPr>
          <a:xfrm xmlns:a="http://schemas.openxmlformats.org/drawingml/2006/main">
            <a:off x="6781800" y="1552575"/>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UAV RGB</a:t>
            </a:r>
          </a:p>
        </p:txBody>
      </p:sp>
      <p:sp>
        <p:nvSpPr>
          <p:cNvPr id="15" name="">
            <a:extLst xmlns:a="http://schemas.openxmlformats.org/drawingml/2006/main">
              <a:ext uri="{FF2B5EF4-FFF2-40B4-BE49-F238E27FC236}">
                <a16:creationId xmlns:a16="http://schemas.microsoft.com/office/drawing/2014/main" id="{6F72D1D2-26CE-4BE3-9523-D734849F444E}"/>
              </a:ext>
            </a:extLst>
          </p:cNvPr>
          <p:cNvSpPr>
            <a:spLocks xmlns:a="http://schemas.openxmlformats.org/drawingml/2006/main" noGrp="1"/>
          </p:cNvSpPr>
          <p:nvPr/>
        </p:nvSpPr>
        <p:spPr>
          <a:xfrm xmlns:a="http://schemas.openxmlformats.org/drawingml/2006/main">
            <a:off x="6781800" y="1876425"/>
            <a:ext cx="3924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稲群落を撮影</a:t>
            </a:r>
          </a:p>
        </p:txBody>
      </p:sp>
      <p:sp>
        <p:nvSpPr>
          <p:cNvPr id="16" name="">
            <a:extLst xmlns:a="http://schemas.openxmlformats.org/drawingml/2006/main">
              <a:ext uri="{FF2B5EF4-FFF2-40B4-BE49-F238E27FC236}">
                <a16:creationId xmlns:a16="http://schemas.microsoft.com/office/drawing/2014/main" id="{5965CBE1-C8AB-4DC1-90B3-B30C9D6FDA1F}"/>
              </a:ext>
            </a:extLst>
          </p:cNvPr>
          <p:cNvSpPr>
            <a:spLocks xmlns:a="http://schemas.openxmlformats.org/drawingml/2006/main" noGrp="1"/>
          </p:cNvSpPr>
          <p:nvPr/>
        </p:nvSpPr>
        <p:spPr>
          <a:xfrm xmlns:a="http://schemas.openxmlformats.org/drawingml/2006/main">
            <a:off x="8305800" y="2266950"/>
            <a:ext cx="552450" cy="3048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7A1C965-4A4F-40F1-998A-EBAA4BF771DE}"/>
              </a:ext>
            </a:extLst>
          </p:cNvPr>
          <p:cNvSpPr>
            <a:spLocks xmlns:a="http://schemas.openxmlformats.org/drawingml/2006/main" noGrp="1"/>
          </p:cNvSpPr>
          <p:nvPr/>
        </p:nvSpPr>
        <p:spPr>
          <a:xfrm xmlns:a="http://schemas.openxmlformats.org/drawingml/2006/main">
            <a:off x="6619875" y="2743200"/>
            <a:ext cx="4191000" cy="723900"/>
          </a:xfrm>
          <a:prstGeom xmlns:a="http://schemas.openxmlformats.org/drawingml/2006/main" prst="roundRect">
            <a:avLst>
              <a:gd name="adj" fmla="val 10526"/>
            </a:avLst>
          </a:prstGeom>
          <a:solidFill xmlns:a="http://schemas.openxmlformats.org/drawingml/2006/main">
            <a:srgbClr val="E3F3F1"/>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A1589B04-C05E-4A6E-9C63-5C8611408654}"/>
              </a:ext>
            </a:extLst>
          </p:cNvPr>
          <p:cNvSpPr>
            <a:spLocks xmlns:a="http://schemas.openxmlformats.org/drawingml/2006/main" noGrp="1"/>
          </p:cNvSpPr>
          <p:nvPr/>
        </p:nvSpPr>
        <p:spPr>
          <a:xfrm xmlns:a="http://schemas.openxmlformats.org/drawingml/2006/main">
            <a:off x="6619875" y="2743200"/>
            <a:ext cx="66675" cy="7239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D8FF74-304C-4843-B75B-2DAC90A60B3F}"/>
              </a:ext>
            </a:extLst>
          </p:cNvPr>
          <p:cNvSpPr>
            <a:spLocks xmlns:a="http://schemas.openxmlformats.org/drawingml/2006/main" noGrp="1"/>
          </p:cNvSpPr>
          <p:nvPr/>
        </p:nvSpPr>
        <p:spPr>
          <a:xfrm xmlns:a="http://schemas.openxmlformats.org/drawingml/2006/main">
            <a:off x="6781800" y="283845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Depth Anything V2</a:t>
            </a:r>
          </a:p>
        </p:txBody>
      </p:sp>
      <p:sp>
        <p:nvSpPr>
          <p:cNvPr id="20" name="">
            <a:extLst xmlns:a="http://schemas.openxmlformats.org/drawingml/2006/main">
              <a:ext uri="{FF2B5EF4-FFF2-40B4-BE49-F238E27FC236}">
                <a16:creationId xmlns:a16="http://schemas.microsoft.com/office/drawing/2014/main" id="{8BE99278-7ED2-4491-930B-368484F3483B}"/>
              </a:ext>
            </a:extLst>
          </p:cNvPr>
          <p:cNvSpPr>
            <a:spLocks xmlns:a="http://schemas.openxmlformats.org/drawingml/2006/main" noGrp="1"/>
          </p:cNvSpPr>
          <p:nvPr/>
        </p:nvSpPr>
        <p:spPr>
          <a:xfrm xmlns:a="http://schemas.openxmlformats.org/drawingml/2006/main">
            <a:off x="6781800" y="3162300"/>
            <a:ext cx="3924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画素ごとの深度表現</a:t>
            </a:r>
          </a:p>
        </p:txBody>
      </p:sp>
      <p:sp>
        <p:nvSpPr>
          <p:cNvPr id="21" name="">
            <a:extLst xmlns:a="http://schemas.openxmlformats.org/drawingml/2006/main">
              <a:ext uri="{FF2B5EF4-FFF2-40B4-BE49-F238E27FC236}">
                <a16:creationId xmlns:a16="http://schemas.microsoft.com/office/drawing/2014/main" id="{198655FB-20EC-4D87-8CE7-06A5F2E3E36F}"/>
              </a:ext>
            </a:extLst>
          </p:cNvPr>
          <p:cNvSpPr>
            <a:spLocks xmlns:a="http://schemas.openxmlformats.org/drawingml/2006/main" noGrp="1"/>
          </p:cNvSpPr>
          <p:nvPr/>
        </p:nvSpPr>
        <p:spPr>
          <a:xfrm xmlns:a="http://schemas.openxmlformats.org/drawingml/2006/main">
            <a:off x="8305800" y="3552825"/>
            <a:ext cx="552450" cy="3048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C0125FA-1A66-4E38-8F27-261E51B3E47B}"/>
              </a:ext>
            </a:extLst>
          </p:cNvPr>
          <p:cNvSpPr>
            <a:spLocks xmlns:a="http://schemas.openxmlformats.org/drawingml/2006/main" noGrp="1"/>
          </p:cNvSpPr>
          <p:nvPr/>
        </p:nvSpPr>
        <p:spPr>
          <a:xfrm xmlns:a="http://schemas.openxmlformats.org/drawingml/2006/main">
            <a:off x="6619875" y="4029075"/>
            <a:ext cx="4191000" cy="723900"/>
          </a:xfrm>
          <a:prstGeom xmlns:a="http://schemas.openxmlformats.org/drawingml/2006/main" prst="roundRect">
            <a:avLst>
              <a:gd name="adj" fmla="val 10526"/>
            </a:avLst>
          </a:prstGeom>
          <a:solidFill xmlns:a="http://schemas.openxmlformats.org/drawingml/2006/main">
            <a:srgbClr val="F8EBDD"/>
          </a:solidFill>
          <a:ln xmlns:a="http://schemas.openxmlformats.org/drawingml/2006/main" w="9525">
            <a:solidFill>
              <a:srgbClr val="D9E1E7"/>
            </a:solidFill>
            <a:prstDash val="solid"/>
          </a:ln>
        </p:spPr>
      </p:sp>
      <p:sp>
        <p:nvSpPr>
          <p:cNvPr id="23" name="">
            <a:extLst xmlns:a="http://schemas.openxmlformats.org/drawingml/2006/main">
              <a:ext uri="{FF2B5EF4-FFF2-40B4-BE49-F238E27FC236}">
                <a16:creationId xmlns:a16="http://schemas.microsoft.com/office/drawing/2014/main" id="{97D87321-6944-46A6-A14D-F231DC01A549}"/>
              </a:ext>
            </a:extLst>
          </p:cNvPr>
          <p:cNvSpPr>
            <a:spLocks xmlns:a="http://schemas.openxmlformats.org/drawingml/2006/main" noGrp="1"/>
          </p:cNvSpPr>
          <p:nvPr/>
        </p:nvSpPr>
        <p:spPr>
          <a:xfrm xmlns:a="http://schemas.openxmlformats.org/drawingml/2006/main">
            <a:off x="6619875" y="4029075"/>
            <a:ext cx="66675" cy="72390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D784903-B69F-4294-9CED-B9FF408926BF}"/>
              </a:ext>
            </a:extLst>
          </p:cNvPr>
          <p:cNvSpPr>
            <a:spLocks xmlns:a="http://schemas.openxmlformats.org/drawingml/2006/main" noGrp="1"/>
          </p:cNvSpPr>
          <p:nvPr/>
        </p:nvSpPr>
        <p:spPr>
          <a:xfrm xmlns:a="http://schemas.openxmlformats.org/drawingml/2006/main">
            <a:off x="6781800" y="4124325"/>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幾何・スケール補正</a:t>
            </a:r>
          </a:p>
        </p:txBody>
      </p:sp>
      <p:sp>
        <p:nvSpPr>
          <p:cNvPr id="25" name="">
            <a:extLst xmlns:a="http://schemas.openxmlformats.org/drawingml/2006/main">
              <a:ext uri="{FF2B5EF4-FFF2-40B4-BE49-F238E27FC236}">
                <a16:creationId xmlns:a16="http://schemas.microsoft.com/office/drawing/2014/main" id="{58866E45-2894-4145-95E2-9ECAF5D32744}"/>
              </a:ext>
            </a:extLst>
          </p:cNvPr>
          <p:cNvSpPr>
            <a:spLocks xmlns:a="http://schemas.openxmlformats.org/drawingml/2006/main" noGrp="1"/>
          </p:cNvSpPr>
          <p:nvPr/>
        </p:nvSpPr>
        <p:spPr>
          <a:xfrm xmlns:a="http://schemas.openxmlformats.org/drawingml/2006/main">
            <a:off x="6781800" y="4448175"/>
            <a:ext cx="3924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camera pose / ground plane / 実測高</a:t>
            </a:r>
          </a:p>
        </p:txBody>
      </p:sp>
      <p:sp>
        <p:nvSpPr>
          <p:cNvPr id="26" name="">
            <a:extLst xmlns:a="http://schemas.openxmlformats.org/drawingml/2006/main">
              <a:ext uri="{FF2B5EF4-FFF2-40B4-BE49-F238E27FC236}">
                <a16:creationId xmlns:a16="http://schemas.microsoft.com/office/drawing/2014/main" id="{16B1916E-58BE-408E-99BA-94ED0D3D56E5}"/>
              </a:ext>
            </a:extLst>
          </p:cNvPr>
          <p:cNvSpPr>
            <a:spLocks xmlns:a="http://schemas.openxmlformats.org/drawingml/2006/main" noGrp="1"/>
          </p:cNvSpPr>
          <p:nvPr/>
        </p:nvSpPr>
        <p:spPr>
          <a:xfrm xmlns:a="http://schemas.openxmlformats.org/drawingml/2006/main">
            <a:off x="8305800" y="4838700"/>
            <a:ext cx="552450" cy="3048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1C66ABE-4784-47C3-86D1-8BF21410382C}"/>
              </a:ext>
            </a:extLst>
          </p:cNvPr>
          <p:cNvSpPr>
            <a:spLocks xmlns:a="http://schemas.openxmlformats.org/drawingml/2006/main" noGrp="1"/>
          </p:cNvSpPr>
          <p:nvPr/>
        </p:nvSpPr>
        <p:spPr>
          <a:xfrm xmlns:a="http://schemas.openxmlformats.org/drawingml/2006/main">
            <a:off x="6619875" y="5314950"/>
            <a:ext cx="4191000" cy="704850"/>
          </a:xfrm>
          <a:prstGeom xmlns:a="http://schemas.openxmlformats.org/drawingml/2006/main" prst="roundRect">
            <a:avLst>
              <a:gd name="adj" fmla="val 10811"/>
            </a:avLst>
          </a:prstGeom>
          <a:solidFill xmlns:a="http://schemas.openxmlformats.org/drawingml/2006/main">
            <a:srgbClr val="F4F7F9"/>
          </a:solidFill>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9808CEC1-47FA-4BBD-B8C8-D0A2C5A96ADB}"/>
              </a:ext>
            </a:extLst>
          </p:cNvPr>
          <p:cNvSpPr>
            <a:spLocks xmlns:a="http://schemas.openxmlformats.org/drawingml/2006/main" noGrp="1"/>
          </p:cNvSpPr>
          <p:nvPr/>
        </p:nvSpPr>
        <p:spPr>
          <a:xfrm xmlns:a="http://schemas.openxmlformats.org/drawingml/2006/main">
            <a:off x="6619875" y="5314950"/>
            <a:ext cx="66675" cy="70485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68C0328-3C98-4354-BBC2-B7D5EECBBF68}"/>
              </a:ext>
            </a:extLst>
          </p:cNvPr>
          <p:cNvSpPr>
            <a:spLocks xmlns:a="http://schemas.openxmlformats.org/drawingml/2006/main" noGrp="1"/>
          </p:cNvSpPr>
          <p:nvPr/>
        </p:nvSpPr>
        <p:spPr>
          <a:xfrm xmlns:a="http://schemas.openxmlformats.org/drawingml/2006/main">
            <a:off x="6781800" y="541020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稲高・3D復元</a:t>
            </a:r>
          </a:p>
        </p:txBody>
      </p:sp>
      <p:sp>
        <p:nvSpPr>
          <p:cNvPr id="30" name="">
            <a:extLst xmlns:a="http://schemas.openxmlformats.org/drawingml/2006/main">
              <a:ext uri="{FF2B5EF4-FFF2-40B4-BE49-F238E27FC236}">
                <a16:creationId xmlns:a16="http://schemas.microsoft.com/office/drawing/2014/main" id="{7A0965C4-9691-4AAC-8C51-99C15F0F96A8}"/>
              </a:ext>
            </a:extLst>
          </p:cNvPr>
          <p:cNvSpPr>
            <a:spLocks xmlns:a="http://schemas.openxmlformats.org/drawingml/2006/main" noGrp="1"/>
          </p:cNvSpPr>
          <p:nvPr/>
        </p:nvSpPr>
        <p:spPr>
          <a:xfrm xmlns:a="http://schemas.openxmlformats.org/drawingml/2006/main">
            <a:off x="6781800" y="5734050"/>
            <a:ext cx="3924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研究全体の到達目標</a:t>
            </a:r>
          </a:p>
        </p:txBody>
      </p:sp>
    </p:spTree>
    <p:extLst>
      <p:ext uri="{BB962C8B-B14F-4D97-AF65-F5344CB8AC3E}">
        <p14:creationId xmlns:p14="http://schemas.microsoft.com/office/powerpoint/2010/main" val="2092006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329CA21-295C-446A-9779-45346C7A70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1674740-B6A6-4350-8379-3A8B66B6E0DA}"/>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Depth Anything V2が出力する深度</a:t>
            </a:r>
          </a:p>
        </p:txBody>
      </p:sp>
      <p:sp>
        <p:nvSpPr>
          <p:cNvPr id="3" name="">
            <a:extLst xmlns:a="http://schemas.openxmlformats.org/drawingml/2006/main">
              <a:ext uri="{FF2B5EF4-FFF2-40B4-BE49-F238E27FC236}">
                <a16:creationId xmlns:a16="http://schemas.microsoft.com/office/drawing/2014/main" id="{DD6556FE-BA46-440D-9C74-959AA75D580C}"/>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881F7F-94B9-408B-9BA9-9D83D11FB1A1}"/>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322CB9-C888-41C0-8BEA-E907AA090ADD}"/>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[1] Yang et al., Depth Anything V2, NeurIPS 2024.</a:t>
            </a:r>
          </a:p>
        </p:txBody>
      </p:sp>
      <p:sp>
        <p:nvSpPr>
          <p:cNvPr id="6" name="">
            <a:extLst xmlns:a="http://schemas.openxmlformats.org/drawingml/2006/main">
              <a:ext uri="{FF2B5EF4-FFF2-40B4-BE49-F238E27FC236}">
                <a16:creationId xmlns:a16="http://schemas.microsoft.com/office/drawing/2014/main" id="{428BFDFE-D011-4742-8D39-A3D8651FD894}"/>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03</a:t>
            </a:r>
          </a:p>
        </p:txBody>
      </p:sp>
      <p:sp>
        <p:nvSpPr>
          <p:cNvPr id="7" name="">
            <a:extLst xmlns:a="http://schemas.openxmlformats.org/drawingml/2006/main">
              <a:ext uri="{FF2B5EF4-FFF2-40B4-BE49-F238E27FC236}">
                <a16:creationId xmlns:a16="http://schemas.microsoft.com/office/drawing/2014/main" id="{CC66E416-8095-434A-857B-4B533459EFBC}"/>
              </a:ext>
            </a:extLst>
          </p:cNvPr>
          <p:cNvSpPr>
            <a:spLocks xmlns:a="http://schemas.openxmlformats.org/drawingml/2006/main" noGrp="1"/>
          </p:cNvSpPr>
          <p:nvPr/>
        </p:nvSpPr>
        <p:spPr>
          <a:xfrm xmlns:a="http://schemas.openxmlformats.org/drawingml/2006/main">
            <a:off x="762000" y="1314450"/>
            <a:ext cx="10668000" cy="781050"/>
          </a:xfrm>
          <a:prstGeom xmlns:a="http://schemas.openxmlformats.org/drawingml/2006/main" prst="roundRect">
            <a:avLst>
              <a:gd name="adj" fmla="val 9756"/>
            </a:avLst>
          </a:prstGeom>
          <a:solidFill xmlns:a="http://schemas.openxmlformats.org/drawingml/2006/main">
            <a:srgbClr val="F4F7F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46C463-A7AD-49EC-AAE6-CBBBC6C1C726}"/>
              </a:ext>
            </a:extLst>
          </p:cNvPr>
          <p:cNvSpPr>
            <a:spLocks xmlns:a="http://schemas.openxmlformats.org/drawingml/2006/main" noGrp="1"/>
          </p:cNvSpPr>
          <p:nvPr/>
        </p:nvSpPr>
        <p:spPr>
          <a:xfrm xmlns:a="http://schemas.openxmlformats.org/drawingml/2006/main">
            <a:off x="990600" y="15144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253443"/>
                </a:solidFill>
                <a:latin typeface="Yu Gothic"/>
                <a:ea typeface="Yu Gothic"/>
                <a:cs typeface="Yu Gothic"/>
              </a:defRPr>
            </a:pPr>
            <a:r>
              <a:rPr sz="1875" b="1">
                <a:solidFill>
                  <a:srgbClr val="253443"/>
                </a:solidFill>
                <a:latin typeface="Yu Gothic"/>
                <a:ea typeface="Yu Gothic"/>
                <a:cs typeface="Yu Gothic"/>
              </a:rPr>
              <a:t>RGB画像</a:t>
            </a:r>
          </a:p>
        </p:txBody>
      </p:sp>
      <p:sp>
        <p:nvSpPr>
          <p:cNvPr id="9" name="">
            <a:extLst xmlns:a="http://schemas.openxmlformats.org/drawingml/2006/main">
              <a:ext uri="{FF2B5EF4-FFF2-40B4-BE49-F238E27FC236}">
                <a16:creationId xmlns:a16="http://schemas.microsoft.com/office/drawing/2014/main" id="{CB431816-7ACB-42F2-99D5-9E904E70A1EE}"/>
              </a:ext>
            </a:extLst>
          </p:cNvPr>
          <p:cNvSpPr>
            <a:spLocks xmlns:a="http://schemas.openxmlformats.org/drawingml/2006/main" noGrp="1"/>
          </p:cNvSpPr>
          <p:nvPr/>
        </p:nvSpPr>
        <p:spPr>
          <a:xfrm xmlns:a="http://schemas.openxmlformats.org/drawingml/2006/main">
            <a:off x="3048000" y="1552575"/>
            <a:ext cx="552450" cy="2667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950789-AD93-41E2-88CA-5E254BF3D4C4}"/>
              </a:ext>
            </a:extLst>
          </p:cNvPr>
          <p:cNvSpPr>
            <a:spLocks xmlns:a="http://schemas.openxmlformats.org/drawingml/2006/main" noGrp="1"/>
          </p:cNvSpPr>
          <p:nvPr/>
        </p:nvSpPr>
        <p:spPr>
          <a:xfrm xmlns:a="http://schemas.openxmlformats.org/drawingml/2006/main">
            <a:off x="3762375" y="1466850"/>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a:solidFill>
                  <a:srgbClr val="142A43"/>
                </a:solidFill>
                <a:latin typeface="Yu Gothic"/>
                <a:ea typeface="Yu Gothic"/>
                <a:cs typeface="Yu Gothic"/>
              </a:defRPr>
            </a:pPr>
            <a:r>
              <a:rPr sz="1950" b="1">
                <a:solidFill>
                  <a:srgbClr val="142A43"/>
                </a:solidFill>
                <a:latin typeface="Yu Gothic"/>
                <a:ea typeface="Yu Gothic"/>
                <a:cs typeface="Yu Gothic"/>
              </a:rPr>
              <a:t>Depth Anything V2</a:t>
            </a:r>
          </a:p>
        </p:txBody>
      </p:sp>
      <p:sp>
        <p:nvSpPr>
          <p:cNvPr id="11" name="">
            <a:extLst xmlns:a="http://schemas.openxmlformats.org/drawingml/2006/main">
              <a:ext uri="{FF2B5EF4-FFF2-40B4-BE49-F238E27FC236}">
                <a16:creationId xmlns:a16="http://schemas.microsoft.com/office/drawing/2014/main" id="{73E5B999-4618-44FE-8A3B-C4F2DFE4C25C}"/>
              </a:ext>
            </a:extLst>
          </p:cNvPr>
          <p:cNvSpPr>
            <a:spLocks xmlns:a="http://schemas.openxmlformats.org/drawingml/2006/main" noGrp="1"/>
          </p:cNvSpPr>
          <p:nvPr/>
        </p:nvSpPr>
        <p:spPr>
          <a:xfrm xmlns:a="http://schemas.openxmlformats.org/drawingml/2006/main">
            <a:off x="6696075" y="1552575"/>
            <a:ext cx="552450" cy="2667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5BE699-8546-42EE-84BB-AB2B27375E67}"/>
              </a:ext>
            </a:extLst>
          </p:cNvPr>
          <p:cNvSpPr>
            <a:spLocks xmlns:a="http://schemas.openxmlformats.org/drawingml/2006/main" noGrp="1"/>
          </p:cNvSpPr>
          <p:nvPr/>
        </p:nvSpPr>
        <p:spPr>
          <a:xfrm xmlns:a="http://schemas.openxmlformats.org/drawingml/2006/main">
            <a:off x="7458075" y="15144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253443"/>
                </a:solidFill>
                <a:latin typeface="Yu Gothic"/>
                <a:ea typeface="Yu Gothic"/>
                <a:cs typeface="Yu Gothic"/>
              </a:defRPr>
            </a:pPr>
            <a:r>
              <a:rPr sz="1875" b="1">
                <a:solidFill>
                  <a:srgbClr val="253443"/>
                </a:solidFill>
                <a:latin typeface="Yu Gothic"/>
                <a:ea typeface="Yu Gothic"/>
                <a:cs typeface="Yu Gothic"/>
              </a:rPr>
              <a:t>深度マップ</a:t>
            </a:r>
          </a:p>
        </p:txBody>
      </p:sp>
      <p:sp>
        <p:nvSpPr>
          <p:cNvPr id="13" name="">
            <a:extLst xmlns:a="http://schemas.openxmlformats.org/drawingml/2006/main">
              <a:ext uri="{FF2B5EF4-FFF2-40B4-BE49-F238E27FC236}">
                <a16:creationId xmlns:a16="http://schemas.microsoft.com/office/drawing/2014/main" id="{2E676A9F-9347-42DB-9885-DD2AA95B563B}"/>
              </a:ext>
            </a:extLst>
          </p:cNvPr>
          <p:cNvSpPr>
            <a:spLocks xmlns:a="http://schemas.openxmlformats.org/drawingml/2006/main" noGrp="1"/>
          </p:cNvSpPr>
          <p:nvPr/>
        </p:nvSpPr>
        <p:spPr>
          <a:xfrm xmlns:a="http://schemas.openxmlformats.org/drawingml/2006/main">
            <a:off x="781050" y="2447925"/>
            <a:ext cx="5010150" cy="2000250"/>
          </a:xfrm>
          <a:prstGeom xmlns:a="http://schemas.openxmlformats.org/drawingml/2006/main" prst="roundRect">
            <a:avLst>
              <a:gd name="adj" fmla="val 3810"/>
            </a:avLst>
          </a:prstGeom>
          <a:solidFill xmlns:a="http://schemas.openxmlformats.org/drawingml/2006/main">
            <a:srgbClr val="DCEA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A76681-EB8D-498A-81A4-95F527884770}"/>
              </a:ext>
            </a:extLst>
          </p:cNvPr>
          <p:cNvSpPr>
            <a:spLocks xmlns:a="http://schemas.openxmlformats.org/drawingml/2006/main" noGrp="1"/>
          </p:cNvSpPr>
          <p:nvPr/>
        </p:nvSpPr>
        <p:spPr>
          <a:xfrm xmlns:a="http://schemas.openxmlformats.org/drawingml/2006/main">
            <a:off x="1009650" y="2638425"/>
            <a:ext cx="15240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1D7293-1CF0-43CB-940C-475B3C11C39D}"/>
              </a:ext>
            </a:extLst>
          </p:cNvPr>
          <p:cNvSpPr>
            <a:spLocks xmlns:a="http://schemas.openxmlformats.org/drawingml/2006/main" noGrp="1"/>
          </p:cNvSpPr>
          <p:nvPr/>
        </p:nvSpPr>
        <p:spPr>
          <a:xfrm xmlns:a="http://schemas.openxmlformats.org/drawingml/2006/main">
            <a:off x="1085850" y="266700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2D6F9F"/>
                </a:solidFill>
                <a:latin typeface="Yu Gothic"/>
                <a:ea typeface="Yu Gothic"/>
                <a:cs typeface="Yu Gothic"/>
              </a:defRPr>
            </a:pPr>
            <a:r>
              <a:rPr sz="1200" b="1">
                <a:solidFill>
                  <a:srgbClr val="2D6F9F"/>
                </a:solidFill>
                <a:latin typeface="Yu Gothic"/>
                <a:ea typeface="Yu Gothic"/>
                <a:cs typeface="Yu Gothic"/>
              </a:rPr>
              <a:t>Metric depth</a:t>
            </a:r>
          </a:p>
        </p:txBody>
      </p:sp>
      <p:sp>
        <p:nvSpPr>
          <p:cNvPr id="16" name="">
            <a:extLst xmlns:a="http://schemas.openxmlformats.org/drawingml/2006/main">
              <a:ext uri="{FF2B5EF4-FFF2-40B4-BE49-F238E27FC236}">
                <a16:creationId xmlns:a16="http://schemas.microsoft.com/office/drawing/2014/main" id="{5F66F51C-B502-4694-8E27-84B99C26D045}"/>
              </a:ext>
            </a:extLst>
          </p:cNvPr>
          <p:cNvSpPr>
            <a:spLocks xmlns:a="http://schemas.openxmlformats.org/drawingml/2006/main" noGrp="1"/>
          </p:cNvSpPr>
          <p:nvPr/>
        </p:nvSpPr>
        <p:spPr>
          <a:xfrm xmlns:a="http://schemas.openxmlformats.org/drawingml/2006/main">
            <a:off x="1009650" y="3057525"/>
            <a:ext cx="417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距離をメートル単位で出力</a:t>
            </a:r>
          </a:p>
        </p:txBody>
      </p:sp>
      <p:sp>
        <p:nvSpPr>
          <p:cNvPr id="17" name="">
            <a:extLst xmlns:a="http://schemas.openxmlformats.org/drawingml/2006/main">
              <a:ext uri="{FF2B5EF4-FFF2-40B4-BE49-F238E27FC236}">
                <a16:creationId xmlns:a16="http://schemas.microsoft.com/office/drawing/2014/main" id="{D690EF37-A865-40CD-AFF4-777D147B5F38}"/>
              </a:ext>
            </a:extLst>
          </p:cNvPr>
          <p:cNvSpPr>
            <a:spLocks xmlns:a="http://schemas.openxmlformats.org/drawingml/2006/main" noGrp="1"/>
          </p:cNvSpPr>
          <p:nvPr/>
        </p:nvSpPr>
        <p:spPr>
          <a:xfrm xmlns:a="http://schemas.openxmlformats.org/drawingml/2006/main">
            <a:off x="1066800" y="3648075"/>
            <a:ext cx="85725" cy="85725"/>
          </a:xfrm>
          <a:prstGeom xmlns:a="http://schemas.openxmlformats.org/drawingml/2006/main" prst="ellipse">
            <a:avLst/>
          </a:prstGeom>
          <a:solidFill xmlns:a="http://schemas.openxmlformats.org/drawingml/2006/main">
            <a:srgbClr val="2D6F9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5EC3041-69CA-4CD7-AABE-4BA7865E6427}"/>
              </a:ext>
            </a:extLst>
          </p:cNvPr>
          <p:cNvSpPr>
            <a:spLocks xmlns:a="http://schemas.openxmlformats.org/drawingml/2006/main" noGrp="1"/>
          </p:cNvSpPr>
          <p:nvPr/>
        </p:nvSpPr>
        <p:spPr>
          <a:xfrm xmlns:a="http://schemas.openxmlformats.org/drawingml/2006/main">
            <a:off x="1276350" y="3571875"/>
            <a:ext cx="4124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モデル・学習domainの尺度に依存</a:t>
            </a:r>
          </a:p>
        </p:txBody>
      </p:sp>
      <p:sp>
        <p:nvSpPr>
          <p:cNvPr id="19" name="">
            <a:extLst xmlns:a="http://schemas.openxmlformats.org/drawingml/2006/main">
              <a:ext uri="{FF2B5EF4-FFF2-40B4-BE49-F238E27FC236}">
                <a16:creationId xmlns:a16="http://schemas.microsoft.com/office/drawing/2014/main" id="{150926D3-734D-48D4-AEDF-AC472EA07EE5}"/>
              </a:ext>
            </a:extLst>
          </p:cNvPr>
          <p:cNvSpPr>
            <a:spLocks xmlns:a="http://schemas.openxmlformats.org/drawingml/2006/main" noGrp="1"/>
          </p:cNvSpPr>
          <p:nvPr/>
        </p:nvSpPr>
        <p:spPr>
          <a:xfrm xmlns:a="http://schemas.openxmlformats.org/drawingml/2006/main">
            <a:off x="1066800" y="4010025"/>
            <a:ext cx="85725" cy="85725"/>
          </a:xfrm>
          <a:prstGeom xmlns:a="http://schemas.openxmlformats.org/drawingml/2006/main" prst="ellipse">
            <a:avLst/>
          </a:prstGeom>
          <a:solidFill xmlns:a="http://schemas.openxmlformats.org/drawingml/2006/main">
            <a:srgbClr val="2D6F9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1070FF-F55A-4328-85DB-D7740CBF27D4}"/>
              </a:ext>
            </a:extLst>
          </p:cNvPr>
          <p:cNvSpPr>
            <a:spLocks xmlns:a="http://schemas.openxmlformats.org/drawingml/2006/main" noGrp="1"/>
          </p:cNvSpPr>
          <p:nvPr/>
        </p:nvSpPr>
        <p:spPr>
          <a:xfrm xmlns:a="http://schemas.openxmlformats.org/drawingml/2006/main">
            <a:off x="1276350" y="3933825"/>
            <a:ext cx="4124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カメラ距離であり、稲高そのものではない</a:t>
            </a:r>
          </a:p>
        </p:txBody>
      </p:sp>
      <p:sp>
        <p:nvSpPr>
          <p:cNvPr id="21" name="">
            <a:extLst xmlns:a="http://schemas.openxmlformats.org/drawingml/2006/main">
              <a:ext uri="{FF2B5EF4-FFF2-40B4-BE49-F238E27FC236}">
                <a16:creationId xmlns:a16="http://schemas.microsoft.com/office/drawing/2014/main" id="{84C4F395-33C9-47BA-A924-76F72BBFFD58}"/>
              </a:ext>
            </a:extLst>
          </p:cNvPr>
          <p:cNvSpPr>
            <a:spLocks xmlns:a="http://schemas.openxmlformats.org/drawingml/2006/main" noGrp="1"/>
          </p:cNvSpPr>
          <p:nvPr/>
        </p:nvSpPr>
        <p:spPr>
          <a:xfrm xmlns:a="http://schemas.openxmlformats.org/drawingml/2006/main">
            <a:off x="6400800" y="2447925"/>
            <a:ext cx="5010150" cy="2000250"/>
          </a:xfrm>
          <a:prstGeom xmlns:a="http://schemas.openxmlformats.org/drawingml/2006/main" prst="roundRect">
            <a:avLst>
              <a:gd name="adj" fmla="val 3810"/>
            </a:avLst>
          </a:prstGeom>
          <a:solidFill xmlns:a="http://schemas.openxmlformats.org/drawingml/2006/main">
            <a:srgbClr val="E3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3D2CB06-0B1F-4564-8875-4FB66ECBD18E}"/>
              </a:ext>
            </a:extLst>
          </p:cNvPr>
          <p:cNvSpPr>
            <a:spLocks xmlns:a="http://schemas.openxmlformats.org/drawingml/2006/main" noGrp="1"/>
          </p:cNvSpPr>
          <p:nvPr/>
        </p:nvSpPr>
        <p:spPr>
          <a:xfrm xmlns:a="http://schemas.openxmlformats.org/drawingml/2006/main">
            <a:off x="6629400" y="2638425"/>
            <a:ext cx="16192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6C845FB-0961-4341-8C4C-C46E38203B94}"/>
              </a:ext>
            </a:extLst>
          </p:cNvPr>
          <p:cNvSpPr>
            <a:spLocks xmlns:a="http://schemas.openxmlformats.org/drawingml/2006/main" noGrp="1"/>
          </p:cNvSpPr>
          <p:nvPr/>
        </p:nvSpPr>
        <p:spPr>
          <a:xfrm xmlns:a="http://schemas.openxmlformats.org/drawingml/2006/main">
            <a:off x="6705600" y="266700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168C88"/>
                </a:solidFill>
                <a:latin typeface="Yu Gothic"/>
                <a:ea typeface="Yu Gothic"/>
                <a:cs typeface="Yu Gothic"/>
              </a:defRPr>
            </a:pPr>
            <a:r>
              <a:rPr sz="1200" b="1">
                <a:solidFill>
                  <a:srgbClr val="168C88"/>
                </a:solidFill>
                <a:latin typeface="Yu Gothic"/>
                <a:ea typeface="Yu Gothic"/>
                <a:cs typeface="Yu Gothic"/>
              </a:rPr>
              <a:t>Relative depth</a:t>
            </a:r>
          </a:p>
        </p:txBody>
      </p:sp>
      <p:sp>
        <p:nvSpPr>
          <p:cNvPr id="24" name="">
            <a:extLst xmlns:a="http://schemas.openxmlformats.org/drawingml/2006/main">
              <a:ext uri="{FF2B5EF4-FFF2-40B4-BE49-F238E27FC236}">
                <a16:creationId xmlns:a16="http://schemas.microsoft.com/office/drawing/2014/main" id="{E7526411-3A99-4BF4-91F5-53B105C25AB1}"/>
              </a:ext>
            </a:extLst>
          </p:cNvPr>
          <p:cNvSpPr>
            <a:spLocks xmlns:a="http://schemas.openxmlformats.org/drawingml/2006/main" noGrp="1"/>
          </p:cNvSpPr>
          <p:nvPr/>
        </p:nvSpPr>
        <p:spPr>
          <a:xfrm xmlns:a="http://schemas.openxmlformats.org/drawingml/2006/main">
            <a:off x="6629400" y="30575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画面内の相対的な前後関係</a:t>
            </a:r>
          </a:p>
        </p:txBody>
      </p:sp>
      <p:sp>
        <p:nvSpPr>
          <p:cNvPr id="25" name="">
            <a:extLst xmlns:a="http://schemas.openxmlformats.org/drawingml/2006/main">
              <a:ext uri="{FF2B5EF4-FFF2-40B4-BE49-F238E27FC236}">
                <a16:creationId xmlns:a16="http://schemas.microsoft.com/office/drawing/2014/main" id="{1D757C61-5348-4B92-ACE8-834C98237AAE}"/>
              </a:ext>
            </a:extLst>
          </p:cNvPr>
          <p:cNvSpPr>
            <a:spLocks xmlns:a="http://schemas.openxmlformats.org/drawingml/2006/main" noGrp="1"/>
          </p:cNvSpPr>
          <p:nvPr/>
        </p:nvSpPr>
        <p:spPr>
          <a:xfrm xmlns:a="http://schemas.openxmlformats.org/drawingml/2006/main">
            <a:off x="6686550" y="364807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9FF9E4B-1E5D-4E66-AA62-D5DF97467AE2}"/>
              </a:ext>
            </a:extLst>
          </p:cNvPr>
          <p:cNvSpPr>
            <a:spLocks xmlns:a="http://schemas.openxmlformats.org/drawingml/2006/main" noGrp="1"/>
          </p:cNvSpPr>
          <p:nvPr/>
        </p:nvSpPr>
        <p:spPr>
          <a:xfrm xmlns:a="http://schemas.openxmlformats.org/drawingml/2006/main">
            <a:off x="6896100" y="3571875"/>
            <a:ext cx="4124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絶対尺度・メートル単位を持たない</a:t>
            </a:r>
          </a:p>
        </p:txBody>
      </p:sp>
      <p:sp>
        <p:nvSpPr>
          <p:cNvPr id="27" name="">
            <a:extLst xmlns:a="http://schemas.openxmlformats.org/drawingml/2006/main">
              <a:ext uri="{FF2B5EF4-FFF2-40B4-BE49-F238E27FC236}">
                <a16:creationId xmlns:a16="http://schemas.microsoft.com/office/drawing/2014/main" id="{5E7113F7-3E02-454A-823B-8B5195D88619}"/>
              </a:ext>
            </a:extLst>
          </p:cNvPr>
          <p:cNvSpPr>
            <a:spLocks xmlns:a="http://schemas.openxmlformats.org/drawingml/2006/main" noGrp="1"/>
          </p:cNvSpPr>
          <p:nvPr/>
        </p:nvSpPr>
        <p:spPr>
          <a:xfrm xmlns:a="http://schemas.openxmlformats.org/drawingml/2006/main">
            <a:off x="6686550" y="401002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3A5FF8-23B4-45DC-8DAC-693087AC9B8C}"/>
              </a:ext>
            </a:extLst>
          </p:cNvPr>
          <p:cNvSpPr>
            <a:spLocks xmlns:a="http://schemas.openxmlformats.org/drawingml/2006/main" noGrp="1"/>
          </p:cNvSpPr>
          <p:nvPr/>
        </p:nvSpPr>
        <p:spPr>
          <a:xfrm xmlns:a="http://schemas.openxmlformats.org/drawingml/2006/main">
            <a:off x="6896100" y="3933825"/>
            <a:ext cx="4124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局所的な高低順序が残るかを別途評価</a:t>
            </a:r>
          </a:p>
        </p:txBody>
      </p:sp>
      <p:sp>
        <p:nvSpPr>
          <p:cNvPr id="29" name="">
            <a:extLst xmlns:a="http://schemas.openxmlformats.org/drawingml/2006/main">
              <a:ext uri="{FF2B5EF4-FFF2-40B4-BE49-F238E27FC236}">
                <a16:creationId xmlns:a16="http://schemas.microsoft.com/office/drawing/2014/main" id="{ABC39483-FB33-4321-888F-9797F0728028}"/>
              </a:ext>
            </a:extLst>
          </p:cNvPr>
          <p:cNvSpPr>
            <a:spLocks xmlns:a="http://schemas.openxmlformats.org/drawingml/2006/main" noGrp="1"/>
          </p:cNvSpPr>
          <p:nvPr/>
        </p:nvSpPr>
        <p:spPr>
          <a:xfrm xmlns:a="http://schemas.openxmlformats.org/drawingml/2006/main">
            <a:off x="781050" y="4810125"/>
            <a:ext cx="10629900" cy="1009650"/>
          </a:xfrm>
          <a:prstGeom xmlns:a="http://schemas.openxmlformats.org/drawingml/2006/main" prst="roundRect">
            <a:avLst>
              <a:gd name="adj" fmla="val 7547"/>
            </a:avLst>
          </a:prstGeom>
          <a:solidFill xmlns:a="http://schemas.openxmlformats.org/drawingml/2006/main">
            <a:srgbClr val="F8EBD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D0E83F5-206E-4C09-9C34-32A97848C40E}"/>
              </a:ext>
            </a:extLst>
          </p:cNvPr>
          <p:cNvSpPr>
            <a:spLocks xmlns:a="http://schemas.openxmlformats.org/drawingml/2006/main" noGrp="1"/>
          </p:cNvSpPr>
          <p:nvPr/>
        </p:nvSpPr>
        <p:spPr>
          <a:xfrm xmlns:a="http://schemas.openxmlformats.org/drawingml/2006/main">
            <a:off x="1047750" y="4953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D98839"/>
                </a:solidFill>
                <a:latin typeface="Yu Gothic"/>
                <a:ea typeface="Yu Gothic"/>
                <a:cs typeface="Yu Gothic"/>
              </a:defRPr>
            </a:pPr>
            <a:r>
              <a:rPr sz="1500" b="1">
                <a:solidFill>
                  <a:srgbClr val="D98839"/>
                </a:solidFill>
                <a:latin typeface="Yu Gothic"/>
                <a:ea typeface="Yu Gothic"/>
                <a:cs typeface="Yu Gothic"/>
              </a:rPr>
              <a:t>この予備検討の問い</a:t>
            </a:r>
          </a:p>
        </p:txBody>
      </p:sp>
      <p:sp>
        <p:nvSpPr>
          <p:cNvPr id="31" name="">
            <a:extLst xmlns:a="http://schemas.openxmlformats.org/drawingml/2006/main">
              <a:ext uri="{FF2B5EF4-FFF2-40B4-BE49-F238E27FC236}">
                <a16:creationId xmlns:a16="http://schemas.microsoft.com/office/drawing/2014/main" id="{D8F33F0A-1DA5-406D-A4D4-76B00C347588}"/>
              </a:ext>
            </a:extLst>
          </p:cNvPr>
          <p:cNvSpPr>
            <a:spLocks xmlns:a="http://schemas.openxmlformats.org/drawingml/2006/main" noGrp="1"/>
          </p:cNvSpPr>
          <p:nvPr/>
        </p:nvSpPr>
        <p:spPr>
          <a:xfrm xmlns:a="http://schemas.openxmlformats.org/drawingml/2006/main">
            <a:off x="1047750" y="52768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作物domainで出力が保たれるか？　　局所差分は高さ差を表すか？</a:t>
            </a:r>
          </a:p>
        </p:txBody>
      </p:sp>
    </p:spTree>
    <p:extLst>
      <p:ext uri="{BB962C8B-B14F-4D97-AF65-F5344CB8AC3E}">
        <p14:creationId xmlns:p14="http://schemas.microsoft.com/office/powerpoint/2010/main" val="18849846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66B7617C-F7AD-4647-80FA-B69E7B43BD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9F6D51-602E-4B2A-9269-03BD8D9F20F5}"/>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予備実験の流れ：次の問いへ進む</a:t>
            </a:r>
          </a:p>
        </p:txBody>
      </p:sp>
      <p:sp>
        <p:nvSpPr>
          <p:cNvPr id="3" name="">
            <a:extLst xmlns:a="http://schemas.openxmlformats.org/drawingml/2006/main">
              <a:ext uri="{FF2B5EF4-FFF2-40B4-BE49-F238E27FC236}">
                <a16:creationId xmlns:a16="http://schemas.microsoft.com/office/drawing/2014/main" id="{319E1CC9-DF34-4EA7-839A-AB1A2296A3D0}"/>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132D4E-2B50-4385-9E7F-346A7D0DDC4F}"/>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09FE13-DD43-4C59-8C6E-C0D0A4322C79}"/>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比較対象とGTの条件が異なるため、各datasetの値を単純なランキングには用いない。</a:t>
            </a:r>
          </a:p>
        </p:txBody>
      </p:sp>
      <p:sp>
        <p:nvSpPr>
          <p:cNvPr id="6" name="">
            <a:extLst xmlns:a="http://schemas.openxmlformats.org/drawingml/2006/main">
              <a:ext uri="{FF2B5EF4-FFF2-40B4-BE49-F238E27FC236}">
                <a16:creationId xmlns:a16="http://schemas.microsoft.com/office/drawing/2014/main" id="{38CDC20E-6AC6-4DF6-AE94-178845D4F7D4}"/>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04</a:t>
            </a:r>
          </a:p>
        </p:txBody>
      </p:sp>
      <p:sp>
        <p:nvSpPr>
          <p:cNvPr id="7" name="">
            <a:extLst xmlns:a="http://schemas.openxmlformats.org/drawingml/2006/main">
              <a:ext uri="{FF2B5EF4-FFF2-40B4-BE49-F238E27FC236}">
                <a16:creationId xmlns:a16="http://schemas.microsoft.com/office/drawing/2014/main" id="{55CBEB6A-3EAE-4ED3-BAF0-082B84B8C144}"/>
              </a:ext>
            </a:extLst>
          </p:cNvPr>
          <p:cNvSpPr>
            <a:spLocks xmlns:a="http://schemas.openxmlformats.org/drawingml/2006/main" noGrp="1"/>
          </p:cNvSpPr>
          <p:nvPr/>
        </p:nvSpPr>
        <p:spPr>
          <a:xfrm xmlns:a="http://schemas.openxmlformats.org/drawingml/2006/main">
            <a:off x="762000" y="1524000"/>
            <a:ext cx="2190750" cy="1009650"/>
          </a:xfrm>
          <a:prstGeom xmlns:a="http://schemas.openxmlformats.org/drawingml/2006/main" prst="roundRect">
            <a:avLst>
              <a:gd name="adj" fmla="val 7547"/>
            </a:avLst>
          </a:prstGeom>
          <a:solidFill xmlns:a="http://schemas.openxmlformats.org/drawingml/2006/main">
            <a:srgbClr val="DCEAF4"/>
          </a:solidFill>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EDD9F403-3F7E-4C0F-AF4F-BBB6DBCCC2DA}"/>
              </a:ext>
            </a:extLst>
          </p:cNvPr>
          <p:cNvSpPr>
            <a:spLocks xmlns:a="http://schemas.openxmlformats.org/drawingml/2006/main" noGrp="1"/>
          </p:cNvSpPr>
          <p:nvPr/>
        </p:nvSpPr>
        <p:spPr>
          <a:xfrm xmlns:a="http://schemas.openxmlformats.org/drawingml/2006/main">
            <a:off x="762000" y="1524000"/>
            <a:ext cx="66675" cy="100965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38A3521-0E7F-4193-84BF-5773C288A9EA}"/>
              </a:ext>
            </a:extLst>
          </p:cNvPr>
          <p:cNvSpPr>
            <a:spLocks xmlns:a="http://schemas.openxmlformats.org/drawingml/2006/main" noGrp="1"/>
          </p:cNvSpPr>
          <p:nvPr/>
        </p:nvSpPr>
        <p:spPr>
          <a:xfrm xmlns:a="http://schemas.openxmlformats.org/drawingml/2006/main">
            <a:off x="923925" y="16192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一般環境</a:t>
            </a:r>
          </a:p>
        </p:txBody>
      </p:sp>
      <p:sp>
        <p:nvSpPr>
          <p:cNvPr id="10" name="">
            <a:extLst xmlns:a="http://schemas.openxmlformats.org/drawingml/2006/main">
              <a:ext uri="{FF2B5EF4-FFF2-40B4-BE49-F238E27FC236}">
                <a16:creationId xmlns:a16="http://schemas.microsoft.com/office/drawing/2014/main" id="{30D12820-317C-48B2-BAC8-71322AE121F4}"/>
              </a:ext>
            </a:extLst>
          </p:cNvPr>
          <p:cNvSpPr>
            <a:spLocks xmlns:a="http://schemas.openxmlformats.org/drawingml/2006/main" noGrp="1"/>
          </p:cNvSpPr>
          <p:nvPr/>
        </p:nvSpPr>
        <p:spPr>
          <a:xfrm xmlns:a="http://schemas.openxmlformats.org/drawingml/2006/main">
            <a:off x="923925" y="1943100"/>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KITTI</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metric depth</a:t>
            </a:r>
          </a:p>
        </p:txBody>
      </p:sp>
      <p:sp>
        <p:nvSpPr>
          <p:cNvPr id="11" name="">
            <a:extLst xmlns:a="http://schemas.openxmlformats.org/drawingml/2006/main">
              <a:ext uri="{FF2B5EF4-FFF2-40B4-BE49-F238E27FC236}">
                <a16:creationId xmlns:a16="http://schemas.microsoft.com/office/drawing/2014/main" id="{79DB0DC3-2134-4F5F-9140-457688D9D58F}"/>
              </a:ext>
            </a:extLst>
          </p:cNvPr>
          <p:cNvSpPr>
            <a:spLocks xmlns:a="http://schemas.openxmlformats.org/drawingml/2006/main" noGrp="1"/>
          </p:cNvSpPr>
          <p:nvPr/>
        </p:nvSpPr>
        <p:spPr>
          <a:xfrm xmlns:a="http://schemas.openxmlformats.org/drawingml/2006/main">
            <a:off x="3524250" y="1524000"/>
            <a:ext cx="2190750" cy="1009650"/>
          </a:xfrm>
          <a:prstGeom xmlns:a="http://schemas.openxmlformats.org/drawingml/2006/main" prst="roundRect">
            <a:avLst>
              <a:gd name="adj" fmla="val 7547"/>
            </a:avLst>
          </a:prstGeom>
          <a:solidFill xmlns:a="http://schemas.openxmlformats.org/drawingml/2006/main">
            <a:srgbClr val="E3F3F1"/>
          </a:solidFill>
          <a:ln xmlns:a="http://schemas.openxmlformats.org/drawingml/2006/main" w="9525">
            <a:solidFill>
              <a:srgbClr val="D9E1E7"/>
            </a:solidFill>
            <a:prstDash val="solid"/>
          </a:ln>
        </p:spPr>
      </p:sp>
      <p:sp>
        <p:nvSpPr>
          <p:cNvPr id="12" name="">
            <a:extLst xmlns:a="http://schemas.openxmlformats.org/drawingml/2006/main">
              <a:ext uri="{FF2B5EF4-FFF2-40B4-BE49-F238E27FC236}">
                <a16:creationId xmlns:a16="http://schemas.microsoft.com/office/drawing/2014/main" id="{76FB12EA-B39F-4A47-896B-81DFCDBF4AE2}"/>
              </a:ext>
            </a:extLst>
          </p:cNvPr>
          <p:cNvSpPr>
            <a:spLocks xmlns:a="http://schemas.openxmlformats.org/drawingml/2006/main" noGrp="1"/>
          </p:cNvSpPr>
          <p:nvPr/>
        </p:nvSpPr>
        <p:spPr>
          <a:xfrm xmlns:a="http://schemas.openxmlformats.org/drawingml/2006/main">
            <a:off x="3524250" y="1524000"/>
            <a:ext cx="66675" cy="100965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6A2C1A-ED1C-417E-B222-7CFD81F5C581}"/>
              </a:ext>
            </a:extLst>
          </p:cNvPr>
          <p:cNvSpPr>
            <a:spLocks xmlns:a="http://schemas.openxmlformats.org/drawingml/2006/main" noGrp="1"/>
          </p:cNvSpPr>
          <p:nvPr/>
        </p:nvSpPr>
        <p:spPr>
          <a:xfrm xmlns:a="http://schemas.openxmlformats.org/drawingml/2006/main">
            <a:off x="3686175" y="16192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GT depth</a:t>
            </a:r>
          </a:p>
        </p:txBody>
      </p:sp>
      <p:sp>
        <p:nvSpPr>
          <p:cNvPr id="14" name="">
            <a:extLst xmlns:a="http://schemas.openxmlformats.org/drawingml/2006/main">
              <a:ext uri="{FF2B5EF4-FFF2-40B4-BE49-F238E27FC236}">
                <a16:creationId xmlns:a16="http://schemas.microsoft.com/office/drawing/2014/main" id="{12EAA5EB-8727-4190-ACDD-B3035C10DF87}"/>
              </a:ext>
            </a:extLst>
          </p:cNvPr>
          <p:cNvSpPr>
            <a:spLocks xmlns:a="http://schemas.openxmlformats.org/drawingml/2006/main" noGrp="1"/>
          </p:cNvSpPr>
          <p:nvPr/>
        </p:nvSpPr>
        <p:spPr>
          <a:xfrm xmlns:a="http://schemas.openxmlformats.org/drawingml/2006/main">
            <a:off x="3686175" y="1943100"/>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ETH3D</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RGB–depth対応</a:t>
            </a:r>
          </a:p>
        </p:txBody>
      </p:sp>
      <p:sp>
        <p:nvSpPr>
          <p:cNvPr id="15" name="">
            <a:extLst xmlns:a="http://schemas.openxmlformats.org/drawingml/2006/main">
              <a:ext uri="{FF2B5EF4-FFF2-40B4-BE49-F238E27FC236}">
                <a16:creationId xmlns:a16="http://schemas.microsoft.com/office/drawing/2014/main" id="{202A2C7F-1E12-4F50-B3DC-D252923776E1}"/>
              </a:ext>
            </a:extLst>
          </p:cNvPr>
          <p:cNvSpPr>
            <a:spLocks xmlns:a="http://schemas.openxmlformats.org/drawingml/2006/main" noGrp="1"/>
          </p:cNvSpPr>
          <p:nvPr/>
        </p:nvSpPr>
        <p:spPr>
          <a:xfrm xmlns:a="http://schemas.openxmlformats.org/drawingml/2006/main">
            <a:off x="6286500" y="1524000"/>
            <a:ext cx="219075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9E1E7"/>
            </a:solidFill>
            <a:prstDash val="solid"/>
          </a:ln>
        </p:spPr>
      </p:sp>
      <p:sp>
        <p:nvSpPr>
          <p:cNvPr id="16" name="">
            <a:extLst xmlns:a="http://schemas.openxmlformats.org/drawingml/2006/main">
              <a:ext uri="{FF2B5EF4-FFF2-40B4-BE49-F238E27FC236}">
                <a16:creationId xmlns:a16="http://schemas.microsoft.com/office/drawing/2014/main" id="{231862F0-AB58-4F3A-AFE5-EA461073079F}"/>
              </a:ext>
            </a:extLst>
          </p:cNvPr>
          <p:cNvSpPr>
            <a:spLocks xmlns:a="http://schemas.openxmlformats.org/drawingml/2006/main" noGrp="1"/>
          </p:cNvSpPr>
          <p:nvPr/>
        </p:nvSpPr>
        <p:spPr>
          <a:xfrm xmlns:a="http://schemas.openxmlformats.org/drawingml/2006/main">
            <a:off x="6286500" y="1524000"/>
            <a:ext cx="66675" cy="100965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8101EAC-591B-4286-B15D-2FB589D52EBE}"/>
              </a:ext>
            </a:extLst>
          </p:cNvPr>
          <p:cNvSpPr>
            <a:spLocks xmlns:a="http://schemas.openxmlformats.org/drawingml/2006/main" noGrp="1"/>
          </p:cNvSpPr>
          <p:nvPr/>
        </p:nvSpPr>
        <p:spPr>
          <a:xfrm xmlns:a="http://schemas.openxmlformats.org/drawingml/2006/main">
            <a:off x="6448425" y="16192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3D化</a:t>
            </a:r>
          </a:p>
        </p:txBody>
      </p:sp>
      <p:sp>
        <p:nvSpPr>
          <p:cNvPr id="18" name="">
            <a:extLst xmlns:a="http://schemas.openxmlformats.org/drawingml/2006/main">
              <a:ext uri="{FF2B5EF4-FFF2-40B4-BE49-F238E27FC236}">
                <a16:creationId xmlns:a16="http://schemas.microsoft.com/office/drawing/2014/main" id="{978ABAED-2FB2-4A5D-803A-8DA5F602B8D1}"/>
              </a:ext>
            </a:extLst>
          </p:cNvPr>
          <p:cNvSpPr>
            <a:spLocks xmlns:a="http://schemas.openxmlformats.org/drawingml/2006/main" noGrp="1"/>
          </p:cNvSpPr>
          <p:nvPr/>
        </p:nvSpPr>
        <p:spPr>
          <a:xfrm xmlns:a="http://schemas.openxmlformats.org/drawingml/2006/main">
            <a:off x="6448425" y="1943100"/>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camera intrinsics</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 point cloud</a:t>
            </a:r>
          </a:p>
        </p:txBody>
      </p:sp>
      <p:sp>
        <p:nvSpPr>
          <p:cNvPr id="19" name="">
            <a:extLst xmlns:a="http://schemas.openxmlformats.org/drawingml/2006/main">
              <a:ext uri="{FF2B5EF4-FFF2-40B4-BE49-F238E27FC236}">
                <a16:creationId xmlns:a16="http://schemas.microsoft.com/office/drawing/2014/main" id="{F6DE22E7-0A4A-41FC-BBB7-656771B52A9C}"/>
              </a:ext>
            </a:extLst>
          </p:cNvPr>
          <p:cNvSpPr>
            <a:spLocks xmlns:a="http://schemas.openxmlformats.org/drawingml/2006/main" noGrp="1"/>
          </p:cNvSpPr>
          <p:nvPr/>
        </p:nvSpPr>
        <p:spPr>
          <a:xfrm xmlns:a="http://schemas.openxmlformats.org/drawingml/2006/main">
            <a:off x="9048750" y="1524000"/>
            <a:ext cx="2190750" cy="1009650"/>
          </a:xfrm>
          <a:prstGeom xmlns:a="http://schemas.openxmlformats.org/drawingml/2006/main" prst="roundRect">
            <a:avLst>
              <a:gd name="adj" fmla="val 7547"/>
            </a:avLst>
          </a:prstGeom>
          <a:solidFill xmlns:a="http://schemas.openxmlformats.org/drawingml/2006/main">
            <a:srgbClr val="F8EBDD"/>
          </a:solidFill>
          <a:ln xmlns:a="http://schemas.openxmlformats.org/drawingml/2006/main" w="9525">
            <a:solidFill>
              <a:srgbClr val="D9E1E7"/>
            </a:solidFill>
            <a:prstDash val="solid"/>
          </a:ln>
        </p:spPr>
      </p:sp>
      <p:sp>
        <p:nvSpPr>
          <p:cNvPr id="20" name="">
            <a:extLst xmlns:a="http://schemas.openxmlformats.org/drawingml/2006/main">
              <a:ext uri="{FF2B5EF4-FFF2-40B4-BE49-F238E27FC236}">
                <a16:creationId xmlns:a16="http://schemas.microsoft.com/office/drawing/2014/main" id="{039FBE62-94EF-4F02-ACD6-7FF901A47EE1}"/>
              </a:ext>
            </a:extLst>
          </p:cNvPr>
          <p:cNvSpPr>
            <a:spLocks xmlns:a="http://schemas.openxmlformats.org/drawingml/2006/main" noGrp="1"/>
          </p:cNvSpPr>
          <p:nvPr/>
        </p:nvSpPr>
        <p:spPr>
          <a:xfrm xmlns:a="http://schemas.openxmlformats.org/drawingml/2006/main">
            <a:off x="9048750" y="1524000"/>
            <a:ext cx="66675" cy="100965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6BCFE41-CCDD-4597-B9FC-5EEDC832CB06}"/>
              </a:ext>
            </a:extLst>
          </p:cNvPr>
          <p:cNvSpPr>
            <a:spLocks xmlns:a="http://schemas.openxmlformats.org/drawingml/2006/main" noGrp="1"/>
          </p:cNvSpPr>
          <p:nvPr/>
        </p:nvSpPr>
        <p:spPr>
          <a:xfrm xmlns:a="http://schemas.openxmlformats.org/drawingml/2006/main">
            <a:off x="9210675" y="16192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稲UAV画像</a:t>
            </a:r>
          </a:p>
        </p:txBody>
      </p:sp>
      <p:sp>
        <p:nvSpPr>
          <p:cNvPr id="22" name="">
            <a:extLst xmlns:a="http://schemas.openxmlformats.org/drawingml/2006/main">
              <a:ext uri="{FF2B5EF4-FFF2-40B4-BE49-F238E27FC236}">
                <a16:creationId xmlns:a16="http://schemas.microsoft.com/office/drawing/2014/main" id="{081F1EF0-EDC9-4FEF-BFD8-646458D835FC}"/>
              </a:ext>
            </a:extLst>
          </p:cNvPr>
          <p:cNvSpPr>
            <a:spLocks xmlns:a="http://schemas.openxmlformats.org/drawingml/2006/main" noGrp="1"/>
          </p:cNvSpPr>
          <p:nvPr/>
        </p:nvSpPr>
        <p:spPr>
          <a:xfrm xmlns:a="http://schemas.openxmlformats.org/drawingml/2006/main">
            <a:off x="9210675" y="1943100"/>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LUMS</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適用可能性</a:t>
            </a:r>
          </a:p>
        </p:txBody>
      </p:sp>
      <p:sp>
        <p:nvSpPr>
          <p:cNvPr id="23" name="">
            <a:extLst xmlns:a="http://schemas.openxmlformats.org/drawingml/2006/main">
              <a:ext uri="{FF2B5EF4-FFF2-40B4-BE49-F238E27FC236}">
                <a16:creationId xmlns:a16="http://schemas.microsoft.com/office/drawing/2014/main" id="{B1BF1006-9D84-4616-A270-26D903AD27CE}"/>
              </a:ext>
            </a:extLst>
          </p:cNvPr>
          <p:cNvSpPr>
            <a:spLocks xmlns:a="http://schemas.openxmlformats.org/drawingml/2006/main" noGrp="1"/>
          </p:cNvSpPr>
          <p:nvPr/>
        </p:nvSpPr>
        <p:spPr>
          <a:xfrm xmlns:a="http://schemas.openxmlformats.org/drawingml/2006/main">
            <a:off x="9048750" y="3667125"/>
            <a:ext cx="2190750" cy="1009650"/>
          </a:xfrm>
          <a:prstGeom xmlns:a="http://schemas.openxmlformats.org/drawingml/2006/main" prst="roundRect">
            <a:avLst>
              <a:gd name="adj" fmla="val 7547"/>
            </a:avLst>
          </a:prstGeom>
          <a:solidFill xmlns:a="http://schemas.openxmlformats.org/drawingml/2006/main">
            <a:srgbClr val="DCEAF4"/>
          </a:solidFill>
          <a:ln xmlns:a="http://schemas.openxmlformats.org/drawingml/2006/main" w="9525">
            <a:solidFill>
              <a:srgbClr val="D9E1E7"/>
            </a:solidFill>
            <a:prstDash val="solid"/>
          </a:ln>
        </p:spPr>
      </p:sp>
      <p:sp>
        <p:nvSpPr>
          <p:cNvPr id="24" name="">
            <a:extLst xmlns:a="http://schemas.openxmlformats.org/drawingml/2006/main">
              <a:ext uri="{FF2B5EF4-FFF2-40B4-BE49-F238E27FC236}">
                <a16:creationId xmlns:a16="http://schemas.microsoft.com/office/drawing/2014/main" id="{9C3FE01B-E633-4E4B-A65F-AC5DE0D77435}"/>
              </a:ext>
            </a:extLst>
          </p:cNvPr>
          <p:cNvSpPr>
            <a:spLocks xmlns:a="http://schemas.openxmlformats.org/drawingml/2006/main" noGrp="1"/>
          </p:cNvSpPr>
          <p:nvPr/>
        </p:nvSpPr>
        <p:spPr>
          <a:xfrm xmlns:a="http://schemas.openxmlformats.org/drawingml/2006/main">
            <a:off x="9048750" y="3667125"/>
            <a:ext cx="66675" cy="100965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4D507AD-146C-4E8C-9947-FAADC148F4E1}"/>
              </a:ext>
            </a:extLst>
          </p:cNvPr>
          <p:cNvSpPr>
            <a:spLocks xmlns:a="http://schemas.openxmlformats.org/drawingml/2006/main" noGrp="1"/>
          </p:cNvSpPr>
          <p:nvPr/>
        </p:nvSpPr>
        <p:spPr>
          <a:xfrm xmlns:a="http://schemas.openxmlformats.org/drawingml/2006/main">
            <a:off x="9210675" y="3762375"/>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UAV作物＋GT</a:t>
            </a:r>
          </a:p>
        </p:txBody>
      </p:sp>
      <p:sp>
        <p:nvSpPr>
          <p:cNvPr id="26" name="">
            <a:extLst xmlns:a="http://schemas.openxmlformats.org/drawingml/2006/main">
              <a:ext uri="{FF2B5EF4-FFF2-40B4-BE49-F238E27FC236}">
                <a16:creationId xmlns:a16="http://schemas.microsoft.com/office/drawing/2014/main" id="{2C44DB93-36AA-4FFF-A225-93F0CFC7F810}"/>
              </a:ext>
            </a:extLst>
          </p:cNvPr>
          <p:cNvSpPr>
            <a:spLocks xmlns:a="http://schemas.openxmlformats.org/drawingml/2006/main" noGrp="1"/>
          </p:cNvSpPr>
          <p:nvPr/>
        </p:nvSpPr>
        <p:spPr>
          <a:xfrm xmlns:a="http://schemas.openxmlformats.org/drawingml/2006/main">
            <a:off x="9210675" y="4086225"/>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UAV3DCrop</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52 images</a:t>
            </a:r>
          </a:p>
        </p:txBody>
      </p:sp>
      <p:sp>
        <p:nvSpPr>
          <p:cNvPr id="27" name="">
            <a:extLst xmlns:a="http://schemas.openxmlformats.org/drawingml/2006/main">
              <a:ext uri="{FF2B5EF4-FFF2-40B4-BE49-F238E27FC236}">
                <a16:creationId xmlns:a16="http://schemas.microsoft.com/office/drawing/2014/main" id="{AE2BCA0F-8288-4718-9421-FBE1CAC0BB13}"/>
              </a:ext>
            </a:extLst>
          </p:cNvPr>
          <p:cNvSpPr>
            <a:spLocks xmlns:a="http://schemas.openxmlformats.org/drawingml/2006/main" noGrp="1"/>
          </p:cNvSpPr>
          <p:nvPr/>
        </p:nvSpPr>
        <p:spPr>
          <a:xfrm xmlns:a="http://schemas.openxmlformats.org/drawingml/2006/main">
            <a:off x="6286500" y="3667125"/>
            <a:ext cx="2190750" cy="1009650"/>
          </a:xfrm>
          <a:prstGeom xmlns:a="http://schemas.openxmlformats.org/drawingml/2006/main" prst="roundRect">
            <a:avLst>
              <a:gd name="adj" fmla="val 7547"/>
            </a:avLst>
          </a:prstGeom>
          <a:solidFill xmlns:a="http://schemas.openxmlformats.org/drawingml/2006/main">
            <a:srgbClr val="E3F3F1"/>
          </a:solidFill>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D46D6D60-E2CC-4845-9260-C3EBD25983E7}"/>
              </a:ext>
            </a:extLst>
          </p:cNvPr>
          <p:cNvSpPr>
            <a:spLocks xmlns:a="http://schemas.openxmlformats.org/drawingml/2006/main" noGrp="1"/>
          </p:cNvSpPr>
          <p:nvPr/>
        </p:nvSpPr>
        <p:spPr>
          <a:xfrm xmlns:a="http://schemas.openxmlformats.org/drawingml/2006/main">
            <a:off x="6286500" y="3667125"/>
            <a:ext cx="66675" cy="100965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297E310-65AF-4649-9D54-1266C7944EF7}"/>
              </a:ext>
            </a:extLst>
          </p:cNvPr>
          <p:cNvSpPr>
            <a:spLocks xmlns:a="http://schemas.openxmlformats.org/drawingml/2006/main" noGrp="1"/>
          </p:cNvSpPr>
          <p:nvPr/>
        </p:nvSpPr>
        <p:spPr>
          <a:xfrm xmlns:a="http://schemas.openxmlformats.org/drawingml/2006/main">
            <a:off x="6448425" y="3762375"/>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実際の稲＋CHM</a:t>
            </a:r>
          </a:p>
        </p:txBody>
      </p:sp>
      <p:sp>
        <p:nvSpPr>
          <p:cNvPr id="30" name="">
            <a:extLst xmlns:a="http://schemas.openxmlformats.org/drawingml/2006/main">
              <a:ext uri="{FF2B5EF4-FFF2-40B4-BE49-F238E27FC236}">
                <a16:creationId xmlns:a16="http://schemas.microsoft.com/office/drawing/2014/main" id="{7B43300D-3341-45EE-9F50-8BE5030F4B88}"/>
              </a:ext>
            </a:extLst>
          </p:cNvPr>
          <p:cNvSpPr>
            <a:spLocks xmlns:a="http://schemas.openxmlformats.org/drawingml/2006/main" noGrp="1"/>
          </p:cNvSpPr>
          <p:nvPr/>
        </p:nvSpPr>
        <p:spPr>
          <a:xfrm xmlns:a="http://schemas.openxmlformats.org/drawingml/2006/main">
            <a:off x="6448425" y="4086225"/>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AirMeasurer</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relative depth比較</a:t>
            </a:r>
          </a:p>
        </p:txBody>
      </p:sp>
      <p:sp>
        <p:nvSpPr>
          <p:cNvPr id="31" name="">
            <a:extLst xmlns:a="http://schemas.openxmlformats.org/drawingml/2006/main">
              <a:ext uri="{FF2B5EF4-FFF2-40B4-BE49-F238E27FC236}">
                <a16:creationId xmlns:a16="http://schemas.microsoft.com/office/drawing/2014/main" id="{954D328C-8A01-46F3-B0BE-4AECA956BC1B}"/>
              </a:ext>
            </a:extLst>
          </p:cNvPr>
          <p:cNvSpPr>
            <a:spLocks xmlns:a="http://schemas.openxmlformats.org/drawingml/2006/main" noGrp="1"/>
          </p:cNvSpPr>
          <p:nvPr/>
        </p:nvSpPr>
        <p:spPr>
          <a:xfrm xmlns:a="http://schemas.openxmlformats.org/drawingml/2006/main">
            <a:off x="3524250" y="3667125"/>
            <a:ext cx="2190750" cy="1009650"/>
          </a:xfrm>
          <a:prstGeom xmlns:a="http://schemas.openxmlformats.org/drawingml/2006/main" prst="roundRect">
            <a:avLst>
              <a:gd name="adj" fmla="val 7547"/>
            </a:avLst>
          </a:prstGeom>
          <a:solidFill xmlns:a="http://schemas.openxmlformats.org/drawingml/2006/main">
            <a:srgbClr val="F8EBDD"/>
          </a:solidFill>
          <a:ln xmlns:a="http://schemas.openxmlformats.org/drawingml/2006/main" w="9525">
            <a:solidFill>
              <a:srgbClr val="D9E1E7"/>
            </a:solidFill>
            <a:prstDash val="solid"/>
          </a:ln>
        </p:spPr>
      </p:sp>
      <p:sp>
        <p:nvSpPr>
          <p:cNvPr id="32" name="">
            <a:extLst xmlns:a="http://schemas.openxmlformats.org/drawingml/2006/main">
              <a:ext uri="{FF2B5EF4-FFF2-40B4-BE49-F238E27FC236}">
                <a16:creationId xmlns:a16="http://schemas.microsoft.com/office/drawing/2014/main" id="{34CA9D9F-6930-4B91-BD45-41D85026BB2B}"/>
              </a:ext>
            </a:extLst>
          </p:cNvPr>
          <p:cNvSpPr>
            <a:spLocks xmlns:a="http://schemas.openxmlformats.org/drawingml/2006/main" noGrp="1"/>
          </p:cNvSpPr>
          <p:nvPr/>
        </p:nvSpPr>
        <p:spPr>
          <a:xfrm xmlns:a="http://schemas.openxmlformats.org/drawingml/2006/main">
            <a:off x="3524250" y="3667125"/>
            <a:ext cx="66675" cy="100965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69BBE1D-456A-4D8B-BF1E-1688839C8809}"/>
              </a:ext>
            </a:extLst>
          </p:cNvPr>
          <p:cNvSpPr>
            <a:spLocks xmlns:a="http://schemas.openxmlformats.org/drawingml/2006/main" noGrp="1"/>
          </p:cNvSpPr>
          <p:nvPr/>
        </p:nvSpPr>
        <p:spPr>
          <a:xfrm xmlns:a="http://schemas.openxmlformats.org/drawingml/2006/main">
            <a:off x="3686175" y="3762375"/>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可能性と限界</a:t>
            </a:r>
          </a:p>
        </p:txBody>
      </p:sp>
      <p:sp>
        <p:nvSpPr>
          <p:cNvPr id="34" name="">
            <a:extLst xmlns:a="http://schemas.openxmlformats.org/drawingml/2006/main">
              <a:ext uri="{FF2B5EF4-FFF2-40B4-BE49-F238E27FC236}">
                <a16:creationId xmlns:a16="http://schemas.microsoft.com/office/drawing/2014/main" id="{43DC4240-557F-4890-A8C8-E625FE517BA3}"/>
              </a:ext>
            </a:extLst>
          </p:cNvPr>
          <p:cNvSpPr>
            <a:spLocks xmlns:a="http://schemas.openxmlformats.org/drawingml/2006/main" noGrp="1"/>
          </p:cNvSpPr>
          <p:nvPr/>
        </p:nvSpPr>
        <p:spPr>
          <a:xfrm xmlns:a="http://schemas.openxmlformats.org/drawingml/2006/main">
            <a:off x="3686175" y="4086225"/>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高さ推定の</a:t>
            </a:r>
          </a:p>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条件を整理</a:t>
            </a:r>
          </a:p>
        </p:txBody>
      </p:sp>
      <p:sp>
        <p:nvSpPr>
          <p:cNvPr id="35" name="">
            <a:extLst xmlns:a="http://schemas.openxmlformats.org/drawingml/2006/main">
              <a:ext uri="{FF2B5EF4-FFF2-40B4-BE49-F238E27FC236}">
                <a16:creationId xmlns:a16="http://schemas.microsoft.com/office/drawing/2014/main" id="{875098F6-B3CA-421B-894A-5723A4C37697}"/>
              </a:ext>
            </a:extLst>
          </p:cNvPr>
          <p:cNvSpPr>
            <a:spLocks xmlns:a="http://schemas.openxmlformats.org/drawingml/2006/main" noGrp="1"/>
          </p:cNvSpPr>
          <p:nvPr/>
        </p:nvSpPr>
        <p:spPr>
          <a:xfrm xmlns:a="http://schemas.openxmlformats.org/drawingml/2006/main">
            <a:off x="3048000" y="1866900"/>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742AFD9-A59D-4CC1-B5CC-D52E0D8B2679}"/>
              </a:ext>
            </a:extLst>
          </p:cNvPr>
          <p:cNvSpPr>
            <a:spLocks xmlns:a="http://schemas.openxmlformats.org/drawingml/2006/main" noGrp="1"/>
          </p:cNvSpPr>
          <p:nvPr/>
        </p:nvSpPr>
        <p:spPr>
          <a:xfrm xmlns:a="http://schemas.openxmlformats.org/drawingml/2006/main">
            <a:off x="5810250" y="1866900"/>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24B6403-695F-40F6-95FD-21CA44F0CCA4}"/>
              </a:ext>
            </a:extLst>
          </p:cNvPr>
          <p:cNvSpPr>
            <a:spLocks xmlns:a="http://schemas.openxmlformats.org/drawingml/2006/main" noGrp="1"/>
          </p:cNvSpPr>
          <p:nvPr/>
        </p:nvSpPr>
        <p:spPr>
          <a:xfrm xmlns:a="http://schemas.openxmlformats.org/drawingml/2006/main">
            <a:off x="8572500" y="1866900"/>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0F860FB-379D-4BB6-9604-C7DF3451A479}"/>
              </a:ext>
            </a:extLst>
          </p:cNvPr>
          <p:cNvSpPr>
            <a:spLocks xmlns:a="http://schemas.openxmlformats.org/drawingml/2006/main" noGrp="1"/>
          </p:cNvSpPr>
          <p:nvPr/>
        </p:nvSpPr>
        <p:spPr>
          <a:xfrm xmlns:a="http://schemas.openxmlformats.org/drawingml/2006/main">
            <a:off x="10001250" y="2686050"/>
            <a:ext cx="323850" cy="647700"/>
          </a:xfrm>
          <a:prstGeom xmlns:a="http://schemas.openxmlformats.org/drawingml/2006/main" prst="downArrow">
            <a:avLst/>
          </a:prstGeom>
          <a:solidFill xmlns:a="http://schemas.openxmlformats.org/drawingml/2006/main">
            <a:srgbClr val="2D6F9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FDBF65E-E4F9-4232-BFCF-5A6C579087F9}"/>
              </a:ext>
            </a:extLst>
          </p:cNvPr>
          <p:cNvSpPr>
            <a:spLocks xmlns:a="http://schemas.openxmlformats.org/drawingml/2006/main" noGrp="1"/>
          </p:cNvSpPr>
          <p:nvPr/>
        </p:nvSpPr>
        <p:spPr>
          <a:xfrm xmlns:a="http://schemas.openxmlformats.org/drawingml/2006/main">
            <a:off x="8572500" y="4010025"/>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4C4992C-779F-4C28-B777-F0CDB7CC38E1}"/>
              </a:ext>
            </a:extLst>
          </p:cNvPr>
          <p:cNvSpPr>
            <a:spLocks xmlns:a="http://schemas.openxmlformats.org/drawingml/2006/main" noGrp="1"/>
          </p:cNvSpPr>
          <p:nvPr/>
        </p:nvSpPr>
        <p:spPr>
          <a:xfrm xmlns:a="http://schemas.openxmlformats.org/drawingml/2006/main">
            <a:off x="5810250" y="4010025"/>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F989FC-D344-451C-9EE0-1245BDA615F3}"/>
              </a:ext>
            </a:extLst>
          </p:cNvPr>
          <p:cNvSpPr>
            <a:spLocks xmlns:a="http://schemas.openxmlformats.org/drawingml/2006/main" noGrp="1"/>
          </p:cNvSpPr>
          <p:nvPr/>
        </p:nvSpPr>
        <p:spPr>
          <a:xfrm xmlns:a="http://schemas.openxmlformats.org/drawingml/2006/main">
            <a:off x="3048000" y="4010025"/>
            <a:ext cx="400050" cy="228600"/>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24AA254-EDB4-4E50-97F8-46C16CD65572}"/>
              </a:ext>
            </a:extLst>
          </p:cNvPr>
          <p:cNvSpPr>
            <a:spLocks xmlns:a="http://schemas.openxmlformats.org/drawingml/2006/main" noGrp="1"/>
          </p:cNvSpPr>
          <p:nvPr/>
        </p:nvSpPr>
        <p:spPr>
          <a:xfrm xmlns:a="http://schemas.openxmlformats.org/drawingml/2006/main">
            <a:off x="762000" y="5238750"/>
            <a:ext cx="10239375" cy="628650"/>
          </a:xfrm>
          <a:prstGeom xmlns:a="http://schemas.openxmlformats.org/drawingml/2006/main" prst="roundRect">
            <a:avLst>
              <a:gd name="adj" fmla="val 12121"/>
            </a:avLst>
          </a:prstGeom>
          <a:solidFill xmlns:a="http://schemas.openxmlformats.org/drawingml/2006/main">
            <a:srgbClr val="F4F7F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EA13E48-82EC-4A92-9217-04A8B02B4E9A}"/>
              </a:ext>
            </a:extLst>
          </p:cNvPr>
          <p:cNvSpPr>
            <a:spLocks xmlns:a="http://schemas.openxmlformats.org/drawingml/2006/main" noGrp="1"/>
          </p:cNvSpPr>
          <p:nvPr/>
        </p:nvSpPr>
        <p:spPr>
          <a:xfrm xmlns:a="http://schemas.openxmlformats.org/drawingml/2006/main">
            <a:off x="971550" y="5381625"/>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ストーリー：適用できる？ → 深度を評価できる？ → 3D化できる？ → 稲高と対応する？</a:t>
            </a:r>
          </a:p>
        </p:txBody>
      </p:sp>
    </p:spTree>
    <p:extLst>
      <p:ext uri="{BB962C8B-B14F-4D97-AF65-F5344CB8AC3E}">
        <p14:creationId xmlns:p14="http://schemas.microsoft.com/office/powerpoint/2010/main" val="12298930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5D0E9AB-C4AC-433A-BCBE-0B7895587D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0FE7E6-70E0-4D26-8B40-45F46C129878}"/>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KITTI：距離が伸びるほど誤差が拡大</a:t>
            </a:r>
          </a:p>
        </p:txBody>
      </p:sp>
      <p:sp>
        <p:nvSpPr>
          <p:cNvPr id="3" name="">
            <a:extLst xmlns:a="http://schemas.openxmlformats.org/drawingml/2006/main">
              <a:ext uri="{FF2B5EF4-FFF2-40B4-BE49-F238E27FC236}">
                <a16:creationId xmlns:a16="http://schemas.microsoft.com/office/drawing/2014/main" id="{52108FC2-D4AD-4EB4-A819-730D65B3628F}"/>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932B89-AEFD-4FC2-924F-FA3ED2D40CE0}"/>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5744F2-8617-4EEB-AC4E-EF045C076521}"/>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[2] KITTI benchmark; 50 images, pooled valid pixels.</a:t>
            </a:r>
          </a:p>
        </p:txBody>
      </p:sp>
      <p:sp>
        <p:nvSpPr>
          <p:cNvPr id="6" name="">
            <a:extLst xmlns:a="http://schemas.openxmlformats.org/drawingml/2006/main">
              <a:ext uri="{FF2B5EF4-FFF2-40B4-BE49-F238E27FC236}">
                <a16:creationId xmlns:a16="http://schemas.microsoft.com/office/drawing/2014/main" id="{B2286D97-3F31-4536-8FA2-5EC7DAFCB708}"/>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05</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82a1fdc30ce452c"/>
          <a:stretch xmlns:a="http://schemas.openxmlformats.org/drawingml/2006/main"/>
        </p:blipFill>
        <p:spPr>
          <a:xfrm xmlns:a="http://schemas.openxmlformats.org/drawingml/2006/main">
            <a:off x="738188" y="1257300"/>
            <a:ext cx="6781800" cy="169545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c28271057054f26"/>
          <a:stretch xmlns:a="http://schemas.openxmlformats.org/drawingml/2006/main"/>
        </p:blipFill>
        <p:spPr>
          <a:xfrm xmlns:a="http://schemas.openxmlformats.org/drawingml/2006/main">
            <a:off x="723900" y="3236119"/>
            <a:ext cx="6810375" cy="204311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0F6A797-BBDC-45A4-A7ED-17317FC28406}"/>
              </a:ext>
            </a:extLst>
          </p:cNvPr>
          <p:cNvSpPr>
            <a:spLocks xmlns:a="http://schemas.openxmlformats.org/drawingml/2006/main" noGrp="1"/>
          </p:cNvSpPr>
          <p:nvPr/>
        </p:nvSpPr>
        <p:spPr>
          <a:xfrm xmlns:a="http://schemas.openxmlformats.org/drawingml/2006/main">
            <a:off x="7924800" y="1276350"/>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42A43"/>
                </a:solidFill>
                <a:latin typeface="Yu Gothic"/>
                <a:ea typeface="Yu Gothic"/>
                <a:cs typeface="Yu Gothic"/>
              </a:defRPr>
            </a:pPr>
            <a:r>
              <a:rPr sz="1500" b="1">
                <a:solidFill>
                  <a:srgbClr val="142A43"/>
                </a:solidFill>
                <a:latin typeface="Yu Gothic"/>
                <a:ea typeface="Yu Gothic"/>
                <a:cs typeface="Yu Gothic"/>
              </a:rPr>
              <a:t>距離帯別 MAE (m)</a:t>
            </a:r>
          </a:p>
        </p:txBody>
      </p:sp>
      <p:sp>
        <p:nvSpPr>
          <p:cNvPr id="10" name="">
            <a:extLst xmlns:a="http://schemas.openxmlformats.org/drawingml/2006/main">
              <a:ext uri="{FF2B5EF4-FFF2-40B4-BE49-F238E27FC236}">
                <a16:creationId xmlns:a16="http://schemas.microsoft.com/office/drawing/2014/main" id="{82FD6004-718A-4EB7-8086-7015400C3DFA}"/>
              </a:ext>
            </a:extLst>
          </p:cNvPr>
          <p:cNvSpPr>
            <a:spLocks xmlns:a="http://schemas.openxmlformats.org/drawingml/2006/main" noGrp="1"/>
          </p:cNvSpPr>
          <p:nvPr/>
        </p:nvSpPr>
        <p:spPr>
          <a:xfrm xmlns:a="http://schemas.openxmlformats.org/drawingml/2006/main">
            <a:off x="7924800" y="17145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0–10 m</a:t>
            </a:r>
          </a:p>
        </p:txBody>
      </p:sp>
      <p:sp>
        <p:nvSpPr>
          <p:cNvPr id="11" name="">
            <a:extLst xmlns:a="http://schemas.openxmlformats.org/drawingml/2006/main">
              <a:ext uri="{FF2B5EF4-FFF2-40B4-BE49-F238E27FC236}">
                <a16:creationId xmlns:a16="http://schemas.microsoft.com/office/drawing/2014/main" id="{E694FA6D-6E29-4EDF-B94C-F5C9D6C51893}"/>
              </a:ext>
            </a:extLst>
          </p:cNvPr>
          <p:cNvSpPr>
            <a:spLocks xmlns:a="http://schemas.openxmlformats.org/drawingml/2006/main" noGrp="1"/>
          </p:cNvSpPr>
          <p:nvPr/>
        </p:nvSpPr>
        <p:spPr>
          <a:xfrm xmlns:a="http://schemas.openxmlformats.org/drawingml/2006/main">
            <a:off x="8810625" y="1743075"/>
            <a:ext cx="64543" cy="190500"/>
          </a:xfrm>
          <a:prstGeom xmlns:a="http://schemas.openxmlformats.org/drawingml/2006/main" prst="roundRect">
            <a:avLst>
              <a:gd name="adj" fmla="val 50000"/>
            </a:avLst>
          </a:prstGeom>
          <a:solidFill xmlns:a="http://schemas.openxmlformats.org/drawingml/2006/main">
            <a:srgbClr val="2D6F9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86FB19C-A2AC-4F03-BFBD-E23CAF22FF3A}"/>
              </a:ext>
            </a:extLst>
          </p:cNvPr>
          <p:cNvSpPr>
            <a:spLocks xmlns:a="http://schemas.openxmlformats.org/drawingml/2006/main" noGrp="1"/>
          </p:cNvSpPr>
          <p:nvPr/>
        </p:nvSpPr>
        <p:spPr>
          <a:xfrm xmlns:a="http://schemas.openxmlformats.org/drawingml/2006/main">
            <a:off x="10734675" y="17145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142A43"/>
                </a:solidFill>
                <a:latin typeface="Yu Gothic"/>
                <a:ea typeface="Yu Gothic"/>
                <a:cs typeface="Yu Gothic"/>
              </a:defRPr>
            </a:pPr>
            <a:r>
              <a:rPr sz="1350" b="1">
                <a:solidFill>
                  <a:srgbClr val="142A43"/>
                </a:solidFill>
                <a:latin typeface="Yu Gothic"/>
                <a:ea typeface="Yu Gothic"/>
                <a:cs typeface="Yu Gothic"/>
              </a:rPr>
              <a:t>0.70</a:t>
            </a:r>
          </a:p>
        </p:txBody>
      </p:sp>
      <p:sp>
        <p:nvSpPr>
          <p:cNvPr id="13" name="">
            <a:extLst xmlns:a="http://schemas.openxmlformats.org/drawingml/2006/main">
              <a:ext uri="{FF2B5EF4-FFF2-40B4-BE49-F238E27FC236}">
                <a16:creationId xmlns:a16="http://schemas.microsoft.com/office/drawing/2014/main" id="{C58F0438-C136-4172-A37B-8B2048A72708}"/>
              </a:ext>
            </a:extLst>
          </p:cNvPr>
          <p:cNvSpPr>
            <a:spLocks xmlns:a="http://schemas.openxmlformats.org/drawingml/2006/main" noGrp="1"/>
          </p:cNvSpPr>
          <p:nvPr/>
        </p:nvSpPr>
        <p:spPr>
          <a:xfrm xmlns:a="http://schemas.openxmlformats.org/drawingml/2006/main">
            <a:off x="7924800" y="21717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10–20 m</a:t>
            </a:r>
          </a:p>
        </p:txBody>
      </p:sp>
      <p:sp>
        <p:nvSpPr>
          <p:cNvPr id="14" name="">
            <a:extLst xmlns:a="http://schemas.openxmlformats.org/drawingml/2006/main">
              <a:ext uri="{FF2B5EF4-FFF2-40B4-BE49-F238E27FC236}">
                <a16:creationId xmlns:a16="http://schemas.microsoft.com/office/drawing/2014/main" id="{5EF34E00-46AE-4F74-8FDB-CDF1A3F634C1}"/>
              </a:ext>
            </a:extLst>
          </p:cNvPr>
          <p:cNvSpPr>
            <a:spLocks xmlns:a="http://schemas.openxmlformats.org/drawingml/2006/main" noGrp="1"/>
          </p:cNvSpPr>
          <p:nvPr/>
        </p:nvSpPr>
        <p:spPr>
          <a:xfrm xmlns:a="http://schemas.openxmlformats.org/drawingml/2006/main">
            <a:off x="8810625" y="2200275"/>
            <a:ext cx="165275" cy="190500"/>
          </a:xfrm>
          <a:prstGeom xmlns:a="http://schemas.openxmlformats.org/drawingml/2006/main" prst="roundRect">
            <a:avLst>
              <a:gd name="adj" fmla="val 46105"/>
            </a:avLst>
          </a:prstGeom>
          <a:solidFill xmlns:a="http://schemas.openxmlformats.org/drawingml/2006/main">
            <a:srgbClr val="2D6F9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644982-EC1F-40E2-8799-8CB5CC19919C}"/>
              </a:ext>
            </a:extLst>
          </p:cNvPr>
          <p:cNvSpPr>
            <a:spLocks xmlns:a="http://schemas.openxmlformats.org/drawingml/2006/main" noGrp="1"/>
          </p:cNvSpPr>
          <p:nvPr/>
        </p:nvSpPr>
        <p:spPr>
          <a:xfrm xmlns:a="http://schemas.openxmlformats.org/drawingml/2006/main">
            <a:off x="10734675" y="2171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142A43"/>
                </a:solidFill>
                <a:latin typeface="Yu Gothic"/>
                <a:ea typeface="Yu Gothic"/>
                <a:cs typeface="Yu Gothic"/>
              </a:defRPr>
            </a:pPr>
            <a:r>
              <a:rPr sz="1350" b="1">
                <a:solidFill>
                  <a:srgbClr val="142A43"/>
                </a:solidFill>
                <a:latin typeface="Yu Gothic"/>
                <a:ea typeface="Yu Gothic"/>
                <a:cs typeface="Yu Gothic"/>
              </a:rPr>
              <a:t>1.79</a:t>
            </a:r>
          </a:p>
        </p:txBody>
      </p:sp>
      <p:sp>
        <p:nvSpPr>
          <p:cNvPr id="16" name="">
            <a:extLst xmlns:a="http://schemas.openxmlformats.org/drawingml/2006/main">
              <a:ext uri="{FF2B5EF4-FFF2-40B4-BE49-F238E27FC236}">
                <a16:creationId xmlns:a16="http://schemas.microsoft.com/office/drawing/2014/main" id="{57156B27-F10F-48D0-BDC7-274839D343B7}"/>
              </a:ext>
            </a:extLst>
          </p:cNvPr>
          <p:cNvSpPr>
            <a:spLocks xmlns:a="http://schemas.openxmlformats.org/drawingml/2006/main" noGrp="1"/>
          </p:cNvSpPr>
          <p:nvPr/>
        </p:nvSpPr>
        <p:spPr>
          <a:xfrm xmlns:a="http://schemas.openxmlformats.org/drawingml/2006/main">
            <a:off x="7924800" y="26289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20–40 m</a:t>
            </a:r>
          </a:p>
        </p:txBody>
      </p:sp>
      <p:sp>
        <p:nvSpPr>
          <p:cNvPr id="17" name="">
            <a:extLst xmlns:a="http://schemas.openxmlformats.org/drawingml/2006/main">
              <a:ext uri="{FF2B5EF4-FFF2-40B4-BE49-F238E27FC236}">
                <a16:creationId xmlns:a16="http://schemas.microsoft.com/office/drawing/2014/main" id="{B4FF8723-DFE8-492E-A26C-D13BB9B9ADC8}"/>
              </a:ext>
            </a:extLst>
          </p:cNvPr>
          <p:cNvSpPr>
            <a:spLocks xmlns:a="http://schemas.openxmlformats.org/drawingml/2006/main" noGrp="1"/>
          </p:cNvSpPr>
          <p:nvPr/>
        </p:nvSpPr>
        <p:spPr>
          <a:xfrm xmlns:a="http://schemas.openxmlformats.org/drawingml/2006/main">
            <a:off x="8810625" y="2657475"/>
            <a:ext cx="442242" cy="190500"/>
          </a:xfrm>
          <a:prstGeom xmlns:a="http://schemas.openxmlformats.org/drawingml/2006/main" prst="roundRect">
            <a:avLst>
              <a:gd name="adj" fmla="val 40000"/>
            </a:avLst>
          </a:prstGeom>
          <a:solidFill xmlns:a="http://schemas.openxmlformats.org/drawingml/2006/main">
            <a:srgbClr val="2D6F9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8555254-B18B-4BDC-877E-408344D5EC77}"/>
              </a:ext>
            </a:extLst>
          </p:cNvPr>
          <p:cNvSpPr>
            <a:spLocks xmlns:a="http://schemas.openxmlformats.org/drawingml/2006/main" noGrp="1"/>
          </p:cNvSpPr>
          <p:nvPr/>
        </p:nvSpPr>
        <p:spPr>
          <a:xfrm xmlns:a="http://schemas.openxmlformats.org/drawingml/2006/main">
            <a:off x="10734675" y="26289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142A43"/>
                </a:solidFill>
                <a:latin typeface="Yu Gothic"/>
                <a:ea typeface="Yu Gothic"/>
                <a:cs typeface="Yu Gothic"/>
              </a:defRPr>
            </a:pPr>
            <a:r>
              <a:rPr sz="1350" b="1">
                <a:solidFill>
                  <a:srgbClr val="142A43"/>
                </a:solidFill>
                <a:latin typeface="Yu Gothic"/>
                <a:ea typeface="Yu Gothic"/>
                <a:cs typeface="Yu Gothic"/>
              </a:rPr>
              <a:t>4.80</a:t>
            </a:r>
          </a:p>
        </p:txBody>
      </p:sp>
      <p:sp>
        <p:nvSpPr>
          <p:cNvPr id="19" name="">
            <a:extLst xmlns:a="http://schemas.openxmlformats.org/drawingml/2006/main">
              <a:ext uri="{FF2B5EF4-FFF2-40B4-BE49-F238E27FC236}">
                <a16:creationId xmlns:a16="http://schemas.microsoft.com/office/drawing/2014/main" id="{34941028-D566-4836-93EE-DDFFE3D43773}"/>
              </a:ext>
            </a:extLst>
          </p:cNvPr>
          <p:cNvSpPr>
            <a:spLocks xmlns:a="http://schemas.openxmlformats.org/drawingml/2006/main" noGrp="1"/>
          </p:cNvSpPr>
          <p:nvPr/>
        </p:nvSpPr>
        <p:spPr>
          <a:xfrm xmlns:a="http://schemas.openxmlformats.org/drawingml/2006/main">
            <a:off x="7924800" y="30861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40–60 m</a:t>
            </a:r>
          </a:p>
        </p:txBody>
      </p:sp>
      <p:sp>
        <p:nvSpPr>
          <p:cNvPr id="20" name="">
            <a:extLst xmlns:a="http://schemas.openxmlformats.org/drawingml/2006/main">
              <a:ext uri="{FF2B5EF4-FFF2-40B4-BE49-F238E27FC236}">
                <a16:creationId xmlns:a16="http://schemas.microsoft.com/office/drawing/2014/main" id="{2150656A-C119-42F5-9AB8-44454AA9F64F}"/>
              </a:ext>
            </a:extLst>
          </p:cNvPr>
          <p:cNvSpPr>
            <a:spLocks xmlns:a="http://schemas.openxmlformats.org/drawingml/2006/main" noGrp="1"/>
          </p:cNvSpPr>
          <p:nvPr/>
        </p:nvSpPr>
        <p:spPr>
          <a:xfrm xmlns:a="http://schemas.openxmlformats.org/drawingml/2006/main">
            <a:off x="8810625" y="3114675"/>
            <a:ext cx="1263888" cy="190500"/>
          </a:xfrm>
          <a:prstGeom xmlns:a="http://schemas.openxmlformats.org/drawingml/2006/main" prst="roundRect">
            <a:avLst>
              <a:gd name="adj" fmla="val 40000"/>
            </a:avLst>
          </a:prstGeom>
          <a:solidFill xmlns:a="http://schemas.openxmlformats.org/drawingml/2006/main">
            <a:srgbClr val="2D6F9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AAACD27-93B6-4478-B44B-59226CBCB9FC}"/>
              </a:ext>
            </a:extLst>
          </p:cNvPr>
          <p:cNvSpPr>
            <a:spLocks xmlns:a="http://schemas.openxmlformats.org/drawingml/2006/main" noGrp="1"/>
          </p:cNvSpPr>
          <p:nvPr/>
        </p:nvSpPr>
        <p:spPr>
          <a:xfrm xmlns:a="http://schemas.openxmlformats.org/drawingml/2006/main">
            <a:off x="10734675" y="30861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142A43"/>
                </a:solidFill>
                <a:latin typeface="Yu Gothic"/>
                <a:ea typeface="Yu Gothic"/>
                <a:cs typeface="Yu Gothic"/>
              </a:defRPr>
            </a:pPr>
            <a:r>
              <a:rPr sz="1350" b="1">
                <a:solidFill>
                  <a:srgbClr val="142A43"/>
                </a:solidFill>
                <a:latin typeface="Yu Gothic"/>
                <a:ea typeface="Yu Gothic"/>
                <a:cs typeface="Yu Gothic"/>
              </a:rPr>
              <a:t>13.71</a:t>
            </a:r>
          </a:p>
        </p:txBody>
      </p:sp>
      <p:sp>
        <p:nvSpPr>
          <p:cNvPr id="22" name="">
            <a:extLst xmlns:a="http://schemas.openxmlformats.org/drawingml/2006/main">
              <a:ext uri="{FF2B5EF4-FFF2-40B4-BE49-F238E27FC236}">
                <a16:creationId xmlns:a16="http://schemas.microsoft.com/office/drawing/2014/main" id="{82435EE2-3C48-456A-BDFD-06A1758ADD09}"/>
              </a:ext>
            </a:extLst>
          </p:cNvPr>
          <p:cNvSpPr>
            <a:spLocks xmlns:a="http://schemas.openxmlformats.org/drawingml/2006/main" noGrp="1"/>
          </p:cNvSpPr>
          <p:nvPr/>
        </p:nvSpPr>
        <p:spPr>
          <a:xfrm xmlns:a="http://schemas.openxmlformats.org/drawingml/2006/main">
            <a:off x="7924800" y="35433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60–80 m</a:t>
            </a:r>
          </a:p>
        </p:txBody>
      </p:sp>
      <p:sp>
        <p:nvSpPr>
          <p:cNvPr id="23" name="">
            <a:extLst xmlns:a="http://schemas.openxmlformats.org/drawingml/2006/main">
              <a:ext uri="{FF2B5EF4-FFF2-40B4-BE49-F238E27FC236}">
                <a16:creationId xmlns:a16="http://schemas.microsoft.com/office/drawing/2014/main" id="{B5EC0D83-532A-45A4-A0C9-67EC51166A6E}"/>
              </a:ext>
            </a:extLst>
          </p:cNvPr>
          <p:cNvSpPr>
            <a:spLocks xmlns:a="http://schemas.openxmlformats.org/drawingml/2006/main" noGrp="1"/>
          </p:cNvSpPr>
          <p:nvPr/>
        </p:nvSpPr>
        <p:spPr>
          <a:xfrm xmlns:a="http://schemas.openxmlformats.org/drawingml/2006/main">
            <a:off x="8810625" y="3571875"/>
            <a:ext cx="1857375" cy="190500"/>
          </a:xfrm>
          <a:prstGeom xmlns:a="http://schemas.openxmlformats.org/drawingml/2006/main" prst="roundRect">
            <a:avLst>
              <a:gd name="adj" fmla="val 40000"/>
            </a:avLst>
          </a:prstGeom>
          <a:solidFill xmlns:a="http://schemas.openxmlformats.org/drawingml/2006/main">
            <a:srgbClr val="D988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93FB63C-0A50-4227-BD43-86EBB91D4A9C}"/>
              </a:ext>
            </a:extLst>
          </p:cNvPr>
          <p:cNvSpPr>
            <a:spLocks xmlns:a="http://schemas.openxmlformats.org/drawingml/2006/main" noGrp="1"/>
          </p:cNvSpPr>
          <p:nvPr/>
        </p:nvSpPr>
        <p:spPr>
          <a:xfrm xmlns:a="http://schemas.openxmlformats.org/drawingml/2006/main">
            <a:off x="10734675" y="35433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D98839"/>
                </a:solidFill>
                <a:latin typeface="Yu Gothic"/>
                <a:ea typeface="Yu Gothic"/>
                <a:cs typeface="Yu Gothic"/>
              </a:defRPr>
            </a:pPr>
            <a:r>
              <a:rPr sz="1350" b="1">
                <a:solidFill>
                  <a:srgbClr val="D98839"/>
                </a:solidFill>
                <a:latin typeface="Yu Gothic"/>
                <a:ea typeface="Yu Gothic"/>
                <a:cs typeface="Yu Gothic"/>
              </a:rPr>
              <a:t>20.15</a:t>
            </a:r>
          </a:p>
        </p:txBody>
      </p:sp>
      <p:sp>
        <p:nvSpPr>
          <p:cNvPr id="25" name="">
            <a:extLst xmlns:a="http://schemas.openxmlformats.org/drawingml/2006/main">
              <a:ext uri="{FF2B5EF4-FFF2-40B4-BE49-F238E27FC236}">
                <a16:creationId xmlns:a16="http://schemas.microsoft.com/office/drawing/2014/main" id="{765CC55E-2FE8-4E19-834D-0F1B06463F8C}"/>
              </a:ext>
            </a:extLst>
          </p:cNvPr>
          <p:cNvSpPr>
            <a:spLocks xmlns:a="http://schemas.openxmlformats.org/drawingml/2006/main" noGrp="1"/>
          </p:cNvSpPr>
          <p:nvPr/>
        </p:nvSpPr>
        <p:spPr>
          <a:xfrm xmlns:a="http://schemas.openxmlformats.org/drawingml/2006/main">
            <a:off x="7905750" y="4238625"/>
            <a:ext cx="1095375" cy="1028700"/>
          </a:xfrm>
          <a:prstGeom xmlns:a="http://schemas.openxmlformats.org/drawingml/2006/main" prst="roundRect">
            <a:avLst>
              <a:gd name="adj" fmla="val 7407"/>
            </a:avLst>
          </a:prstGeom>
          <a:solidFill xmlns:a="http://schemas.openxmlformats.org/drawingml/2006/main">
            <a:srgbClr val="F4F7F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C0AD866-117D-445D-830F-A016F7F6B976}"/>
              </a:ext>
            </a:extLst>
          </p:cNvPr>
          <p:cNvSpPr>
            <a:spLocks xmlns:a="http://schemas.openxmlformats.org/drawingml/2006/main" noGrp="1"/>
          </p:cNvSpPr>
          <p:nvPr/>
        </p:nvSpPr>
        <p:spPr>
          <a:xfrm xmlns:a="http://schemas.openxmlformats.org/drawingml/2006/main">
            <a:off x="8020050" y="42957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MAE</a:t>
            </a:r>
          </a:p>
        </p:txBody>
      </p:sp>
      <p:sp>
        <p:nvSpPr>
          <p:cNvPr id="27" name="">
            <a:extLst xmlns:a="http://schemas.openxmlformats.org/drawingml/2006/main">
              <a:ext uri="{FF2B5EF4-FFF2-40B4-BE49-F238E27FC236}">
                <a16:creationId xmlns:a16="http://schemas.microsoft.com/office/drawing/2014/main" id="{A84A1485-5AB7-44E1-8092-90EF25C0A072}"/>
              </a:ext>
            </a:extLst>
          </p:cNvPr>
          <p:cNvSpPr>
            <a:spLocks xmlns:a="http://schemas.openxmlformats.org/drawingml/2006/main" noGrp="1"/>
          </p:cNvSpPr>
          <p:nvPr/>
        </p:nvSpPr>
        <p:spPr>
          <a:xfrm xmlns:a="http://schemas.openxmlformats.org/drawingml/2006/main">
            <a:off x="8020050" y="4514850"/>
            <a:ext cx="866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2.592</a:t>
            </a:r>
          </a:p>
        </p:txBody>
      </p:sp>
      <p:sp>
        <p:nvSpPr>
          <p:cNvPr id="28" name="">
            <a:extLst xmlns:a="http://schemas.openxmlformats.org/drawingml/2006/main">
              <a:ext uri="{FF2B5EF4-FFF2-40B4-BE49-F238E27FC236}">
                <a16:creationId xmlns:a16="http://schemas.microsoft.com/office/drawing/2014/main" id="{711DF6B2-8254-4754-A036-DEEC58BA816C}"/>
              </a:ext>
            </a:extLst>
          </p:cNvPr>
          <p:cNvSpPr>
            <a:spLocks xmlns:a="http://schemas.openxmlformats.org/drawingml/2006/main" noGrp="1"/>
          </p:cNvSpPr>
          <p:nvPr/>
        </p:nvSpPr>
        <p:spPr>
          <a:xfrm xmlns:a="http://schemas.openxmlformats.org/drawingml/2006/main">
            <a:off x="8020050" y="5086350"/>
            <a:ext cx="8667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29" name="">
            <a:extLst xmlns:a="http://schemas.openxmlformats.org/drawingml/2006/main">
              <a:ext uri="{FF2B5EF4-FFF2-40B4-BE49-F238E27FC236}">
                <a16:creationId xmlns:a16="http://schemas.microsoft.com/office/drawing/2014/main" id="{1D8ECE7D-B918-45BB-AEAA-884826D8D54A}"/>
              </a:ext>
            </a:extLst>
          </p:cNvPr>
          <p:cNvSpPr>
            <a:spLocks xmlns:a="http://schemas.openxmlformats.org/drawingml/2006/main" noGrp="1"/>
          </p:cNvSpPr>
          <p:nvPr/>
        </p:nvSpPr>
        <p:spPr>
          <a:xfrm xmlns:a="http://schemas.openxmlformats.org/drawingml/2006/main">
            <a:off x="9115425" y="4238625"/>
            <a:ext cx="1095375" cy="1028700"/>
          </a:xfrm>
          <a:prstGeom xmlns:a="http://schemas.openxmlformats.org/drawingml/2006/main" prst="roundRect">
            <a:avLst>
              <a:gd name="adj" fmla="val 7407"/>
            </a:avLst>
          </a:prstGeom>
          <a:solidFill xmlns:a="http://schemas.openxmlformats.org/drawingml/2006/main">
            <a:srgbClr val="F4F7F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2083F9F-12B7-46E9-AF13-AE2AB32C7430}"/>
              </a:ext>
            </a:extLst>
          </p:cNvPr>
          <p:cNvSpPr>
            <a:spLocks xmlns:a="http://schemas.openxmlformats.org/drawingml/2006/main" noGrp="1"/>
          </p:cNvSpPr>
          <p:nvPr/>
        </p:nvSpPr>
        <p:spPr>
          <a:xfrm xmlns:a="http://schemas.openxmlformats.org/drawingml/2006/main">
            <a:off x="9229725" y="42957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RMSE</a:t>
            </a:r>
          </a:p>
        </p:txBody>
      </p:sp>
      <p:sp>
        <p:nvSpPr>
          <p:cNvPr id="31" name="">
            <a:extLst xmlns:a="http://schemas.openxmlformats.org/drawingml/2006/main">
              <a:ext uri="{FF2B5EF4-FFF2-40B4-BE49-F238E27FC236}">
                <a16:creationId xmlns:a16="http://schemas.microsoft.com/office/drawing/2014/main" id="{FD5CD5B4-61E6-4800-B3B7-41ECDE621414}"/>
              </a:ext>
            </a:extLst>
          </p:cNvPr>
          <p:cNvSpPr>
            <a:spLocks xmlns:a="http://schemas.openxmlformats.org/drawingml/2006/main" noGrp="1"/>
          </p:cNvSpPr>
          <p:nvPr/>
        </p:nvSpPr>
        <p:spPr>
          <a:xfrm xmlns:a="http://schemas.openxmlformats.org/drawingml/2006/main">
            <a:off x="9229725" y="4514850"/>
            <a:ext cx="866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5.469</a:t>
            </a:r>
          </a:p>
        </p:txBody>
      </p:sp>
      <p:sp>
        <p:nvSpPr>
          <p:cNvPr id="32" name="">
            <a:extLst xmlns:a="http://schemas.openxmlformats.org/drawingml/2006/main">
              <a:ext uri="{FF2B5EF4-FFF2-40B4-BE49-F238E27FC236}">
                <a16:creationId xmlns:a16="http://schemas.microsoft.com/office/drawing/2014/main" id="{5CFA9536-A9B6-4B62-BE43-0B7B9419C464}"/>
              </a:ext>
            </a:extLst>
          </p:cNvPr>
          <p:cNvSpPr>
            <a:spLocks xmlns:a="http://schemas.openxmlformats.org/drawingml/2006/main" noGrp="1"/>
          </p:cNvSpPr>
          <p:nvPr/>
        </p:nvSpPr>
        <p:spPr>
          <a:xfrm xmlns:a="http://schemas.openxmlformats.org/drawingml/2006/main">
            <a:off x="9229725" y="5086350"/>
            <a:ext cx="8667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33" name="">
            <a:extLst xmlns:a="http://schemas.openxmlformats.org/drawingml/2006/main">
              <a:ext uri="{FF2B5EF4-FFF2-40B4-BE49-F238E27FC236}">
                <a16:creationId xmlns:a16="http://schemas.microsoft.com/office/drawing/2014/main" id="{6E11415F-579F-419A-83CA-62DDD47076DB}"/>
              </a:ext>
            </a:extLst>
          </p:cNvPr>
          <p:cNvSpPr>
            <a:spLocks xmlns:a="http://schemas.openxmlformats.org/drawingml/2006/main" noGrp="1"/>
          </p:cNvSpPr>
          <p:nvPr/>
        </p:nvSpPr>
        <p:spPr>
          <a:xfrm xmlns:a="http://schemas.openxmlformats.org/drawingml/2006/main">
            <a:off x="10325100" y="4238625"/>
            <a:ext cx="1095375" cy="1028700"/>
          </a:xfrm>
          <a:prstGeom xmlns:a="http://schemas.openxmlformats.org/drawingml/2006/main" prst="roundRect">
            <a:avLst>
              <a:gd name="adj" fmla="val 7407"/>
            </a:avLst>
          </a:prstGeom>
          <a:solidFill xmlns:a="http://schemas.openxmlformats.org/drawingml/2006/main">
            <a:srgbClr val="F4F7F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F98163-C2DF-441B-B438-72B4D564C81A}"/>
              </a:ext>
            </a:extLst>
          </p:cNvPr>
          <p:cNvSpPr>
            <a:spLocks xmlns:a="http://schemas.openxmlformats.org/drawingml/2006/main" noGrp="1"/>
          </p:cNvSpPr>
          <p:nvPr/>
        </p:nvSpPr>
        <p:spPr>
          <a:xfrm xmlns:a="http://schemas.openxmlformats.org/drawingml/2006/main">
            <a:off x="10439400" y="42957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AbsRel</a:t>
            </a:r>
          </a:p>
        </p:txBody>
      </p:sp>
      <p:sp>
        <p:nvSpPr>
          <p:cNvPr id="35" name="">
            <a:extLst xmlns:a="http://schemas.openxmlformats.org/drawingml/2006/main">
              <a:ext uri="{FF2B5EF4-FFF2-40B4-BE49-F238E27FC236}">
                <a16:creationId xmlns:a16="http://schemas.microsoft.com/office/drawing/2014/main" id="{8AA0FF68-33FD-4D59-AA08-EC4691EA9F31}"/>
              </a:ext>
            </a:extLst>
          </p:cNvPr>
          <p:cNvSpPr>
            <a:spLocks xmlns:a="http://schemas.openxmlformats.org/drawingml/2006/main" noGrp="1"/>
          </p:cNvSpPr>
          <p:nvPr/>
        </p:nvSpPr>
        <p:spPr>
          <a:xfrm xmlns:a="http://schemas.openxmlformats.org/drawingml/2006/main">
            <a:off x="10439400" y="4514850"/>
            <a:ext cx="866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0.128</a:t>
            </a:r>
          </a:p>
        </p:txBody>
      </p:sp>
      <p:sp>
        <p:nvSpPr>
          <p:cNvPr id="36" name="">
            <a:extLst xmlns:a="http://schemas.openxmlformats.org/drawingml/2006/main">
              <a:ext uri="{FF2B5EF4-FFF2-40B4-BE49-F238E27FC236}">
                <a16:creationId xmlns:a16="http://schemas.microsoft.com/office/drawing/2014/main" id="{3FDB0932-937F-460D-9F9B-C35BBBFAADB9}"/>
              </a:ext>
            </a:extLst>
          </p:cNvPr>
          <p:cNvSpPr>
            <a:spLocks xmlns:a="http://schemas.openxmlformats.org/drawingml/2006/main" noGrp="1"/>
          </p:cNvSpPr>
          <p:nvPr/>
        </p:nvSpPr>
        <p:spPr>
          <a:xfrm xmlns:a="http://schemas.openxmlformats.org/drawingml/2006/main">
            <a:off x="7915275" y="5448300"/>
            <a:ext cx="3505200" cy="533400"/>
          </a:xfrm>
          <a:prstGeom xmlns:a="http://schemas.openxmlformats.org/drawingml/2006/main" prst="roundRect">
            <a:avLst>
              <a:gd name="adj" fmla="val 14286"/>
            </a:avLst>
          </a:prstGeom>
          <a:solidFill xmlns:a="http://schemas.openxmlformats.org/drawingml/2006/main">
            <a:srgbClr val="F8EBD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B25E617-DE50-4E2B-9135-1C1D68C9E407}"/>
              </a:ext>
            </a:extLst>
          </p:cNvPr>
          <p:cNvSpPr>
            <a:spLocks xmlns:a="http://schemas.openxmlformats.org/drawingml/2006/main" noGrp="1"/>
          </p:cNvSpPr>
          <p:nvPr/>
        </p:nvSpPr>
        <p:spPr>
          <a:xfrm xmlns:a="http://schemas.openxmlformats.org/drawingml/2006/main">
            <a:off x="8096250" y="5553075"/>
            <a:ext cx="3152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B54747"/>
                </a:solidFill>
                <a:latin typeface="Yu Gothic"/>
                <a:ea typeface="Yu Gothic"/>
                <a:cs typeface="Yu Gothic"/>
              </a:defRPr>
            </a:pPr>
            <a:r>
              <a:rPr sz="1425" b="1">
                <a:solidFill>
                  <a:srgbClr val="B54747"/>
                </a:solidFill>
                <a:latin typeface="Yu Gothic"/>
                <a:ea typeface="Yu Gothic"/>
                <a:cs typeface="Yu Gothic"/>
              </a:rPr>
              <a:t>50画像：遠距離帯で誤差が大きく増加</a:t>
            </a:r>
          </a:p>
        </p:txBody>
      </p:sp>
    </p:spTree>
    <p:extLst>
      <p:ext uri="{BB962C8B-B14F-4D97-AF65-F5344CB8AC3E}">
        <p14:creationId xmlns:p14="http://schemas.microsoft.com/office/powerpoint/2010/main" val="10995683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88BF3BB-73DC-49B4-8262-7BF4FE195E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03928C-02CA-4BA8-B437-90DF16BC4D1F}"/>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ETH3D：深度から点群を再構成</a:t>
            </a:r>
          </a:p>
        </p:txBody>
      </p:sp>
      <p:sp>
        <p:nvSpPr>
          <p:cNvPr id="3" name="">
            <a:extLst xmlns:a="http://schemas.openxmlformats.org/drawingml/2006/main">
              <a:ext uri="{FF2B5EF4-FFF2-40B4-BE49-F238E27FC236}">
                <a16:creationId xmlns:a16="http://schemas.microsoft.com/office/drawing/2014/main" id="{13A68E21-147F-49DB-9561-3C719C35F7E5}"/>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A6DC1B-7AE5-48DB-89EF-D7BB4A389B53}"/>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42D989-C826-4DE3-A46B-496FB7B8233B}"/>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[3] ETH3D; one indoor image for this preliminary pipeline check.</a:t>
            </a:r>
          </a:p>
        </p:txBody>
      </p:sp>
      <p:sp>
        <p:nvSpPr>
          <p:cNvPr id="6" name="">
            <a:extLst xmlns:a="http://schemas.openxmlformats.org/drawingml/2006/main">
              <a:ext uri="{FF2B5EF4-FFF2-40B4-BE49-F238E27FC236}">
                <a16:creationId xmlns:a16="http://schemas.microsoft.com/office/drawing/2014/main" id="{9A86D99C-585E-4686-8B10-F8273210AAA9}"/>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06</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5e9d93e49224be7"/>
          <a:stretch xmlns:a="http://schemas.openxmlformats.org/drawingml/2006/main"/>
        </p:blipFill>
        <p:spPr>
          <a:xfrm xmlns:a="http://schemas.openxmlformats.org/drawingml/2006/main">
            <a:off x="685800" y="1314450"/>
            <a:ext cx="7239000" cy="1809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6E3FEB8-0D8A-49D4-9964-03245884DA8A}"/>
              </a:ext>
            </a:extLst>
          </p:cNvPr>
          <p:cNvSpPr>
            <a:spLocks xmlns:a="http://schemas.openxmlformats.org/drawingml/2006/main" noGrp="1"/>
          </p:cNvSpPr>
          <p:nvPr/>
        </p:nvSpPr>
        <p:spPr>
          <a:xfrm xmlns:a="http://schemas.openxmlformats.org/drawingml/2006/main">
            <a:off x="904875" y="3314700"/>
            <a:ext cx="652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RGB + Depth + Camera Intrinsics</a:t>
            </a:r>
          </a:p>
        </p:txBody>
      </p:sp>
      <p:sp>
        <p:nvSpPr>
          <p:cNvPr id="9" name="">
            <a:extLst xmlns:a="http://schemas.openxmlformats.org/drawingml/2006/main">
              <a:ext uri="{FF2B5EF4-FFF2-40B4-BE49-F238E27FC236}">
                <a16:creationId xmlns:a16="http://schemas.microsoft.com/office/drawing/2014/main" id="{1C9D15F2-F60B-4A06-8892-2B731952FDCC}"/>
              </a:ext>
            </a:extLst>
          </p:cNvPr>
          <p:cNvSpPr>
            <a:spLocks xmlns:a="http://schemas.openxmlformats.org/drawingml/2006/main" noGrp="1"/>
          </p:cNvSpPr>
          <p:nvPr/>
        </p:nvSpPr>
        <p:spPr>
          <a:xfrm xmlns:a="http://schemas.openxmlformats.org/drawingml/2006/main">
            <a:off x="8334375" y="1428750"/>
            <a:ext cx="2952750" cy="762000"/>
          </a:xfrm>
          <a:prstGeom xmlns:a="http://schemas.openxmlformats.org/drawingml/2006/main" prst="roundRect">
            <a:avLst>
              <a:gd name="adj" fmla="val 10000"/>
            </a:avLst>
          </a:prstGeom>
          <a:solidFill xmlns:a="http://schemas.openxmlformats.org/drawingml/2006/main">
            <a:srgbClr val="DCEAF4"/>
          </a:solidFill>
          <a:ln xmlns:a="http://schemas.openxmlformats.org/drawingml/2006/main" w="9525">
            <a:solidFill>
              <a:srgbClr val="D9E1E7"/>
            </a:solidFill>
            <a:prstDash val="solid"/>
          </a:ln>
        </p:spPr>
      </p:sp>
      <p:sp>
        <p:nvSpPr>
          <p:cNvPr id="10" name="">
            <a:extLst xmlns:a="http://schemas.openxmlformats.org/drawingml/2006/main">
              <a:ext uri="{FF2B5EF4-FFF2-40B4-BE49-F238E27FC236}">
                <a16:creationId xmlns:a16="http://schemas.microsoft.com/office/drawing/2014/main" id="{DAE92CFB-9EE1-4882-8D36-3B0F84BF9EC5}"/>
              </a:ext>
            </a:extLst>
          </p:cNvPr>
          <p:cNvSpPr>
            <a:spLocks xmlns:a="http://schemas.openxmlformats.org/drawingml/2006/main" noGrp="1"/>
          </p:cNvSpPr>
          <p:nvPr/>
        </p:nvSpPr>
        <p:spPr>
          <a:xfrm xmlns:a="http://schemas.openxmlformats.org/drawingml/2006/main">
            <a:off x="8334375" y="1428750"/>
            <a:ext cx="66675" cy="76200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0F3396-94C6-45C8-B18F-EE02E773C71A}"/>
              </a:ext>
            </a:extLst>
          </p:cNvPr>
          <p:cNvSpPr>
            <a:spLocks xmlns:a="http://schemas.openxmlformats.org/drawingml/2006/main" noGrp="1"/>
          </p:cNvSpPr>
          <p:nvPr/>
        </p:nvSpPr>
        <p:spPr>
          <a:xfrm xmlns:a="http://schemas.openxmlformats.org/drawingml/2006/main">
            <a:off x="8496300" y="15240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RGB画像</a:t>
            </a:r>
          </a:p>
        </p:txBody>
      </p:sp>
      <p:sp>
        <p:nvSpPr>
          <p:cNvPr id="12" name="">
            <a:extLst xmlns:a="http://schemas.openxmlformats.org/drawingml/2006/main">
              <a:ext uri="{FF2B5EF4-FFF2-40B4-BE49-F238E27FC236}">
                <a16:creationId xmlns:a16="http://schemas.microsoft.com/office/drawing/2014/main" id="{4D3085CF-9134-4F23-84A5-067D8ED46BAF}"/>
              </a:ext>
            </a:extLst>
          </p:cNvPr>
          <p:cNvSpPr>
            <a:spLocks xmlns:a="http://schemas.openxmlformats.org/drawingml/2006/main" noGrp="1"/>
          </p:cNvSpPr>
          <p:nvPr/>
        </p:nvSpPr>
        <p:spPr>
          <a:xfrm xmlns:a="http://schemas.openxmlformats.org/drawingml/2006/main">
            <a:off x="8496300" y="184785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rectified camera view</a:t>
            </a:r>
          </a:p>
        </p:txBody>
      </p:sp>
      <p:sp>
        <p:nvSpPr>
          <p:cNvPr id="13" name="">
            <a:extLst xmlns:a="http://schemas.openxmlformats.org/drawingml/2006/main">
              <a:ext uri="{FF2B5EF4-FFF2-40B4-BE49-F238E27FC236}">
                <a16:creationId xmlns:a16="http://schemas.microsoft.com/office/drawing/2014/main" id="{7F081D75-63BC-4B82-85E1-999B37C73A08}"/>
              </a:ext>
            </a:extLst>
          </p:cNvPr>
          <p:cNvSpPr>
            <a:spLocks xmlns:a="http://schemas.openxmlformats.org/drawingml/2006/main" noGrp="1"/>
          </p:cNvSpPr>
          <p:nvPr/>
        </p:nvSpPr>
        <p:spPr>
          <a:xfrm xmlns:a="http://schemas.openxmlformats.org/drawingml/2006/main">
            <a:off x="9601200" y="2257425"/>
            <a:ext cx="457200" cy="23812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B891B2-5A64-4C2B-B4F3-23B11F8F58E2}"/>
              </a:ext>
            </a:extLst>
          </p:cNvPr>
          <p:cNvSpPr>
            <a:spLocks xmlns:a="http://schemas.openxmlformats.org/drawingml/2006/main" noGrp="1"/>
          </p:cNvSpPr>
          <p:nvPr/>
        </p:nvSpPr>
        <p:spPr>
          <a:xfrm xmlns:a="http://schemas.openxmlformats.org/drawingml/2006/main">
            <a:off x="8334375" y="2609850"/>
            <a:ext cx="2952750" cy="762000"/>
          </a:xfrm>
          <a:prstGeom xmlns:a="http://schemas.openxmlformats.org/drawingml/2006/main" prst="roundRect">
            <a:avLst>
              <a:gd name="adj" fmla="val 10000"/>
            </a:avLst>
          </a:prstGeom>
          <a:solidFill xmlns:a="http://schemas.openxmlformats.org/drawingml/2006/main">
            <a:srgbClr val="E3F3F1"/>
          </a:solidFill>
          <a:ln xmlns:a="http://schemas.openxmlformats.org/drawingml/2006/main" w="9525">
            <a:solidFill>
              <a:srgbClr val="D9E1E7"/>
            </a:solidFill>
            <a:prstDash val="solid"/>
          </a:ln>
        </p:spPr>
      </p:sp>
      <p:sp>
        <p:nvSpPr>
          <p:cNvPr id="15" name="">
            <a:extLst xmlns:a="http://schemas.openxmlformats.org/drawingml/2006/main">
              <a:ext uri="{FF2B5EF4-FFF2-40B4-BE49-F238E27FC236}">
                <a16:creationId xmlns:a16="http://schemas.microsoft.com/office/drawing/2014/main" id="{F9639C56-E5E2-42EF-85FE-50DB4D13EAA6}"/>
              </a:ext>
            </a:extLst>
          </p:cNvPr>
          <p:cNvSpPr>
            <a:spLocks xmlns:a="http://schemas.openxmlformats.org/drawingml/2006/main" noGrp="1"/>
          </p:cNvSpPr>
          <p:nvPr/>
        </p:nvSpPr>
        <p:spPr>
          <a:xfrm xmlns:a="http://schemas.openxmlformats.org/drawingml/2006/main">
            <a:off x="8334375" y="2609850"/>
            <a:ext cx="66675" cy="76200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832436-E21C-42DC-ABEB-1DDCCB1DFBC6}"/>
              </a:ext>
            </a:extLst>
          </p:cNvPr>
          <p:cNvSpPr>
            <a:spLocks xmlns:a="http://schemas.openxmlformats.org/drawingml/2006/main" noGrp="1"/>
          </p:cNvSpPr>
          <p:nvPr/>
        </p:nvSpPr>
        <p:spPr>
          <a:xfrm xmlns:a="http://schemas.openxmlformats.org/drawingml/2006/main">
            <a:off x="8496300" y="27051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Depth × Intrinsics</a:t>
            </a:r>
          </a:p>
        </p:txBody>
      </p:sp>
      <p:sp>
        <p:nvSpPr>
          <p:cNvPr id="17" name="">
            <a:extLst xmlns:a="http://schemas.openxmlformats.org/drawingml/2006/main">
              <a:ext uri="{FF2B5EF4-FFF2-40B4-BE49-F238E27FC236}">
                <a16:creationId xmlns:a16="http://schemas.microsoft.com/office/drawing/2014/main" id="{6B2FC31A-CE9C-4C53-819D-EAF6425D1E77}"/>
              </a:ext>
            </a:extLst>
          </p:cNvPr>
          <p:cNvSpPr>
            <a:spLocks xmlns:a="http://schemas.openxmlformats.org/drawingml/2006/main" noGrp="1"/>
          </p:cNvSpPr>
          <p:nvPr/>
        </p:nvSpPr>
        <p:spPr>
          <a:xfrm xmlns:a="http://schemas.openxmlformats.org/drawingml/2006/main">
            <a:off x="8496300" y="302895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各pixelをXYZへ逆投影</a:t>
            </a:r>
          </a:p>
        </p:txBody>
      </p:sp>
      <p:sp>
        <p:nvSpPr>
          <p:cNvPr id="18" name="">
            <a:extLst xmlns:a="http://schemas.openxmlformats.org/drawingml/2006/main">
              <a:ext uri="{FF2B5EF4-FFF2-40B4-BE49-F238E27FC236}">
                <a16:creationId xmlns:a16="http://schemas.microsoft.com/office/drawing/2014/main" id="{586B9DBF-D85D-4010-ADAD-9DE579B784FA}"/>
              </a:ext>
            </a:extLst>
          </p:cNvPr>
          <p:cNvSpPr>
            <a:spLocks xmlns:a="http://schemas.openxmlformats.org/drawingml/2006/main" noGrp="1"/>
          </p:cNvSpPr>
          <p:nvPr/>
        </p:nvSpPr>
        <p:spPr>
          <a:xfrm xmlns:a="http://schemas.openxmlformats.org/drawingml/2006/main">
            <a:off x="9601200" y="3438525"/>
            <a:ext cx="457200" cy="23812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9198F37-2750-47E7-BBA9-471E8071DAA3}"/>
              </a:ext>
            </a:extLst>
          </p:cNvPr>
          <p:cNvSpPr>
            <a:spLocks xmlns:a="http://schemas.openxmlformats.org/drawingml/2006/main" noGrp="1"/>
          </p:cNvSpPr>
          <p:nvPr/>
        </p:nvSpPr>
        <p:spPr>
          <a:xfrm xmlns:a="http://schemas.openxmlformats.org/drawingml/2006/main">
            <a:off x="8334375" y="3790950"/>
            <a:ext cx="2952750" cy="762000"/>
          </a:xfrm>
          <a:prstGeom xmlns:a="http://schemas.openxmlformats.org/drawingml/2006/main" prst="roundRect">
            <a:avLst>
              <a:gd name="adj" fmla="val 10000"/>
            </a:avLst>
          </a:prstGeom>
          <a:solidFill xmlns:a="http://schemas.openxmlformats.org/drawingml/2006/main">
            <a:srgbClr val="F4F7F9"/>
          </a:solidFill>
          <a:ln xmlns:a="http://schemas.openxmlformats.org/drawingml/2006/main" w="9525">
            <a:solidFill>
              <a:srgbClr val="D9E1E7"/>
            </a:solidFill>
            <a:prstDash val="solid"/>
          </a:ln>
        </p:spPr>
      </p:sp>
      <p:sp>
        <p:nvSpPr>
          <p:cNvPr id="20" name="">
            <a:extLst xmlns:a="http://schemas.openxmlformats.org/drawingml/2006/main">
              <a:ext uri="{FF2B5EF4-FFF2-40B4-BE49-F238E27FC236}">
                <a16:creationId xmlns:a16="http://schemas.microsoft.com/office/drawing/2014/main" id="{B33B15E0-091C-4A17-BC2A-C9F933B31DDD}"/>
              </a:ext>
            </a:extLst>
          </p:cNvPr>
          <p:cNvSpPr>
            <a:spLocks xmlns:a="http://schemas.openxmlformats.org/drawingml/2006/main" noGrp="1"/>
          </p:cNvSpPr>
          <p:nvPr/>
        </p:nvSpPr>
        <p:spPr>
          <a:xfrm xmlns:a="http://schemas.openxmlformats.org/drawingml/2006/main">
            <a:off x="8334375" y="3790950"/>
            <a:ext cx="66675" cy="762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07A6C60-B79E-4E5C-8D08-71655FE0E1FD}"/>
              </a:ext>
            </a:extLst>
          </p:cNvPr>
          <p:cNvSpPr>
            <a:spLocks xmlns:a="http://schemas.openxmlformats.org/drawingml/2006/main" noGrp="1"/>
          </p:cNvSpPr>
          <p:nvPr/>
        </p:nvSpPr>
        <p:spPr>
          <a:xfrm xmlns:a="http://schemas.openxmlformats.org/drawingml/2006/main">
            <a:off x="8496300" y="38862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予測 / GT point cloud</a:t>
            </a:r>
          </a:p>
        </p:txBody>
      </p:sp>
      <p:sp>
        <p:nvSpPr>
          <p:cNvPr id="22" name="">
            <a:extLst xmlns:a="http://schemas.openxmlformats.org/drawingml/2006/main">
              <a:ext uri="{FF2B5EF4-FFF2-40B4-BE49-F238E27FC236}">
                <a16:creationId xmlns:a16="http://schemas.microsoft.com/office/drawing/2014/main" id="{E6D5EB76-A47A-4F4D-87BE-BBFEE84E13B1}"/>
              </a:ext>
            </a:extLst>
          </p:cNvPr>
          <p:cNvSpPr>
            <a:spLocks xmlns:a="http://schemas.openxmlformats.org/drawingml/2006/main" noGrp="1"/>
          </p:cNvSpPr>
          <p:nvPr/>
        </p:nvSpPr>
        <p:spPr>
          <a:xfrm xmlns:a="http://schemas.openxmlformats.org/drawingml/2006/main">
            <a:off x="8496300" y="421005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PLYを同一camera座標に生成</a:t>
            </a:r>
          </a:p>
        </p:txBody>
      </p:sp>
      <p:sp>
        <p:nvSpPr>
          <p:cNvPr id="23" name="">
            <a:extLst xmlns:a="http://schemas.openxmlformats.org/drawingml/2006/main">
              <a:ext uri="{FF2B5EF4-FFF2-40B4-BE49-F238E27FC236}">
                <a16:creationId xmlns:a16="http://schemas.microsoft.com/office/drawing/2014/main" id="{F66A81B6-F6DE-4D4D-9B7D-54E092F12D2B}"/>
              </a:ext>
            </a:extLst>
          </p:cNvPr>
          <p:cNvSpPr>
            <a:spLocks xmlns:a="http://schemas.openxmlformats.org/drawingml/2006/main" noGrp="1"/>
          </p:cNvSpPr>
          <p:nvPr/>
        </p:nvSpPr>
        <p:spPr>
          <a:xfrm xmlns:a="http://schemas.openxmlformats.org/drawingml/2006/main">
            <a:off x="9601200" y="4619625"/>
            <a:ext cx="457200" cy="23812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3124838-CED0-4867-B05F-FE32DE21F9ED}"/>
              </a:ext>
            </a:extLst>
          </p:cNvPr>
          <p:cNvSpPr>
            <a:spLocks xmlns:a="http://schemas.openxmlformats.org/drawingml/2006/main" noGrp="1"/>
          </p:cNvSpPr>
          <p:nvPr/>
        </p:nvSpPr>
        <p:spPr>
          <a:xfrm xmlns:a="http://schemas.openxmlformats.org/drawingml/2006/main">
            <a:off x="8334375" y="4972050"/>
            <a:ext cx="2952750" cy="762000"/>
          </a:xfrm>
          <a:prstGeom xmlns:a="http://schemas.openxmlformats.org/drawingml/2006/main" prst="roundRect">
            <a:avLst>
              <a:gd name="adj" fmla="val 10000"/>
            </a:avLst>
          </a:prstGeom>
          <a:solidFill xmlns:a="http://schemas.openxmlformats.org/drawingml/2006/main">
            <a:srgbClr val="F8EBDD"/>
          </a:solidFill>
          <a:ln xmlns:a="http://schemas.openxmlformats.org/drawingml/2006/main" w="9525">
            <a:solidFill>
              <a:srgbClr val="D9E1E7"/>
            </a:solidFill>
            <a:prstDash val="solid"/>
          </a:ln>
        </p:spPr>
      </p:sp>
      <p:sp>
        <p:nvSpPr>
          <p:cNvPr id="25" name="">
            <a:extLst xmlns:a="http://schemas.openxmlformats.org/drawingml/2006/main">
              <a:ext uri="{FF2B5EF4-FFF2-40B4-BE49-F238E27FC236}">
                <a16:creationId xmlns:a16="http://schemas.microsoft.com/office/drawing/2014/main" id="{B0E2799F-61F4-4664-AA8B-8B729366B122}"/>
              </a:ext>
            </a:extLst>
          </p:cNvPr>
          <p:cNvSpPr>
            <a:spLocks xmlns:a="http://schemas.openxmlformats.org/drawingml/2006/main" noGrp="1"/>
          </p:cNvSpPr>
          <p:nvPr/>
        </p:nvSpPr>
        <p:spPr>
          <a:xfrm xmlns:a="http://schemas.openxmlformats.org/drawingml/2006/main">
            <a:off x="8334375" y="4972050"/>
            <a:ext cx="66675" cy="76200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29D6188-4C69-4E11-924E-B06774858B32}"/>
              </a:ext>
            </a:extLst>
          </p:cNvPr>
          <p:cNvSpPr>
            <a:spLocks xmlns:a="http://schemas.openxmlformats.org/drawingml/2006/main" noGrp="1"/>
          </p:cNvSpPr>
          <p:nvPr/>
        </p:nvSpPr>
        <p:spPr>
          <a:xfrm xmlns:a="http://schemas.openxmlformats.org/drawingml/2006/main">
            <a:off x="8496300" y="50673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Chamfer-like mean NN</a:t>
            </a:r>
          </a:p>
        </p:txBody>
      </p:sp>
      <p:sp>
        <p:nvSpPr>
          <p:cNvPr id="27" name="">
            <a:extLst xmlns:a="http://schemas.openxmlformats.org/drawingml/2006/main">
              <a:ext uri="{FF2B5EF4-FFF2-40B4-BE49-F238E27FC236}">
                <a16:creationId xmlns:a16="http://schemas.microsoft.com/office/drawing/2014/main" id="{E8DC7AC2-6673-4068-A8CF-522555590736}"/>
              </a:ext>
            </a:extLst>
          </p:cNvPr>
          <p:cNvSpPr>
            <a:spLocks xmlns:a="http://schemas.openxmlformats.org/drawingml/2006/main" noGrp="1"/>
          </p:cNvSpPr>
          <p:nvPr/>
        </p:nvSpPr>
        <p:spPr>
          <a:xfrm xmlns:a="http://schemas.openxmlformats.org/drawingml/2006/main">
            <a:off x="8496300" y="539115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対称平均 0.913 m</a:t>
            </a:r>
          </a:p>
        </p:txBody>
      </p:sp>
      <p:sp>
        <p:nvSpPr>
          <p:cNvPr id="28" name="">
            <a:extLst xmlns:a="http://schemas.openxmlformats.org/drawingml/2006/main">
              <a:ext uri="{FF2B5EF4-FFF2-40B4-BE49-F238E27FC236}">
                <a16:creationId xmlns:a16="http://schemas.microsoft.com/office/drawing/2014/main" id="{798175B9-E076-4912-9A11-0A0E9E00AD79}"/>
              </a:ext>
            </a:extLst>
          </p:cNvPr>
          <p:cNvSpPr>
            <a:spLocks xmlns:a="http://schemas.openxmlformats.org/drawingml/2006/main" noGrp="1"/>
          </p:cNvSpPr>
          <p:nvPr/>
        </p:nvSpPr>
        <p:spPr>
          <a:xfrm xmlns:a="http://schemas.openxmlformats.org/drawingml/2006/main">
            <a:off x="752475" y="3962400"/>
            <a:ext cx="2124075" cy="1104900"/>
          </a:xfrm>
          <a:prstGeom xmlns:a="http://schemas.openxmlformats.org/drawingml/2006/main" prst="roundRect">
            <a:avLst>
              <a:gd name="adj" fmla="val 6897"/>
            </a:avLst>
          </a:prstGeom>
          <a:solidFill xmlns:a="http://schemas.openxmlformats.org/drawingml/2006/main">
            <a:srgbClr val="F4F7F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74A59AB-C6BC-44E4-A218-1FF1FC725777}"/>
              </a:ext>
            </a:extLst>
          </p:cNvPr>
          <p:cNvSpPr>
            <a:spLocks xmlns:a="http://schemas.openxmlformats.org/drawingml/2006/main" noGrp="1"/>
          </p:cNvSpPr>
          <p:nvPr/>
        </p:nvSpPr>
        <p:spPr>
          <a:xfrm xmlns:a="http://schemas.openxmlformats.org/drawingml/2006/main">
            <a:off x="866775" y="4019550"/>
            <a:ext cx="18954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GT depth MAE</a:t>
            </a:r>
          </a:p>
        </p:txBody>
      </p:sp>
      <p:sp>
        <p:nvSpPr>
          <p:cNvPr id="30" name="">
            <a:extLst xmlns:a="http://schemas.openxmlformats.org/drawingml/2006/main">
              <a:ext uri="{FF2B5EF4-FFF2-40B4-BE49-F238E27FC236}">
                <a16:creationId xmlns:a16="http://schemas.microsoft.com/office/drawing/2014/main" id="{C2B71760-ADD8-4EEE-9E62-9CD6C7A92049}"/>
              </a:ext>
            </a:extLst>
          </p:cNvPr>
          <p:cNvSpPr>
            <a:spLocks xmlns:a="http://schemas.openxmlformats.org/drawingml/2006/main" noGrp="1"/>
          </p:cNvSpPr>
          <p:nvPr/>
        </p:nvSpPr>
        <p:spPr>
          <a:xfrm xmlns:a="http://schemas.openxmlformats.org/drawingml/2006/main">
            <a:off x="866775" y="4238625"/>
            <a:ext cx="1895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1.437</a:t>
            </a:r>
          </a:p>
        </p:txBody>
      </p:sp>
      <p:sp>
        <p:nvSpPr>
          <p:cNvPr id="31" name="">
            <a:extLst xmlns:a="http://schemas.openxmlformats.org/drawingml/2006/main">
              <a:ext uri="{FF2B5EF4-FFF2-40B4-BE49-F238E27FC236}">
                <a16:creationId xmlns:a16="http://schemas.microsoft.com/office/drawing/2014/main" id="{CA1BC6AE-3912-4AFF-88A7-46997E752456}"/>
              </a:ext>
            </a:extLst>
          </p:cNvPr>
          <p:cNvSpPr>
            <a:spLocks xmlns:a="http://schemas.openxmlformats.org/drawingml/2006/main" noGrp="1"/>
          </p:cNvSpPr>
          <p:nvPr/>
        </p:nvSpPr>
        <p:spPr>
          <a:xfrm xmlns:a="http://schemas.openxmlformats.org/drawingml/2006/main">
            <a:off x="866775" y="4886325"/>
            <a:ext cx="18954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32" name="">
            <a:extLst xmlns:a="http://schemas.openxmlformats.org/drawingml/2006/main">
              <a:ext uri="{FF2B5EF4-FFF2-40B4-BE49-F238E27FC236}">
                <a16:creationId xmlns:a16="http://schemas.microsoft.com/office/drawing/2014/main" id="{E329A593-5C72-4408-929C-D9D33B142303}"/>
              </a:ext>
            </a:extLst>
          </p:cNvPr>
          <p:cNvSpPr>
            <a:spLocks xmlns:a="http://schemas.openxmlformats.org/drawingml/2006/main" noGrp="1"/>
          </p:cNvSpPr>
          <p:nvPr/>
        </p:nvSpPr>
        <p:spPr>
          <a:xfrm xmlns:a="http://schemas.openxmlformats.org/drawingml/2006/main">
            <a:off x="3038475" y="3962400"/>
            <a:ext cx="2124075" cy="1104900"/>
          </a:xfrm>
          <a:prstGeom xmlns:a="http://schemas.openxmlformats.org/drawingml/2006/main" prst="roundRect">
            <a:avLst>
              <a:gd name="adj" fmla="val 6897"/>
            </a:avLst>
          </a:prstGeom>
          <a:solidFill xmlns:a="http://schemas.openxmlformats.org/drawingml/2006/main">
            <a:srgbClr val="F4F7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D73DD12-79C3-4C7B-875D-CBAB0A3A1513}"/>
              </a:ext>
            </a:extLst>
          </p:cNvPr>
          <p:cNvSpPr>
            <a:spLocks xmlns:a="http://schemas.openxmlformats.org/drawingml/2006/main" noGrp="1"/>
          </p:cNvSpPr>
          <p:nvPr/>
        </p:nvSpPr>
        <p:spPr>
          <a:xfrm xmlns:a="http://schemas.openxmlformats.org/drawingml/2006/main">
            <a:off x="3152775" y="4019550"/>
            <a:ext cx="18954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GT depth RMSE</a:t>
            </a:r>
          </a:p>
        </p:txBody>
      </p:sp>
      <p:sp>
        <p:nvSpPr>
          <p:cNvPr id="34" name="">
            <a:extLst xmlns:a="http://schemas.openxmlformats.org/drawingml/2006/main">
              <a:ext uri="{FF2B5EF4-FFF2-40B4-BE49-F238E27FC236}">
                <a16:creationId xmlns:a16="http://schemas.microsoft.com/office/drawing/2014/main" id="{456BA7BD-DB7C-4FF9-B763-BAE943970B43}"/>
              </a:ext>
            </a:extLst>
          </p:cNvPr>
          <p:cNvSpPr>
            <a:spLocks xmlns:a="http://schemas.openxmlformats.org/drawingml/2006/main" noGrp="1"/>
          </p:cNvSpPr>
          <p:nvPr/>
        </p:nvSpPr>
        <p:spPr>
          <a:xfrm xmlns:a="http://schemas.openxmlformats.org/drawingml/2006/main">
            <a:off x="3152775" y="4238625"/>
            <a:ext cx="1895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1.893</a:t>
            </a:r>
          </a:p>
        </p:txBody>
      </p:sp>
      <p:sp>
        <p:nvSpPr>
          <p:cNvPr id="35" name="">
            <a:extLst xmlns:a="http://schemas.openxmlformats.org/drawingml/2006/main">
              <a:ext uri="{FF2B5EF4-FFF2-40B4-BE49-F238E27FC236}">
                <a16:creationId xmlns:a16="http://schemas.microsoft.com/office/drawing/2014/main" id="{A0791264-CE4F-4702-BEA8-9F6C651A7729}"/>
              </a:ext>
            </a:extLst>
          </p:cNvPr>
          <p:cNvSpPr>
            <a:spLocks xmlns:a="http://schemas.openxmlformats.org/drawingml/2006/main" noGrp="1"/>
          </p:cNvSpPr>
          <p:nvPr/>
        </p:nvSpPr>
        <p:spPr>
          <a:xfrm xmlns:a="http://schemas.openxmlformats.org/drawingml/2006/main">
            <a:off x="3152775" y="4886325"/>
            <a:ext cx="18954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36" name="">
            <a:extLst xmlns:a="http://schemas.openxmlformats.org/drawingml/2006/main">
              <a:ext uri="{FF2B5EF4-FFF2-40B4-BE49-F238E27FC236}">
                <a16:creationId xmlns:a16="http://schemas.microsoft.com/office/drawing/2014/main" id="{DE18995C-B795-4C2A-B195-CFA6CD4261A0}"/>
              </a:ext>
            </a:extLst>
          </p:cNvPr>
          <p:cNvSpPr>
            <a:spLocks xmlns:a="http://schemas.openxmlformats.org/drawingml/2006/main" noGrp="1"/>
          </p:cNvSpPr>
          <p:nvPr/>
        </p:nvSpPr>
        <p:spPr>
          <a:xfrm xmlns:a="http://schemas.openxmlformats.org/drawingml/2006/main">
            <a:off x="5324475" y="3962400"/>
            <a:ext cx="2124075" cy="1104900"/>
          </a:xfrm>
          <a:prstGeom xmlns:a="http://schemas.openxmlformats.org/drawingml/2006/main" prst="roundRect">
            <a:avLst>
              <a:gd name="adj" fmla="val 6897"/>
            </a:avLst>
          </a:prstGeom>
          <a:solidFill xmlns:a="http://schemas.openxmlformats.org/drawingml/2006/main">
            <a:srgbClr val="F4F7F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202D99C-5D70-47BE-871B-D5CEE09184B5}"/>
              </a:ext>
            </a:extLst>
          </p:cNvPr>
          <p:cNvSpPr>
            <a:spLocks xmlns:a="http://schemas.openxmlformats.org/drawingml/2006/main" noGrp="1"/>
          </p:cNvSpPr>
          <p:nvPr/>
        </p:nvSpPr>
        <p:spPr>
          <a:xfrm xmlns:a="http://schemas.openxmlformats.org/drawingml/2006/main">
            <a:off x="5438775" y="4019550"/>
            <a:ext cx="18954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有効pixel</a:t>
            </a:r>
          </a:p>
        </p:txBody>
      </p:sp>
      <p:sp>
        <p:nvSpPr>
          <p:cNvPr id="38" name="">
            <a:extLst xmlns:a="http://schemas.openxmlformats.org/drawingml/2006/main">
              <a:ext uri="{FF2B5EF4-FFF2-40B4-BE49-F238E27FC236}">
                <a16:creationId xmlns:a16="http://schemas.microsoft.com/office/drawing/2014/main" id="{FD8E3C27-F4E6-4602-84B9-13F8DDBA32FB}"/>
              </a:ext>
            </a:extLst>
          </p:cNvPr>
          <p:cNvSpPr>
            <a:spLocks xmlns:a="http://schemas.openxmlformats.org/drawingml/2006/main" noGrp="1"/>
          </p:cNvSpPr>
          <p:nvPr/>
        </p:nvSpPr>
        <p:spPr>
          <a:xfrm xmlns:a="http://schemas.openxmlformats.org/drawingml/2006/main">
            <a:off x="5438775" y="4238625"/>
            <a:ext cx="1895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343,531</a:t>
            </a:r>
          </a:p>
        </p:txBody>
      </p:sp>
      <p:sp>
        <p:nvSpPr>
          <p:cNvPr id="39" name="">
            <a:extLst xmlns:a="http://schemas.openxmlformats.org/drawingml/2006/main">
              <a:ext uri="{FF2B5EF4-FFF2-40B4-BE49-F238E27FC236}">
                <a16:creationId xmlns:a16="http://schemas.microsoft.com/office/drawing/2014/main" id="{6A87E686-9161-4D5B-8AAF-F227EDC1E2A5}"/>
              </a:ext>
            </a:extLst>
          </p:cNvPr>
          <p:cNvSpPr>
            <a:spLocks xmlns:a="http://schemas.openxmlformats.org/drawingml/2006/main" noGrp="1"/>
          </p:cNvSpPr>
          <p:nvPr/>
        </p:nvSpPr>
        <p:spPr>
          <a:xfrm xmlns:a="http://schemas.openxmlformats.org/drawingml/2006/main">
            <a:off x="5438775" y="4886325"/>
            <a:ext cx="18954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1 image</a:t>
            </a:r>
          </a:p>
        </p:txBody>
      </p:sp>
      <p:sp>
        <p:nvSpPr>
          <p:cNvPr id="40" name="">
            <a:extLst xmlns:a="http://schemas.openxmlformats.org/drawingml/2006/main">
              <a:ext uri="{FF2B5EF4-FFF2-40B4-BE49-F238E27FC236}">
                <a16:creationId xmlns:a16="http://schemas.microsoft.com/office/drawing/2014/main" id="{4B2438B7-B18A-47C3-BC66-6003F48BD035}"/>
              </a:ext>
            </a:extLst>
          </p:cNvPr>
          <p:cNvSpPr>
            <a:spLocks xmlns:a="http://schemas.openxmlformats.org/drawingml/2006/main" noGrp="1"/>
          </p:cNvSpPr>
          <p:nvPr/>
        </p:nvSpPr>
        <p:spPr>
          <a:xfrm xmlns:a="http://schemas.openxmlformats.org/drawingml/2006/main">
            <a:off x="857250" y="53530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62717F"/>
                </a:solidFill>
                <a:latin typeface="Yu Gothic"/>
                <a:ea typeface="Yu Gothic"/>
                <a:cs typeface="Yu Gothic"/>
              </a:defRPr>
            </a:pPr>
            <a:r>
              <a:rPr sz="1575" b="1">
                <a:solidFill>
                  <a:srgbClr val="62717F"/>
                </a:solidFill>
                <a:latin typeface="Yu Gothic"/>
                <a:ea typeface="Yu Gothic"/>
                <a:cs typeface="Yu Gothic"/>
              </a:rPr>
              <a:t>深度→3Dの処理経路を確認。稲画像の精度評価ではない。</a:t>
            </a:r>
          </a:p>
        </p:txBody>
      </p:sp>
    </p:spTree>
    <p:extLst>
      <p:ext uri="{BB962C8B-B14F-4D97-AF65-F5344CB8AC3E}">
        <p14:creationId xmlns:p14="http://schemas.microsoft.com/office/powerpoint/2010/main" val="17404433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857FE95-E7DE-4960-841A-64C55B07AD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F4DE82-6CA1-45D8-91CA-DB6FCD0C9D68}"/>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LUMS：稲UAV画像への適用</a:t>
            </a:r>
          </a:p>
        </p:txBody>
      </p:sp>
      <p:sp>
        <p:nvSpPr>
          <p:cNvPr id="3" name="">
            <a:extLst xmlns:a="http://schemas.openxmlformats.org/drawingml/2006/main">
              <a:ext uri="{FF2B5EF4-FFF2-40B4-BE49-F238E27FC236}">
                <a16:creationId xmlns:a16="http://schemas.microsoft.com/office/drawing/2014/main" id="{5FBC46E1-AEB8-4230-B584-89D351B129B2}"/>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81952A-A432-46E2-B201-32AC6CD1F5F1}"/>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161B7A-97F3-45EF-98A1-3480C4A8A4AF}"/>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[4] LUMS rice UAV dataset; 9 images (early / middle / late, n=3 each).</a:t>
            </a:r>
          </a:p>
        </p:txBody>
      </p:sp>
      <p:sp>
        <p:nvSpPr>
          <p:cNvPr id="6" name="">
            <a:extLst xmlns:a="http://schemas.openxmlformats.org/drawingml/2006/main">
              <a:ext uri="{FF2B5EF4-FFF2-40B4-BE49-F238E27FC236}">
                <a16:creationId xmlns:a16="http://schemas.microsoft.com/office/drawing/2014/main" id="{3E73EEFB-63FD-4D5B-B477-8D8E14F5325C}"/>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07</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045c6c633b64c36"/>
          <a:stretch xmlns:a="http://schemas.openxmlformats.org/drawingml/2006/main"/>
        </p:blipFill>
        <p:spPr>
          <a:xfrm xmlns:a="http://schemas.openxmlformats.org/drawingml/2006/main">
            <a:off x="1006728" y="1257300"/>
            <a:ext cx="5892294" cy="4524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2E7BCCD-7227-42CE-8FFD-64BCDFE66DD4}"/>
              </a:ext>
            </a:extLst>
          </p:cNvPr>
          <p:cNvSpPr>
            <a:spLocks xmlns:a="http://schemas.openxmlformats.org/drawingml/2006/main" noGrp="1"/>
          </p:cNvSpPr>
          <p:nvPr/>
        </p:nvSpPr>
        <p:spPr>
          <a:xfrm xmlns:a="http://schemas.openxmlformats.org/drawingml/2006/main">
            <a:off x="7572375" y="1381125"/>
            <a:ext cx="3571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168C88"/>
                </a:solidFill>
                <a:latin typeface="Yu Gothic"/>
                <a:ea typeface="Yu Gothic"/>
                <a:cs typeface="Yu Gothic"/>
              </a:defRPr>
            </a:pPr>
            <a:r>
              <a:rPr sz="1725" b="1">
                <a:solidFill>
                  <a:srgbClr val="168C88"/>
                </a:solidFill>
                <a:latin typeface="Yu Gothic"/>
                <a:ea typeface="Yu Gothic"/>
                <a:cs typeface="Yu Gothic"/>
              </a:rPr>
              <a:t>確認できたこと</a:t>
            </a:r>
          </a:p>
        </p:txBody>
      </p:sp>
      <p:sp>
        <p:nvSpPr>
          <p:cNvPr id="9" name="">
            <a:extLst xmlns:a="http://schemas.openxmlformats.org/drawingml/2006/main">
              <a:ext uri="{FF2B5EF4-FFF2-40B4-BE49-F238E27FC236}">
                <a16:creationId xmlns:a16="http://schemas.microsoft.com/office/drawing/2014/main" id="{791802B3-3A98-4F4B-9296-AD87A09C6F76}"/>
              </a:ext>
            </a:extLst>
          </p:cNvPr>
          <p:cNvSpPr>
            <a:spLocks xmlns:a="http://schemas.openxmlformats.org/drawingml/2006/main" noGrp="1"/>
          </p:cNvSpPr>
          <p:nvPr/>
        </p:nvSpPr>
        <p:spPr>
          <a:xfrm xmlns:a="http://schemas.openxmlformats.org/drawingml/2006/main">
            <a:off x="7620000" y="183832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8F22D4-B412-4F42-AA80-D30ECDE2BF55}"/>
              </a:ext>
            </a:extLst>
          </p:cNvPr>
          <p:cNvSpPr>
            <a:spLocks xmlns:a="http://schemas.openxmlformats.org/drawingml/2006/main" noGrp="1"/>
          </p:cNvSpPr>
          <p:nvPr/>
        </p:nvSpPr>
        <p:spPr>
          <a:xfrm xmlns:a="http://schemas.openxmlformats.org/drawingml/2006/main">
            <a:off x="7829550" y="1762125"/>
            <a:ext cx="335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a:solidFill>
                  <a:srgbClr val="253443"/>
                </a:solidFill>
                <a:latin typeface="Yu Gothic"/>
                <a:ea typeface="Yu Gothic"/>
                <a:cs typeface="Yu Gothic"/>
              </a:defRPr>
            </a:pPr>
            <a:r>
              <a:rPr sz="1350" b="0">
                <a:solidFill>
                  <a:srgbClr val="253443"/>
                </a:solidFill>
                <a:latin typeface="Yu Gothic"/>
                <a:ea typeface="Yu Gothic"/>
                <a:cs typeface="Yu Gothic"/>
              </a:rPr>
              <a:t>稲画像でもdepth mapを生成</a:t>
            </a:r>
          </a:p>
        </p:txBody>
      </p:sp>
      <p:sp>
        <p:nvSpPr>
          <p:cNvPr id="11" name="">
            <a:extLst xmlns:a="http://schemas.openxmlformats.org/drawingml/2006/main">
              <a:ext uri="{FF2B5EF4-FFF2-40B4-BE49-F238E27FC236}">
                <a16:creationId xmlns:a16="http://schemas.microsoft.com/office/drawing/2014/main" id="{1B60A94A-3F5F-484F-9297-556C0B72DA98}"/>
              </a:ext>
            </a:extLst>
          </p:cNvPr>
          <p:cNvSpPr>
            <a:spLocks xmlns:a="http://schemas.openxmlformats.org/drawingml/2006/main" noGrp="1"/>
          </p:cNvSpPr>
          <p:nvPr/>
        </p:nvSpPr>
        <p:spPr>
          <a:xfrm xmlns:a="http://schemas.openxmlformats.org/drawingml/2006/main">
            <a:off x="7620000" y="225742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06BA0A-76E4-464F-A2A0-934033269ACF}"/>
              </a:ext>
            </a:extLst>
          </p:cNvPr>
          <p:cNvSpPr>
            <a:spLocks xmlns:a="http://schemas.openxmlformats.org/drawingml/2006/main" noGrp="1"/>
          </p:cNvSpPr>
          <p:nvPr/>
        </p:nvSpPr>
        <p:spPr>
          <a:xfrm xmlns:a="http://schemas.openxmlformats.org/drawingml/2006/main">
            <a:off x="7829550" y="2181225"/>
            <a:ext cx="335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a:solidFill>
                  <a:srgbClr val="253443"/>
                </a:solidFill>
                <a:latin typeface="Yu Gothic"/>
                <a:ea typeface="Yu Gothic"/>
                <a:cs typeface="Yu Gothic"/>
              </a:defRPr>
            </a:pPr>
            <a:r>
              <a:rPr sz="1350" b="0">
                <a:solidFill>
                  <a:srgbClr val="253443"/>
                </a:solidFill>
                <a:latin typeface="Yu Gothic"/>
                <a:ea typeface="Yu Gothic"/>
                <a:cs typeface="Yu Gothic"/>
              </a:rPr>
              <a:t>Metric中央値は約5.26–6.82 m</a:t>
            </a:r>
          </a:p>
        </p:txBody>
      </p:sp>
      <p:sp>
        <p:nvSpPr>
          <p:cNvPr id="13" name="">
            <a:extLst xmlns:a="http://schemas.openxmlformats.org/drawingml/2006/main">
              <a:ext uri="{FF2B5EF4-FFF2-40B4-BE49-F238E27FC236}">
                <a16:creationId xmlns:a16="http://schemas.microsoft.com/office/drawing/2014/main" id="{0ED2453A-8D1F-4D4D-9D65-D3CEBEEB69EF}"/>
              </a:ext>
            </a:extLst>
          </p:cNvPr>
          <p:cNvSpPr>
            <a:spLocks xmlns:a="http://schemas.openxmlformats.org/drawingml/2006/main" noGrp="1"/>
          </p:cNvSpPr>
          <p:nvPr/>
        </p:nvSpPr>
        <p:spPr>
          <a:xfrm xmlns:a="http://schemas.openxmlformats.org/drawingml/2006/main">
            <a:off x="7620000" y="267652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7A8078-977E-4E4D-B85F-6780E4E8750D}"/>
              </a:ext>
            </a:extLst>
          </p:cNvPr>
          <p:cNvSpPr>
            <a:spLocks xmlns:a="http://schemas.openxmlformats.org/drawingml/2006/main" noGrp="1"/>
          </p:cNvSpPr>
          <p:nvPr/>
        </p:nvSpPr>
        <p:spPr>
          <a:xfrm xmlns:a="http://schemas.openxmlformats.org/drawingml/2006/main">
            <a:off x="7829550" y="2600325"/>
            <a:ext cx="335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a:solidFill>
                  <a:srgbClr val="253443"/>
                </a:solidFill>
                <a:latin typeface="Yu Gothic"/>
                <a:ea typeface="Yu Gothic"/>
                <a:cs typeface="Yu Gothic"/>
              </a:defRPr>
            </a:pPr>
            <a:r>
              <a:rPr sz="1350" b="0">
                <a:solidFill>
                  <a:srgbClr val="253443"/>
                </a:solidFill>
                <a:latin typeface="Yu Gothic"/>
                <a:ea typeface="Yu Gothic"/>
                <a:cs typeface="Yu Gothic"/>
              </a:rPr>
              <a:t>撮影高度に近い値でも精度証明ではない</a:t>
            </a:r>
          </a:p>
        </p:txBody>
      </p:sp>
      <p:sp>
        <p:nvSpPr>
          <p:cNvPr id="15" name="">
            <a:extLst xmlns:a="http://schemas.openxmlformats.org/drawingml/2006/main">
              <a:ext uri="{FF2B5EF4-FFF2-40B4-BE49-F238E27FC236}">
                <a16:creationId xmlns:a16="http://schemas.microsoft.com/office/drawing/2014/main" id="{3E02013E-39A1-4421-A575-4484C510DD0D}"/>
              </a:ext>
            </a:extLst>
          </p:cNvPr>
          <p:cNvSpPr>
            <a:spLocks xmlns:a="http://schemas.openxmlformats.org/drawingml/2006/main" noGrp="1"/>
          </p:cNvSpPr>
          <p:nvPr/>
        </p:nvSpPr>
        <p:spPr>
          <a:xfrm xmlns:a="http://schemas.openxmlformats.org/drawingml/2006/main">
            <a:off x="7543800" y="3286125"/>
            <a:ext cx="3857625" cy="2333625"/>
          </a:xfrm>
          <a:prstGeom xmlns:a="http://schemas.openxmlformats.org/drawingml/2006/main" prst="roundRect">
            <a:avLst>
              <a:gd name="adj" fmla="val 3265"/>
            </a:avLst>
          </a:prstGeom>
          <a:solidFill xmlns:a="http://schemas.openxmlformats.org/drawingml/2006/main">
            <a:srgbClr val="F8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56DCCA-75D9-40D5-89EC-F641EA5242AC}"/>
              </a:ext>
            </a:extLst>
          </p:cNvPr>
          <p:cNvSpPr>
            <a:spLocks xmlns:a="http://schemas.openxmlformats.org/drawingml/2006/main" noGrp="1"/>
          </p:cNvSpPr>
          <p:nvPr/>
        </p:nvSpPr>
        <p:spPr>
          <a:xfrm xmlns:a="http://schemas.openxmlformats.org/drawingml/2006/main">
            <a:off x="7753350" y="3429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D98839"/>
                </a:solidFill>
                <a:latin typeface="Yu Gothic"/>
                <a:ea typeface="Yu Gothic"/>
                <a:cs typeface="Yu Gothic"/>
              </a:defRPr>
            </a:pPr>
            <a:r>
              <a:rPr sz="1650" b="1">
                <a:solidFill>
                  <a:srgbClr val="D98839"/>
                </a:solidFill>
                <a:latin typeface="Yu Gothic"/>
                <a:ea typeface="Yu Gothic"/>
                <a:cs typeface="Yu Gothic"/>
              </a:rPr>
              <a:t>評価上の限界</a:t>
            </a:r>
          </a:p>
        </p:txBody>
      </p:sp>
      <p:sp>
        <p:nvSpPr>
          <p:cNvPr id="17" name="">
            <a:extLst xmlns:a="http://schemas.openxmlformats.org/drawingml/2006/main">
              <a:ext uri="{FF2B5EF4-FFF2-40B4-BE49-F238E27FC236}">
                <a16:creationId xmlns:a16="http://schemas.microsoft.com/office/drawing/2014/main" id="{8F7C317F-DA0B-401B-961C-206155710145}"/>
              </a:ext>
            </a:extLst>
          </p:cNvPr>
          <p:cNvSpPr>
            <a:spLocks xmlns:a="http://schemas.openxmlformats.org/drawingml/2006/main" noGrp="1"/>
          </p:cNvSpPr>
          <p:nvPr/>
        </p:nvSpPr>
        <p:spPr>
          <a:xfrm xmlns:a="http://schemas.openxmlformats.org/drawingml/2006/main">
            <a:off x="7781925" y="390525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49787E-8AA1-4BE5-AA19-8BAFEE92048E}"/>
              </a:ext>
            </a:extLst>
          </p:cNvPr>
          <p:cNvSpPr>
            <a:spLocks xmlns:a="http://schemas.openxmlformats.org/drawingml/2006/main" noGrp="1"/>
          </p:cNvSpPr>
          <p:nvPr/>
        </p:nvSpPr>
        <p:spPr>
          <a:xfrm xmlns:a="http://schemas.openxmlformats.org/drawingml/2006/main">
            <a:off x="7991475" y="382905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dense canopy / ground visibility</a:t>
            </a:r>
          </a:p>
        </p:txBody>
      </p:sp>
      <p:sp>
        <p:nvSpPr>
          <p:cNvPr id="19" name="">
            <a:extLst xmlns:a="http://schemas.openxmlformats.org/drawingml/2006/main">
              <a:ext uri="{FF2B5EF4-FFF2-40B4-BE49-F238E27FC236}">
                <a16:creationId xmlns:a16="http://schemas.microsoft.com/office/drawing/2014/main" id="{C121ADE3-06CE-443E-B82D-4938511401E6}"/>
              </a:ext>
            </a:extLst>
          </p:cNvPr>
          <p:cNvSpPr>
            <a:spLocks xmlns:a="http://schemas.openxmlformats.org/drawingml/2006/main" noGrp="1"/>
          </p:cNvSpPr>
          <p:nvPr/>
        </p:nvSpPr>
        <p:spPr>
          <a:xfrm xmlns:a="http://schemas.openxmlformats.org/drawingml/2006/main">
            <a:off x="7781925" y="4276725"/>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B4AEB50-99E7-41FD-B847-934A538321C9}"/>
              </a:ext>
            </a:extLst>
          </p:cNvPr>
          <p:cNvSpPr>
            <a:spLocks xmlns:a="http://schemas.openxmlformats.org/drawingml/2006/main" noGrp="1"/>
          </p:cNvSpPr>
          <p:nvPr/>
        </p:nvSpPr>
        <p:spPr>
          <a:xfrm xmlns:a="http://schemas.openxmlformats.org/drawingml/2006/main">
            <a:off x="7991475" y="4200525"/>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黄化・褐色葉、water、shadow</a:t>
            </a:r>
          </a:p>
        </p:txBody>
      </p:sp>
      <p:sp>
        <p:nvSpPr>
          <p:cNvPr id="21" name="">
            <a:extLst xmlns:a="http://schemas.openxmlformats.org/drawingml/2006/main">
              <a:ext uri="{FF2B5EF4-FFF2-40B4-BE49-F238E27FC236}">
                <a16:creationId xmlns:a16="http://schemas.microsoft.com/office/drawing/2014/main" id="{27970882-91A3-47BC-997B-81E3D3AF04D4}"/>
              </a:ext>
            </a:extLst>
          </p:cNvPr>
          <p:cNvSpPr>
            <a:spLocks xmlns:a="http://schemas.openxmlformats.org/drawingml/2006/main" noGrp="1"/>
          </p:cNvSpPr>
          <p:nvPr/>
        </p:nvSpPr>
        <p:spPr>
          <a:xfrm xmlns:a="http://schemas.openxmlformats.org/drawingml/2006/main">
            <a:off x="7781925" y="464820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F2C15FD-5519-41DB-BE90-35398E287B4E}"/>
              </a:ext>
            </a:extLst>
          </p:cNvPr>
          <p:cNvSpPr>
            <a:spLocks xmlns:a="http://schemas.openxmlformats.org/drawingml/2006/main" noGrp="1"/>
          </p:cNvSpPr>
          <p:nvPr/>
        </p:nvSpPr>
        <p:spPr>
          <a:xfrm xmlns:a="http://schemas.openxmlformats.org/drawingml/2006/main">
            <a:off x="7991475" y="45720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vegetation mask・camera pose不足</a:t>
            </a:r>
          </a:p>
        </p:txBody>
      </p:sp>
      <p:sp>
        <p:nvSpPr>
          <p:cNvPr id="23" name="">
            <a:extLst xmlns:a="http://schemas.openxmlformats.org/drawingml/2006/main">
              <a:ext uri="{FF2B5EF4-FFF2-40B4-BE49-F238E27FC236}">
                <a16:creationId xmlns:a16="http://schemas.microsoft.com/office/drawing/2014/main" id="{9B2FA2A3-51E4-42E3-9F61-23A6F16F9377}"/>
              </a:ext>
            </a:extLst>
          </p:cNvPr>
          <p:cNvSpPr>
            <a:spLocks xmlns:a="http://schemas.openxmlformats.org/drawingml/2006/main" noGrp="1"/>
          </p:cNvSpPr>
          <p:nvPr/>
        </p:nvSpPr>
        <p:spPr>
          <a:xfrm xmlns:a="http://schemas.openxmlformats.org/drawingml/2006/main">
            <a:off x="7781925" y="5019675"/>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4ED7FE9-E47C-4583-A47A-BA11C3AF0F5F}"/>
              </a:ext>
            </a:extLst>
          </p:cNvPr>
          <p:cNvSpPr>
            <a:spLocks xmlns:a="http://schemas.openxmlformats.org/drawingml/2006/main" noGrp="1"/>
          </p:cNvSpPr>
          <p:nvPr/>
        </p:nvSpPr>
        <p:spPr>
          <a:xfrm xmlns:a="http://schemas.openxmlformats.org/drawingml/2006/main">
            <a:off x="7991475" y="4943475"/>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frame-level GT不足</a:t>
            </a:r>
          </a:p>
        </p:txBody>
      </p:sp>
      <p:sp>
        <p:nvSpPr>
          <p:cNvPr id="25" name="">
            <a:extLst xmlns:a="http://schemas.openxmlformats.org/drawingml/2006/main">
              <a:ext uri="{FF2B5EF4-FFF2-40B4-BE49-F238E27FC236}">
                <a16:creationId xmlns:a16="http://schemas.microsoft.com/office/drawing/2014/main" id="{259D00BD-D90C-4B95-A738-4E643601AB40}"/>
              </a:ext>
            </a:extLst>
          </p:cNvPr>
          <p:cNvSpPr>
            <a:spLocks xmlns:a="http://schemas.openxmlformats.org/drawingml/2006/main" noGrp="1"/>
          </p:cNvSpPr>
          <p:nvPr/>
        </p:nvSpPr>
        <p:spPr>
          <a:xfrm xmlns:a="http://schemas.openxmlformats.org/drawingml/2006/main">
            <a:off x="819150" y="5934075"/>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B54747"/>
                </a:solidFill>
                <a:latin typeface="Yu Gothic"/>
                <a:ea typeface="Yu Gothic"/>
                <a:cs typeface="Yu Gothic"/>
              </a:defRPr>
            </a:pPr>
            <a:r>
              <a:rPr sz="1650" b="1">
                <a:solidFill>
                  <a:srgbClr val="B54747"/>
                </a:solidFill>
                <a:latin typeface="Yu Gothic"/>
                <a:ea typeface="Yu Gothic"/>
                <a:cs typeface="Yu Gothic"/>
              </a:rPr>
              <a:t>canopy–ground depth差は proxy。稲高として扱わない。</a:t>
            </a:r>
          </a:p>
        </p:txBody>
      </p:sp>
    </p:spTree>
    <p:extLst>
      <p:ext uri="{BB962C8B-B14F-4D97-AF65-F5344CB8AC3E}">
        <p14:creationId xmlns:p14="http://schemas.microsoft.com/office/powerpoint/2010/main" val="21139130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0DC6F62-A4BB-4055-9343-36257A1EEA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745BC6-C770-4895-B97C-58E03DA2EF40}"/>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UAV3DCrop：作物UAVのGT depth評価</a:t>
            </a:r>
          </a:p>
        </p:txBody>
      </p:sp>
      <p:sp>
        <p:nvSpPr>
          <p:cNvPr id="3" name="">
            <a:extLst xmlns:a="http://schemas.openxmlformats.org/drawingml/2006/main">
              <a:ext uri="{FF2B5EF4-FFF2-40B4-BE49-F238E27FC236}">
                <a16:creationId xmlns:a16="http://schemas.microsoft.com/office/drawing/2014/main" id="{79735332-24E5-43E4-B6B6-EB5C7A5B3261}"/>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6AF961-5A04-4C9D-9474-6474780400BA}"/>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3F3B9D-1E70-4F2F-A07A-F1F59D41BA62}"/>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[5] UAV3DCrop: photogrammetry MVS camera-frame z-depth; not hand-measured rice height.</a:t>
            </a:r>
          </a:p>
        </p:txBody>
      </p:sp>
      <p:sp>
        <p:nvSpPr>
          <p:cNvPr id="6" name="">
            <a:extLst xmlns:a="http://schemas.openxmlformats.org/drawingml/2006/main">
              <a:ext uri="{FF2B5EF4-FFF2-40B4-BE49-F238E27FC236}">
                <a16:creationId xmlns:a16="http://schemas.microsoft.com/office/drawing/2014/main" id="{4D6FB227-935B-4CA4-A73F-DF3D6E28EE9D}"/>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08</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4ccf1167d174233"/>
          <a:stretch xmlns:a="http://schemas.openxmlformats.org/drawingml/2006/main"/>
        </p:blipFill>
        <p:spPr>
          <a:xfrm xmlns:a="http://schemas.openxmlformats.org/drawingml/2006/main">
            <a:off x="685800" y="1355966"/>
            <a:ext cx="6143625" cy="37079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111DFF7-44C6-4E69-ADAD-D5F587C96606}"/>
              </a:ext>
            </a:extLst>
          </p:cNvPr>
          <p:cNvSpPr>
            <a:spLocks xmlns:a="http://schemas.openxmlformats.org/drawingml/2006/main" noGrp="1"/>
          </p:cNvSpPr>
          <p:nvPr/>
        </p:nvSpPr>
        <p:spPr>
          <a:xfrm xmlns:a="http://schemas.openxmlformats.org/drawingml/2006/main">
            <a:off x="1238250" y="5095875"/>
            <a:ext cx="4476750" cy="266700"/>
          </a:xfrm>
          <a:prstGeom xmlns:a="http://schemas.openxmlformats.org/drawingml/2006/main" prst="roundRect">
            <a:avLst>
              <a:gd name="adj" fmla="val 28571"/>
            </a:avLst>
          </a:prstGeom>
          <a:solidFill xmlns:a="http://schemas.openxmlformats.org/drawingml/2006/main">
            <a:srgbClr val="F8EBD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F0E2D9-25EE-4047-859A-B35C5B93216C}"/>
              </a:ext>
            </a:extLst>
          </p:cNvPr>
          <p:cNvSpPr>
            <a:spLocks xmlns:a="http://schemas.openxmlformats.org/drawingml/2006/main" noGrp="1"/>
          </p:cNvSpPr>
          <p:nvPr/>
        </p:nvSpPr>
        <p:spPr>
          <a:xfrm xmlns:a="http://schemas.openxmlformats.org/drawingml/2006/main">
            <a:off x="1314450" y="5124450"/>
            <a:ext cx="432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D98839"/>
                </a:solidFill>
                <a:latin typeface="Yu Gothic"/>
                <a:ea typeface="Yu Gothic"/>
                <a:cs typeface="Yu Gothic"/>
              </a:defRPr>
            </a:pPr>
            <a:r>
              <a:rPr sz="1200" b="1">
                <a:solidFill>
                  <a:srgbClr val="D98839"/>
                </a:solidFill>
                <a:latin typeface="Yu Gothic"/>
                <a:ea typeface="Yu Gothic"/>
                <a:cs typeface="Yu Gothic"/>
              </a:rPr>
              <a:t>代表例：Wheat（図版はWheat subset）</a:t>
            </a:r>
          </a:p>
        </p:txBody>
      </p:sp>
      <p:sp>
        <p:nvSpPr>
          <p:cNvPr id="10" name="">
            <a:extLst xmlns:a="http://schemas.openxmlformats.org/drawingml/2006/main">
              <a:ext uri="{FF2B5EF4-FFF2-40B4-BE49-F238E27FC236}">
                <a16:creationId xmlns:a16="http://schemas.microsoft.com/office/drawing/2014/main" id="{8975226E-3314-49C4-B3D9-8106C27F0B3C}"/>
              </a:ext>
            </a:extLst>
          </p:cNvPr>
          <p:cNvSpPr>
            <a:spLocks xmlns:a="http://schemas.openxmlformats.org/drawingml/2006/main" noGrp="1"/>
          </p:cNvSpPr>
          <p:nvPr/>
        </p:nvSpPr>
        <p:spPr>
          <a:xfrm xmlns:a="http://schemas.openxmlformats.org/drawingml/2006/main">
            <a:off x="7258050" y="1304925"/>
            <a:ext cx="3914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42A43"/>
                </a:solidFill>
                <a:latin typeface="Yu Gothic"/>
                <a:ea typeface="Yu Gothic"/>
                <a:cs typeface="Yu Gothic"/>
              </a:defRPr>
            </a:pPr>
            <a:r>
              <a:rPr sz="1800" b="1">
                <a:solidFill>
                  <a:srgbClr val="142A43"/>
                </a:solidFill>
                <a:latin typeface="Yu Gothic"/>
                <a:ea typeface="Yu Gothic"/>
                <a:cs typeface="Yu Gothic"/>
              </a:rPr>
              <a:t>評価セット：52画像</a:t>
            </a:r>
          </a:p>
        </p:txBody>
      </p:sp>
      <p:sp>
        <p:nvSpPr>
          <p:cNvPr id="11" name="">
            <a:extLst xmlns:a="http://schemas.openxmlformats.org/drawingml/2006/main">
              <a:ext uri="{FF2B5EF4-FFF2-40B4-BE49-F238E27FC236}">
                <a16:creationId xmlns:a16="http://schemas.microsoft.com/office/drawing/2014/main" id="{9FE13120-B747-4236-B03B-D01174FA7D6E}"/>
              </a:ext>
            </a:extLst>
          </p:cNvPr>
          <p:cNvSpPr>
            <a:spLocks xmlns:a="http://schemas.openxmlformats.org/drawingml/2006/main" noGrp="1"/>
          </p:cNvSpPr>
          <p:nvPr/>
        </p:nvSpPr>
        <p:spPr>
          <a:xfrm xmlns:a="http://schemas.openxmlformats.org/drawingml/2006/main">
            <a:off x="7258050" y="1752600"/>
            <a:ext cx="1028700" cy="400050"/>
          </a:xfrm>
          <a:prstGeom xmlns:a="http://schemas.openxmlformats.org/drawingml/2006/main" prst="rect">
            <a:avLst/>
          </a:prstGeom>
          <a:solidFill xmlns:a="http://schemas.openxmlformats.org/drawingml/2006/main">
            <a:srgbClr val="DCEAF4"/>
          </a:solidFill>
          <a:ln xmlns:a="http://schemas.openxmlformats.org/drawingml/2006/main" w="9525">
            <a:solidFill>
              <a:srgbClr val="D9E1E7"/>
            </a:solidFill>
            <a:prstDash val="solid"/>
          </a:ln>
        </p:spPr>
      </p:sp>
      <p:sp>
        <p:nvSpPr>
          <p:cNvPr id="12" name="">
            <a:extLst xmlns:a="http://schemas.openxmlformats.org/drawingml/2006/main">
              <a:ext uri="{FF2B5EF4-FFF2-40B4-BE49-F238E27FC236}">
                <a16:creationId xmlns:a16="http://schemas.microsoft.com/office/drawing/2014/main" id="{0E467DD9-C6B4-44C0-8193-BD356320F334}"/>
              </a:ext>
            </a:extLst>
          </p:cNvPr>
          <p:cNvSpPr>
            <a:spLocks xmlns:a="http://schemas.openxmlformats.org/drawingml/2006/main" noGrp="1"/>
          </p:cNvSpPr>
          <p:nvPr/>
        </p:nvSpPr>
        <p:spPr>
          <a:xfrm xmlns:a="http://schemas.openxmlformats.org/drawingml/2006/main">
            <a:off x="7334250" y="17811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253443"/>
                </a:solidFill>
                <a:latin typeface="Yu Gothic"/>
                <a:ea typeface="Yu Gothic"/>
                <a:cs typeface="Yu Gothic"/>
              </a:defRPr>
            </a:pPr>
            <a:r>
              <a:rPr sz="1200" b="1">
                <a:solidFill>
                  <a:srgbClr val="253443"/>
                </a:solidFill>
                <a:latin typeface="Yu Gothic"/>
                <a:ea typeface="Yu Gothic"/>
                <a:cs typeface="Yu Gothic"/>
              </a:rPr>
              <a:t>Crop</a:t>
            </a:r>
          </a:p>
        </p:txBody>
      </p:sp>
      <p:sp>
        <p:nvSpPr>
          <p:cNvPr id="13" name="">
            <a:extLst xmlns:a="http://schemas.openxmlformats.org/drawingml/2006/main">
              <a:ext uri="{FF2B5EF4-FFF2-40B4-BE49-F238E27FC236}">
                <a16:creationId xmlns:a16="http://schemas.microsoft.com/office/drawing/2014/main" id="{D5006FDD-4BDB-4687-9461-CD2CA51C4455}"/>
              </a:ext>
            </a:extLst>
          </p:cNvPr>
          <p:cNvSpPr>
            <a:spLocks xmlns:a="http://schemas.openxmlformats.org/drawingml/2006/main" noGrp="1"/>
          </p:cNvSpPr>
          <p:nvPr/>
        </p:nvSpPr>
        <p:spPr>
          <a:xfrm xmlns:a="http://schemas.openxmlformats.org/drawingml/2006/main">
            <a:off x="8286750" y="1752600"/>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14" name="">
            <a:extLst xmlns:a="http://schemas.openxmlformats.org/drawingml/2006/main">
              <a:ext uri="{FF2B5EF4-FFF2-40B4-BE49-F238E27FC236}">
                <a16:creationId xmlns:a16="http://schemas.microsoft.com/office/drawing/2014/main" id="{DC5183C1-3688-4D92-B60C-E7BE39D839B9}"/>
              </a:ext>
            </a:extLst>
          </p:cNvPr>
          <p:cNvSpPr>
            <a:spLocks xmlns:a="http://schemas.openxmlformats.org/drawingml/2006/main" noGrp="1"/>
          </p:cNvSpPr>
          <p:nvPr/>
        </p:nvSpPr>
        <p:spPr>
          <a:xfrm xmlns:a="http://schemas.openxmlformats.org/drawingml/2006/main">
            <a:off x="8362950" y="17811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Wheat 20</a:t>
            </a:r>
          </a:p>
        </p:txBody>
      </p:sp>
      <p:sp>
        <p:nvSpPr>
          <p:cNvPr id="15" name="">
            <a:extLst xmlns:a="http://schemas.openxmlformats.org/drawingml/2006/main">
              <a:ext uri="{FF2B5EF4-FFF2-40B4-BE49-F238E27FC236}">
                <a16:creationId xmlns:a16="http://schemas.microsoft.com/office/drawing/2014/main" id="{46092B67-C7B3-46DA-BFD7-2F7B4DCDFFAD}"/>
              </a:ext>
            </a:extLst>
          </p:cNvPr>
          <p:cNvSpPr>
            <a:spLocks xmlns:a="http://schemas.openxmlformats.org/drawingml/2006/main" noGrp="1"/>
          </p:cNvSpPr>
          <p:nvPr/>
        </p:nvSpPr>
        <p:spPr>
          <a:xfrm xmlns:a="http://schemas.openxmlformats.org/drawingml/2006/main">
            <a:off x="9315450" y="1752600"/>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16" name="">
            <a:extLst xmlns:a="http://schemas.openxmlformats.org/drawingml/2006/main">
              <a:ext uri="{FF2B5EF4-FFF2-40B4-BE49-F238E27FC236}">
                <a16:creationId xmlns:a16="http://schemas.microsoft.com/office/drawing/2014/main" id="{D76ED8F1-7318-4C1B-8D21-D51F31A91DA8}"/>
              </a:ext>
            </a:extLst>
          </p:cNvPr>
          <p:cNvSpPr>
            <a:spLocks xmlns:a="http://schemas.openxmlformats.org/drawingml/2006/main" noGrp="1"/>
          </p:cNvSpPr>
          <p:nvPr/>
        </p:nvSpPr>
        <p:spPr>
          <a:xfrm xmlns:a="http://schemas.openxmlformats.org/drawingml/2006/main">
            <a:off x="9391650" y="17811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Oat 16</a:t>
            </a:r>
          </a:p>
        </p:txBody>
      </p:sp>
      <p:sp>
        <p:nvSpPr>
          <p:cNvPr id="17" name="">
            <a:extLst xmlns:a="http://schemas.openxmlformats.org/drawingml/2006/main">
              <a:ext uri="{FF2B5EF4-FFF2-40B4-BE49-F238E27FC236}">
                <a16:creationId xmlns:a16="http://schemas.microsoft.com/office/drawing/2014/main" id="{88152437-C6B3-4A17-BE7A-FB420FBC893A}"/>
              </a:ext>
            </a:extLst>
          </p:cNvPr>
          <p:cNvSpPr>
            <a:spLocks xmlns:a="http://schemas.openxmlformats.org/drawingml/2006/main" noGrp="1"/>
          </p:cNvSpPr>
          <p:nvPr/>
        </p:nvSpPr>
        <p:spPr>
          <a:xfrm xmlns:a="http://schemas.openxmlformats.org/drawingml/2006/main">
            <a:off x="10344150" y="1752600"/>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9497C774-BFF6-4C2F-A871-9BBB941AB252}"/>
              </a:ext>
            </a:extLst>
          </p:cNvPr>
          <p:cNvSpPr>
            <a:spLocks xmlns:a="http://schemas.openxmlformats.org/drawingml/2006/main" noGrp="1"/>
          </p:cNvSpPr>
          <p:nvPr/>
        </p:nvSpPr>
        <p:spPr>
          <a:xfrm xmlns:a="http://schemas.openxmlformats.org/drawingml/2006/main">
            <a:off x="10420350" y="17811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Corn 16</a:t>
            </a:r>
          </a:p>
        </p:txBody>
      </p:sp>
      <p:sp>
        <p:nvSpPr>
          <p:cNvPr id="19" name="">
            <a:extLst xmlns:a="http://schemas.openxmlformats.org/drawingml/2006/main">
              <a:ext uri="{FF2B5EF4-FFF2-40B4-BE49-F238E27FC236}">
                <a16:creationId xmlns:a16="http://schemas.microsoft.com/office/drawing/2014/main" id="{6F74E9BB-6DBB-40FF-8A67-5AE3FF1AB032}"/>
              </a:ext>
            </a:extLst>
          </p:cNvPr>
          <p:cNvSpPr>
            <a:spLocks xmlns:a="http://schemas.openxmlformats.org/drawingml/2006/main" noGrp="1"/>
          </p:cNvSpPr>
          <p:nvPr/>
        </p:nvSpPr>
        <p:spPr>
          <a:xfrm xmlns:a="http://schemas.openxmlformats.org/drawingml/2006/main">
            <a:off x="7258050" y="2162175"/>
            <a:ext cx="1028700" cy="400050"/>
          </a:xfrm>
          <a:prstGeom xmlns:a="http://schemas.openxmlformats.org/drawingml/2006/main" prst="rect">
            <a:avLst/>
          </a:prstGeom>
          <a:solidFill xmlns:a="http://schemas.openxmlformats.org/drawingml/2006/main">
            <a:srgbClr val="DCEAF4"/>
          </a:solidFill>
          <a:ln xmlns:a="http://schemas.openxmlformats.org/drawingml/2006/main" w="9525">
            <a:solidFill>
              <a:srgbClr val="D9E1E7"/>
            </a:solidFill>
            <a:prstDash val="solid"/>
          </a:ln>
        </p:spPr>
      </p:sp>
      <p:sp>
        <p:nvSpPr>
          <p:cNvPr id="20" name="">
            <a:extLst xmlns:a="http://schemas.openxmlformats.org/drawingml/2006/main">
              <a:ext uri="{FF2B5EF4-FFF2-40B4-BE49-F238E27FC236}">
                <a16:creationId xmlns:a16="http://schemas.microsoft.com/office/drawing/2014/main" id="{9958457B-F370-4632-8542-DFE292CFDE8F}"/>
              </a:ext>
            </a:extLst>
          </p:cNvPr>
          <p:cNvSpPr>
            <a:spLocks xmlns:a="http://schemas.openxmlformats.org/drawingml/2006/main" noGrp="1"/>
          </p:cNvSpPr>
          <p:nvPr/>
        </p:nvSpPr>
        <p:spPr>
          <a:xfrm xmlns:a="http://schemas.openxmlformats.org/drawingml/2006/main">
            <a:off x="7334250" y="21907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253443"/>
                </a:solidFill>
                <a:latin typeface="Yu Gothic"/>
                <a:ea typeface="Yu Gothic"/>
                <a:cs typeface="Yu Gothic"/>
              </a:defRPr>
            </a:pPr>
            <a:r>
              <a:rPr sz="1200" b="1">
                <a:solidFill>
                  <a:srgbClr val="253443"/>
                </a:solidFill>
                <a:latin typeface="Yu Gothic"/>
                <a:ea typeface="Yu Gothic"/>
                <a:cs typeface="Yu Gothic"/>
              </a:rPr>
              <a:t>View</a:t>
            </a:r>
          </a:p>
        </p:txBody>
      </p:sp>
      <p:sp>
        <p:nvSpPr>
          <p:cNvPr id="21" name="">
            <a:extLst xmlns:a="http://schemas.openxmlformats.org/drawingml/2006/main">
              <a:ext uri="{FF2B5EF4-FFF2-40B4-BE49-F238E27FC236}">
                <a16:creationId xmlns:a16="http://schemas.microsoft.com/office/drawing/2014/main" id="{2D31759D-6D2D-48D1-B44A-87A04D131D2E}"/>
              </a:ext>
            </a:extLst>
          </p:cNvPr>
          <p:cNvSpPr>
            <a:spLocks xmlns:a="http://schemas.openxmlformats.org/drawingml/2006/main" noGrp="1"/>
          </p:cNvSpPr>
          <p:nvPr/>
        </p:nvSpPr>
        <p:spPr>
          <a:xfrm xmlns:a="http://schemas.openxmlformats.org/drawingml/2006/main">
            <a:off x="8286750" y="2162175"/>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2" name="">
            <a:extLst xmlns:a="http://schemas.openxmlformats.org/drawingml/2006/main">
              <a:ext uri="{FF2B5EF4-FFF2-40B4-BE49-F238E27FC236}">
                <a16:creationId xmlns:a16="http://schemas.microsoft.com/office/drawing/2014/main" id="{6EA3EFB0-E8E3-470D-855B-14180B3DF35C}"/>
              </a:ext>
            </a:extLst>
          </p:cNvPr>
          <p:cNvSpPr>
            <a:spLocks xmlns:a="http://schemas.openxmlformats.org/drawingml/2006/main" noGrp="1"/>
          </p:cNvSpPr>
          <p:nvPr/>
        </p:nvSpPr>
        <p:spPr>
          <a:xfrm xmlns:a="http://schemas.openxmlformats.org/drawingml/2006/main">
            <a:off x="8362950" y="21907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Nadir 26</a:t>
            </a:r>
          </a:p>
        </p:txBody>
      </p:sp>
      <p:sp>
        <p:nvSpPr>
          <p:cNvPr id="23" name="">
            <a:extLst xmlns:a="http://schemas.openxmlformats.org/drawingml/2006/main">
              <a:ext uri="{FF2B5EF4-FFF2-40B4-BE49-F238E27FC236}">
                <a16:creationId xmlns:a16="http://schemas.microsoft.com/office/drawing/2014/main" id="{8DB3B38E-E428-4617-875C-188F9750294A}"/>
              </a:ext>
            </a:extLst>
          </p:cNvPr>
          <p:cNvSpPr>
            <a:spLocks xmlns:a="http://schemas.openxmlformats.org/drawingml/2006/main" noGrp="1"/>
          </p:cNvSpPr>
          <p:nvPr/>
        </p:nvSpPr>
        <p:spPr>
          <a:xfrm xmlns:a="http://schemas.openxmlformats.org/drawingml/2006/main">
            <a:off x="9315450" y="2162175"/>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4" name="">
            <a:extLst xmlns:a="http://schemas.openxmlformats.org/drawingml/2006/main">
              <a:ext uri="{FF2B5EF4-FFF2-40B4-BE49-F238E27FC236}">
                <a16:creationId xmlns:a16="http://schemas.microsoft.com/office/drawing/2014/main" id="{EA0FCEEB-313D-4C5D-B129-1882EC0CB1C1}"/>
              </a:ext>
            </a:extLst>
          </p:cNvPr>
          <p:cNvSpPr>
            <a:spLocks xmlns:a="http://schemas.openxmlformats.org/drawingml/2006/main" noGrp="1"/>
          </p:cNvSpPr>
          <p:nvPr/>
        </p:nvSpPr>
        <p:spPr>
          <a:xfrm xmlns:a="http://schemas.openxmlformats.org/drawingml/2006/main">
            <a:off x="9391650" y="21907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Oblique 26</a:t>
            </a:r>
          </a:p>
        </p:txBody>
      </p:sp>
      <p:sp>
        <p:nvSpPr>
          <p:cNvPr id="25" name="">
            <a:extLst xmlns:a="http://schemas.openxmlformats.org/drawingml/2006/main">
              <a:ext uri="{FF2B5EF4-FFF2-40B4-BE49-F238E27FC236}">
                <a16:creationId xmlns:a16="http://schemas.microsoft.com/office/drawing/2014/main" id="{9C6ABAE6-C00D-4D50-A897-39114BAC4B93}"/>
              </a:ext>
            </a:extLst>
          </p:cNvPr>
          <p:cNvSpPr>
            <a:spLocks xmlns:a="http://schemas.openxmlformats.org/drawingml/2006/main" noGrp="1"/>
          </p:cNvSpPr>
          <p:nvPr/>
        </p:nvSpPr>
        <p:spPr>
          <a:xfrm xmlns:a="http://schemas.openxmlformats.org/drawingml/2006/main">
            <a:off x="10344150" y="2162175"/>
            <a:ext cx="10287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6" name="">
            <a:extLst xmlns:a="http://schemas.openxmlformats.org/drawingml/2006/main">
              <a:ext uri="{FF2B5EF4-FFF2-40B4-BE49-F238E27FC236}">
                <a16:creationId xmlns:a16="http://schemas.microsoft.com/office/drawing/2014/main" id="{50372218-A35F-4382-A9B3-D658B90C659E}"/>
              </a:ext>
            </a:extLst>
          </p:cNvPr>
          <p:cNvSpPr>
            <a:spLocks xmlns:a="http://schemas.openxmlformats.org/drawingml/2006/main" noGrp="1"/>
          </p:cNvSpPr>
          <p:nvPr/>
        </p:nvSpPr>
        <p:spPr>
          <a:xfrm xmlns:a="http://schemas.openxmlformats.org/drawingml/2006/main">
            <a:off x="10420350" y="21907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Total 52</a:t>
            </a:r>
          </a:p>
        </p:txBody>
      </p:sp>
      <p:sp>
        <p:nvSpPr>
          <p:cNvPr id="27" name="">
            <a:extLst xmlns:a="http://schemas.openxmlformats.org/drawingml/2006/main">
              <a:ext uri="{FF2B5EF4-FFF2-40B4-BE49-F238E27FC236}">
                <a16:creationId xmlns:a16="http://schemas.microsoft.com/office/drawing/2014/main" id="{0E82B38A-AA45-45C8-BC57-A12EB62ECF59}"/>
              </a:ext>
            </a:extLst>
          </p:cNvPr>
          <p:cNvSpPr>
            <a:spLocks xmlns:a="http://schemas.openxmlformats.org/drawingml/2006/main" noGrp="1"/>
          </p:cNvSpPr>
          <p:nvPr/>
        </p:nvSpPr>
        <p:spPr>
          <a:xfrm xmlns:a="http://schemas.openxmlformats.org/drawingml/2006/main">
            <a:off x="7258050" y="2876550"/>
            <a:ext cx="1190625" cy="1066800"/>
          </a:xfrm>
          <a:prstGeom xmlns:a="http://schemas.openxmlformats.org/drawingml/2006/main" prst="roundRect">
            <a:avLst>
              <a:gd name="adj" fmla="val 7143"/>
            </a:avLst>
          </a:prstGeom>
          <a:solidFill xmlns:a="http://schemas.openxmlformats.org/drawingml/2006/main">
            <a:srgbClr val="F7E8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F30CBC9-7AD6-47C7-9AFA-0683F5E23185}"/>
              </a:ext>
            </a:extLst>
          </p:cNvPr>
          <p:cNvSpPr>
            <a:spLocks xmlns:a="http://schemas.openxmlformats.org/drawingml/2006/main" noGrp="1"/>
          </p:cNvSpPr>
          <p:nvPr/>
        </p:nvSpPr>
        <p:spPr>
          <a:xfrm xmlns:a="http://schemas.openxmlformats.org/drawingml/2006/main">
            <a:off x="7372350" y="2933700"/>
            <a:ext cx="96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MAE</a:t>
            </a:r>
          </a:p>
        </p:txBody>
      </p:sp>
      <p:sp>
        <p:nvSpPr>
          <p:cNvPr id="29" name="">
            <a:extLst xmlns:a="http://schemas.openxmlformats.org/drawingml/2006/main">
              <a:ext uri="{FF2B5EF4-FFF2-40B4-BE49-F238E27FC236}">
                <a16:creationId xmlns:a16="http://schemas.microsoft.com/office/drawing/2014/main" id="{0C8FBDD9-2F41-45B1-8694-F0552AE0F752}"/>
              </a:ext>
            </a:extLst>
          </p:cNvPr>
          <p:cNvSpPr>
            <a:spLocks xmlns:a="http://schemas.openxmlformats.org/drawingml/2006/main" noGrp="1"/>
          </p:cNvSpPr>
          <p:nvPr/>
        </p:nvSpPr>
        <p:spPr>
          <a:xfrm xmlns:a="http://schemas.openxmlformats.org/drawingml/2006/main">
            <a:off x="7372350" y="3152775"/>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B54747"/>
                </a:solidFill>
                <a:latin typeface="Yu Gothic"/>
                <a:ea typeface="Yu Gothic"/>
                <a:cs typeface="Yu Gothic"/>
              </a:defRPr>
            </a:pPr>
            <a:r>
              <a:rPr sz="2250" b="1">
                <a:solidFill>
                  <a:srgbClr val="B54747"/>
                </a:solidFill>
                <a:latin typeface="Yu Gothic"/>
                <a:ea typeface="Yu Gothic"/>
                <a:cs typeface="Yu Gothic"/>
              </a:rPr>
              <a:t>13.579</a:t>
            </a:r>
          </a:p>
        </p:txBody>
      </p:sp>
      <p:sp>
        <p:nvSpPr>
          <p:cNvPr id="30" name="">
            <a:extLst xmlns:a="http://schemas.openxmlformats.org/drawingml/2006/main">
              <a:ext uri="{FF2B5EF4-FFF2-40B4-BE49-F238E27FC236}">
                <a16:creationId xmlns:a16="http://schemas.microsoft.com/office/drawing/2014/main" id="{B333D70E-C5FF-4791-B1BD-43CE7F3B2778}"/>
              </a:ext>
            </a:extLst>
          </p:cNvPr>
          <p:cNvSpPr>
            <a:spLocks xmlns:a="http://schemas.openxmlformats.org/drawingml/2006/main" noGrp="1"/>
          </p:cNvSpPr>
          <p:nvPr/>
        </p:nvSpPr>
        <p:spPr>
          <a:xfrm xmlns:a="http://schemas.openxmlformats.org/drawingml/2006/main">
            <a:off x="7372350" y="3762375"/>
            <a:ext cx="9620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31" name="">
            <a:extLst xmlns:a="http://schemas.openxmlformats.org/drawingml/2006/main">
              <a:ext uri="{FF2B5EF4-FFF2-40B4-BE49-F238E27FC236}">
                <a16:creationId xmlns:a16="http://schemas.microsoft.com/office/drawing/2014/main" id="{32FBE687-1A79-488C-B54D-FEFBF756F075}"/>
              </a:ext>
            </a:extLst>
          </p:cNvPr>
          <p:cNvSpPr>
            <a:spLocks xmlns:a="http://schemas.openxmlformats.org/drawingml/2006/main" noGrp="1"/>
          </p:cNvSpPr>
          <p:nvPr/>
        </p:nvSpPr>
        <p:spPr>
          <a:xfrm xmlns:a="http://schemas.openxmlformats.org/drawingml/2006/main">
            <a:off x="8543925" y="2876550"/>
            <a:ext cx="1190625" cy="1066800"/>
          </a:xfrm>
          <a:prstGeom xmlns:a="http://schemas.openxmlformats.org/drawingml/2006/main" prst="roundRect">
            <a:avLst>
              <a:gd name="adj" fmla="val 7143"/>
            </a:avLst>
          </a:prstGeom>
          <a:solidFill xmlns:a="http://schemas.openxmlformats.org/drawingml/2006/main">
            <a:srgbClr val="F4F7F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D258AA-F07F-45E2-9494-E1AC42D60E0A}"/>
              </a:ext>
            </a:extLst>
          </p:cNvPr>
          <p:cNvSpPr>
            <a:spLocks xmlns:a="http://schemas.openxmlformats.org/drawingml/2006/main" noGrp="1"/>
          </p:cNvSpPr>
          <p:nvPr/>
        </p:nvSpPr>
        <p:spPr>
          <a:xfrm xmlns:a="http://schemas.openxmlformats.org/drawingml/2006/main">
            <a:off x="8658225" y="2933700"/>
            <a:ext cx="962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RMSE</a:t>
            </a:r>
          </a:p>
        </p:txBody>
      </p:sp>
      <p:sp>
        <p:nvSpPr>
          <p:cNvPr id="33" name="">
            <a:extLst xmlns:a="http://schemas.openxmlformats.org/drawingml/2006/main">
              <a:ext uri="{FF2B5EF4-FFF2-40B4-BE49-F238E27FC236}">
                <a16:creationId xmlns:a16="http://schemas.microsoft.com/office/drawing/2014/main" id="{E9D100F9-9948-41C4-850B-718286FF87C2}"/>
              </a:ext>
            </a:extLst>
          </p:cNvPr>
          <p:cNvSpPr>
            <a:spLocks xmlns:a="http://schemas.openxmlformats.org/drawingml/2006/main" noGrp="1"/>
          </p:cNvSpPr>
          <p:nvPr/>
        </p:nvSpPr>
        <p:spPr>
          <a:xfrm xmlns:a="http://schemas.openxmlformats.org/drawingml/2006/main">
            <a:off x="8658225" y="3152775"/>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14.714</a:t>
            </a:r>
          </a:p>
        </p:txBody>
      </p:sp>
      <p:sp>
        <p:nvSpPr>
          <p:cNvPr id="34" name="">
            <a:extLst xmlns:a="http://schemas.openxmlformats.org/drawingml/2006/main">
              <a:ext uri="{FF2B5EF4-FFF2-40B4-BE49-F238E27FC236}">
                <a16:creationId xmlns:a16="http://schemas.microsoft.com/office/drawing/2014/main" id="{7B44EC72-A22A-401D-9E69-C644226E7434}"/>
              </a:ext>
            </a:extLst>
          </p:cNvPr>
          <p:cNvSpPr>
            <a:spLocks xmlns:a="http://schemas.openxmlformats.org/drawingml/2006/main" noGrp="1"/>
          </p:cNvSpPr>
          <p:nvPr/>
        </p:nvSpPr>
        <p:spPr>
          <a:xfrm xmlns:a="http://schemas.openxmlformats.org/drawingml/2006/main">
            <a:off x="8658225" y="3762375"/>
            <a:ext cx="9620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m</a:t>
            </a:r>
          </a:p>
        </p:txBody>
      </p:sp>
      <p:sp>
        <p:nvSpPr>
          <p:cNvPr id="35" name="">
            <a:extLst xmlns:a="http://schemas.openxmlformats.org/drawingml/2006/main">
              <a:ext uri="{FF2B5EF4-FFF2-40B4-BE49-F238E27FC236}">
                <a16:creationId xmlns:a16="http://schemas.microsoft.com/office/drawing/2014/main" id="{78683BCB-75E8-40DF-823B-03EF1E2662F6}"/>
              </a:ext>
            </a:extLst>
          </p:cNvPr>
          <p:cNvSpPr>
            <a:spLocks xmlns:a="http://schemas.openxmlformats.org/drawingml/2006/main" noGrp="1"/>
          </p:cNvSpPr>
          <p:nvPr/>
        </p:nvSpPr>
        <p:spPr>
          <a:xfrm xmlns:a="http://schemas.openxmlformats.org/drawingml/2006/main">
            <a:off x="9829800" y="2876550"/>
            <a:ext cx="1381125" cy="1066800"/>
          </a:xfrm>
          <a:prstGeom xmlns:a="http://schemas.openxmlformats.org/drawingml/2006/main" prst="roundRect">
            <a:avLst>
              <a:gd name="adj" fmla="val 7143"/>
            </a:avLst>
          </a:prstGeom>
          <a:solidFill xmlns:a="http://schemas.openxmlformats.org/drawingml/2006/main">
            <a:srgbClr val="F4F7F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8BCD9B8-9985-4C65-A81D-B6B7A87F9D7E}"/>
              </a:ext>
            </a:extLst>
          </p:cNvPr>
          <p:cNvSpPr>
            <a:spLocks xmlns:a="http://schemas.openxmlformats.org/drawingml/2006/main" noGrp="1"/>
          </p:cNvSpPr>
          <p:nvPr/>
        </p:nvSpPr>
        <p:spPr>
          <a:xfrm xmlns:a="http://schemas.openxmlformats.org/drawingml/2006/main">
            <a:off x="9944100" y="2933700"/>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AbsRel</a:t>
            </a:r>
          </a:p>
        </p:txBody>
      </p:sp>
      <p:sp>
        <p:nvSpPr>
          <p:cNvPr id="37" name="">
            <a:extLst xmlns:a="http://schemas.openxmlformats.org/drawingml/2006/main">
              <a:ext uri="{FF2B5EF4-FFF2-40B4-BE49-F238E27FC236}">
                <a16:creationId xmlns:a16="http://schemas.microsoft.com/office/drawing/2014/main" id="{A8E7C648-117F-4002-9E2B-85D534AA258C}"/>
              </a:ext>
            </a:extLst>
          </p:cNvPr>
          <p:cNvSpPr>
            <a:spLocks xmlns:a="http://schemas.openxmlformats.org/drawingml/2006/main" noGrp="1"/>
          </p:cNvSpPr>
          <p:nvPr/>
        </p:nvSpPr>
        <p:spPr>
          <a:xfrm xmlns:a="http://schemas.openxmlformats.org/drawingml/2006/main">
            <a:off x="9944100" y="3152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42A43"/>
                </a:solidFill>
                <a:latin typeface="Yu Gothic"/>
                <a:ea typeface="Yu Gothic"/>
                <a:cs typeface="Yu Gothic"/>
              </a:defRPr>
            </a:pPr>
            <a:r>
              <a:rPr sz="2250" b="1">
                <a:solidFill>
                  <a:srgbClr val="142A43"/>
                </a:solidFill>
                <a:latin typeface="Yu Gothic"/>
                <a:ea typeface="Yu Gothic"/>
                <a:cs typeface="Yu Gothic"/>
              </a:rPr>
              <a:t>0.657</a:t>
            </a:r>
          </a:p>
        </p:txBody>
      </p:sp>
      <p:sp>
        <p:nvSpPr>
          <p:cNvPr id="38" name="">
            <a:extLst xmlns:a="http://schemas.openxmlformats.org/drawingml/2006/main">
              <a:ext uri="{FF2B5EF4-FFF2-40B4-BE49-F238E27FC236}">
                <a16:creationId xmlns:a16="http://schemas.microsoft.com/office/drawing/2014/main" id="{68028BF0-4C4A-4C8B-A439-9D1F658E8642}"/>
              </a:ext>
            </a:extLst>
          </p:cNvPr>
          <p:cNvSpPr>
            <a:spLocks xmlns:a="http://schemas.openxmlformats.org/drawingml/2006/main" noGrp="1"/>
          </p:cNvSpPr>
          <p:nvPr/>
        </p:nvSpPr>
        <p:spPr>
          <a:xfrm xmlns:a="http://schemas.openxmlformats.org/drawingml/2006/main">
            <a:off x="7239000" y="4114800"/>
            <a:ext cx="4000500" cy="800100"/>
          </a:xfrm>
          <a:prstGeom xmlns:a="http://schemas.openxmlformats.org/drawingml/2006/main" prst="roundRect">
            <a:avLst>
              <a:gd name="adj" fmla="val 9524"/>
            </a:avLst>
          </a:prstGeom>
          <a:solidFill xmlns:a="http://schemas.openxmlformats.org/drawingml/2006/main">
            <a:srgbClr val="F7E8E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7C4A213-0044-4E80-AACC-306C573EDCFF}"/>
              </a:ext>
            </a:extLst>
          </p:cNvPr>
          <p:cNvSpPr>
            <a:spLocks xmlns:a="http://schemas.openxmlformats.org/drawingml/2006/main" noGrp="1"/>
          </p:cNvSpPr>
          <p:nvPr/>
        </p:nvSpPr>
        <p:spPr>
          <a:xfrm xmlns:a="http://schemas.openxmlformats.org/drawingml/2006/main">
            <a:off x="7458075" y="4200525"/>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507"/>
          </a:bodyPr>
          <a:lstStyle xmlns:a="http://schemas.openxmlformats.org/drawingml/2006/main"/>
          <a:p xmlns:a="http://schemas.openxmlformats.org/drawingml/2006/main">
            <a:pPr algn="ctr">
              <a:lnSpc>
                <a:spcPct val="100000"/>
              </a:lnSpc>
              <a:buNone/>
              <a:defRPr sz="1575" b="1">
                <a:solidFill>
                  <a:srgbClr val="B54747"/>
                </a:solidFill>
                <a:latin typeface="Yu Gothic"/>
                <a:ea typeface="Yu Gothic"/>
                <a:cs typeface="Yu Gothic"/>
              </a:defRPr>
            </a:pPr>
            <a:r>
              <a:rPr sz="1575" b="1">
                <a:solidFill>
                  <a:srgbClr val="B54747"/>
                </a:solidFill>
                <a:latin typeface="Yu Gothic"/>
                <a:ea typeface="Yu Gothic"/>
                <a:cs typeface="Yu Gothic"/>
              </a:rPr>
              <a:t>Bias −13.579 m</a:t>
            </a:r>
          </a:p>
          <a:p xmlns:a="http://schemas.openxmlformats.org/drawingml/2006/main">
            <a:pPr algn="ctr">
              <a:lnSpc>
                <a:spcPct val="100000"/>
              </a:lnSpc>
              <a:buNone/>
              <a:defRPr sz="1575" b="1">
                <a:solidFill>
                  <a:srgbClr val="B54747"/>
                </a:solidFill>
                <a:latin typeface="Yu Gothic"/>
                <a:ea typeface="Yu Gothic"/>
                <a:cs typeface="Yu Gothic"/>
              </a:defRPr>
            </a:pPr>
            <a:r>
              <a:rPr sz="1575" b="1">
                <a:solidFill>
                  <a:srgbClr val="B54747"/>
                </a:solidFill>
                <a:latin typeface="Yu Gothic"/>
                <a:ea typeface="Yu Gothic"/>
                <a:cs typeface="Yu Gothic"/>
              </a:rPr>
              <a:t>raw metric depthの大きなdomain bias</a:t>
            </a:r>
          </a:p>
        </p:txBody>
      </p:sp>
      <p:sp>
        <p:nvSpPr>
          <p:cNvPr id="40" name="">
            <a:extLst xmlns:a="http://schemas.openxmlformats.org/drawingml/2006/main">
              <a:ext uri="{FF2B5EF4-FFF2-40B4-BE49-F238E27FC236}">
                <a16:creationId xmlns:a16="http://schemas.microsoft.com/office/drawing/2014/main" id="{0F64A382-B317-4F1D-B90A-80CB987352AB}"/>
              </a:ext>
            </a:extLst>
          </p:cNvPr>
          <p:cNvSpPr>
            <a:spLocks xmlns:a="http://schemas.openxmlformats.org/drawingml/2006/main" noGrp="1"/>
          </p:cNvSpPr>
          <p:nvPr/>
        </p:nvSpPr>
        <p:spPr>
          <a:xfrm xmlns:a="http://schemas.openxmlformats.org/drawingml/2006/main">
            <a:off x="7248525" y="5162550"/>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253443"/>
                </a:solidFill>
                <a:latin typeface="Yu Gothic"/>
                <a:ea typeface="Yu Gothic"/>
                <a:cs typeface="Yu Gothic"/>
              </a:defRPr>
            </a:pPr>
            <a:r>
              <a:rPr sz="1350" b="1">
                <a:solidFill>
                  <a:srgbClr val="253443"/>
                </a:solidFill>
                <a:latin typeface="Yu Gothic"/>
                <a:ea typeface="Yu Gothic"/>
                <a:cs typeface="Yu Gothic"/>
              </a:rPr>
              <a:t>KITTIとの順位付けではなく、撮影視点・作物domainで性能が大きく変化した結果。</a:t>
            </a:r>
          </a:p>
        </p:txBody>
      </p:sp>
    </p:spTree>
    <p:extLst>
      <p:ext uri="{BB962C8B-B14F-4D97-AF65-F5344CB8AC3E}">
        <p14:creationId xmlns:p14="http://schemas.microsoft.com/office/powerpoint/2010/main" val="19350212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7C976DD-E091-427B-B0F4-71730EF5C1E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BE8555-7E40-46EB-95CD-1426441C9D11}"/>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Local Depth Differenceの落とし穴</a:t>
            </a:r>
          </a:p>
        </p:txBody>
      </p:sp>
      <p:sp>
        <p:nvSpPr>
          <p:cNvPr id="3" name="">
            <a:extLst xmlns:a="http://schemas.openxmlformats.org/drawingml/2006/main">
              <a:ext uri="{FF2B5EF4-FFF2-40B4-BE49-F238E27FC236}">
                <a16:creationId xmlns:a16="http://schemas.microsoft.com/office/drawing/2014/main" id="{4569B455-76A7-4329-9409-0360A3EAF9C9}"/>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2B2071-CFB5-4C29-8566-7950D3B6C603}"/>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DBE3B1-800D-4C2D-A36F-F88F8694A55B}"/>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UAV3DCrop all, 52 images; pair-pooled 32 px pairs, n=1,040,000.</a:t>
            </a:r>
          </a:p>
        </p:txBody>
      </p:sp>
      <p:sp>
        <p:nvSpPr>
          <p:cNvPr id="6" name="">
            <a:extLst xmlns:a="http://schemas.openxmlformats.org/drawingml/2006/main">
              <a:ext uri="{FF2B5EF4-FFF2-40B4-BE49-F238E27FC236}">
                <a16:creationId xmlns:a16="http://schemas.microsoft.com/office/drawing/2014/main" id="{0067917C-F16D-4A39-AA7C-24FC29148A5C}"/>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09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dc04703425d4623"/>
          <a:stretch xmlns:a="http://schemas.openxmlformats.org/drawingml/2006/main"/>
        </p:blipFill>
        <p:spPr>
          <a:xfrm xmlns:a="http://schemas.openxmlformats.org/drawingml/2006/main">
            <a:off x="628650" y="1460183"/>
            <a:ext cx="5372100" cy="322326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2677458-9E1C-4609-993D-D26E81577833}"/>
              </a:ext>
            </a:extLst>
          </p:cNvPr>
          <p:cNvSpPr>
            <a:spLocks xmlns:a="http://schemas.openxmlformats.org/drawingml/2006/main" noGrp="1"/>
          </p:cNvSpPr>
          <p:nvPr/>
        </p:nvSpPr>
        <p:spPr>
          <a:xfrm xmlns:a="http://schemas.openxmlformats.org/drawingml/2006/main">
            <a:off x="6400800" y="1362075"/>
            <a:ext cx="452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42A43"/>
                </a:solidFill>
                <a:latin typeface="Yu Gothic"/>
                <a:ea typeface="Yu Gothic"/>
                <a:cs typeface="Yu Gothic"/>
              </a:defRPr>
            </a:pPr>
            <a:r>
              <a:rPr sz="1575" b="1">
                <a:solidFill>
                  <a:srgbClr val="142A43"/>
                </a:solidFill>
                <a:latin typeface="Yu Gothic"/>
                <a:ea typeface="Yu Gothic"/>
                <a:cs typeface="Yu Gothic"/>
              </a:rPr>
              <a:t>32 px pair（m）</a:t>
            </a:r>
          </a:p>
        </p:txBody>
      </p:sp>
      <p:sp>
        <p:nvSpPr>
          <p:cNvPr id="9" name="">
            <a:extLst xmlns:a="http://schemas.openxmlformats.org/drawingml/2006/main">
              <a:ext uri="{FF2B5EF4-FFF2-40B4-BE49-F238E27FC236}">
                <a16:creationId xmlns:a16="http://schemas.microsoft.com/office/drawing/2014/main" id="{C96516A5-21E9-4B36-B2D1-9147C2EC4FA9}"/>
              </a:ext>
            </a:extLst>
          </p:cNvPr>
          <p:cNvSpPr>
            <a:spLocks xmlns:a="http://schemas.openxmlformats.org/drawingml/2006/main" noGrp="1"/>
          </p:cNvSpPr>
          <p:nvPr/>
        </p:nvSpPr>
        <p:spPr>
          <a:xfrm xmlns:a="http://schemas.openxmlformats.org/drawingml/2006/main">
            <a:off x="6400800" y="1733550"/>
            <a:ext cx="2238375" cy="371475"/>
          </a:xfrm>
          <a:prstGeom xmlns:a="http://schemas.openxmlformats.org/drawingml/2006/main" prst="rect">
            <a:avLst/>
          </a:prstGeom>
          <a:solidFill xmlns:a="http://schemas.openxmlformats.org/drawingml/2006/main">
            <a:srgbClr val="142A43"/>
          </a:solidFill>
          <a:ln xmlns:a="http://schemas.openxmlformats.org/drawingml/2006/main" w="9525">
            <a:solidFill>
              <a:srgbClr val="D9E1E7"/>
            </a:solidFill>
            <a:prstDash val="solid"/>
          </a:ln>
        </p:spPr>
      </p:sp>
      <p:sp>
        <p:nvSpPr>
          <p:cNvPr id="10" name="">
            <a:extLst xmlns:a="http://schemas.openxmlformats.org/drawingml/2006/main">
              <a:ext uri="{FF2B5EF4-FFF2-40B4-BE49-F238E27FC236}">
                <a16:creationId xmlns:a16="http://schemas.microsoft.com/office/drawing/2014/main" id="{7EC649F7-1A40-44D7-B2E7-44D04073667C}"/>
              </a:ext>
            </a:extLst>
          </p:cNvPr>
          <p:cNvSpPr>
            <a:spLocks xmlns:a="http://schemas.openxmlformats.org/drawingml/2006/main" noGrp="1"/>
          </p:cNvSpPr>
          <p:nvPr/>
        </p:nvSpPr>
        <p:spPr>
          <a:xfrm xmlns:a="http://schemas.openxmlformats.org/drawingml/2006/main">
            <a:off x="6477000" y="1762125"/>
            <a:ext cx="20859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Yu Gothic"/>
                <a:ea typeface="Yu Gothic"/>
                <a:cs typeface="Yu Gothic"/>
              </a:defRPr>
            </a:pPr>
            <a:r>
              <a:rPr sz="1275" b="1">
                <a:solidFill>
                  <a:srgbClr val="FFFFFF"/>
                </a:solidFill>
                <a:latin typeface="Yu Gothic"/>
                <a:ea typeface="Yu Gothic"/>
                <a:cs typeface="Yu Gothic"/>
              </a:rPr>
              <a:t>指標</a:t>
            </a:r>
          </a:p>
        </p:txBody>
      </p:sp>
      <p:sp>
        <p:nvSpPr>
          <p:cNvPr id="11" name="">
            <a:extLst xmlns:a="http://schemas.openxmlformats.org/drawingml/2006/main">
              <a:ext uri="{FF2B5EF4-FFF2-40B4-BE49-F238E27FC236}">
                <a16:creationId xmlns:a16="http://schemas.microsoft.com/office/drawing/2014/main" id="{91ACBC5D-6943-4C6E-9E48-057C88A5A20E}"/>
              </a:ext>
            </a:extLst>
          </p:cNvPr>
          <p:cNvSpPr>
            <a:spLocks xmlns:a="http://schemas.openxmlformats.org/drawingml/2006/main" noGrp="1"/>
          </p:cNvSpPr>
          <p:nvPr/>
        </p:nvSpPr>
        <p:spPr>
          <a:xfrm xmlns:a="http://schemas.openxmlformats.org/drawingml/2006/main">
            <a:off x="8639175" y="1733550"/>
            <a:ext cx="2238375" cy="371475"/>
          </a:xfrm>
          <a:prstGeom xmlns:a="http://schemas.openxmlformats.org/drawingml/2006/main" prst="rect">
            <a:avLst/>
          </a:prstGeom>
          <a:solidFill xmlns:a="http://schemas.openxmlformats.org/drawingml/2006/main">
            <a:srgbClr val="142A43"/>
          </a:solidFill>
          <a:ln xmlns:a="http://schemas.openxmlformats.org/drawingml/2006/main" w="9525">
            <a:solidFill>
              <a:srgbClr val="D9E1E7"/>
            </a:solidFill>
            <a:prstDash val="solid"/>
          </a:ln>
        </p:spPr>
      </p:sp>
      <p:sp>
        <p:nvSpPr>
          <p:cNvPr id="12" name="">
            <a:extLst xmlns:a="http://schemas.openxmlformats.org/drawingml/2006/main">
              <a:ext uri="{FF2B5EF4-FFF2-40B4-BE49-F238E27FC236}">
                <a16:creationId xmlns:a16="http://schemas.microsoft.com/office/drawing/2014/main" id="{9B19ADDE-3B26-426B-A16F-48715D1C6165}"/>
              </a:ext>
            </a:extLst>
          </p:cNvPr>
          <p:cNvSpPr>
            <a:spLocks xmlns:a="http://schemas.openxmlformats.org/drawingml/2006/main" noGrp="1"/>
          </p:cNvSpPr>
          <p:nvPr/>
        </p:nvSpPr>
        <p:spPr>
          <a:xfrm xmlns:a="http://schemas.openxmlformats.org/drawingml/2006/main">
            <a:off x="8715375" y="1762125"/>
            <a:ext cx="20859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75" b="1">
                <a:solidFill>
                  <a:srgbClr val="FFFFFF"/>
                </a:solidFill>
                <a:latin typeface="Yu Gothic"/>
                <a:ea typeface="Yu Gothic"/>
                <a:cs typeface="Yu Gothic"/>
              </a:defRPr>
            </a:pPr>
            <a:r>
              <a:rPr sz="1275" b="1">
                <a:solidFill>
                  <a:srgbClr val="FFFFFF"/>
                </a:solidFill>
                <a:latin typeface="Yu Gothic"/>
                <a:ea typeface="Yu Gothic"/>
                <a:cs typeface="Yu Gothic"/>
              </a:rPr>
              <a:t>値</a:t>
            </a:r>
          </a:p>
        </p:txBody>
      </p:sp>
      <p:sp>
        <p:nvSpPr>
          <p:cNvPr id="13" name="">
            <a:extLst xmlns:a="http://schemas.openxmlformats.org/drawingml/2006/main">
              <a:ext uri="{FF2B5EF4-FFF2-40B4-BE49-F238E27FC236}">
                <a16:creationId xmlns:a16="http://schemas.microsoft.com/office/drawing/2014/main" id="{E296C0AE-4669-4EA4-ACC0-3BBFA5126449}"/>
              </a:ext>
            </a:extLst>
          </p:cNvPr>
          <p:cNvSpPr>
            <a:spLocks xmlns:a="http://schemas.openxmlformats.org/drawingml/2006/main" noGrp="1"/>
          </p:cNvSpPr>
          <p:nvPr/>
        </p:nvSpPr>
        <p:spPr>
          <a:xfrm xmlns:a="http://schemas.openxmlformats.org/drawingml/2006/main">
            <a:off x="6400800" y="21050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14" name="">
            <a:extLst xmlns:a="http://schemas.openxmlformats.org/drawingml/2006/main">
              <a:ext uri="{FF2B5EF4-FFF2-40B4-BE49-F238E27FC236}">
                <a16:creationId xmlns:a16="http://schemas.microsoft.com/office/drawing/2014/main" id="{4BF46F5E-79C5-4659-93E5-0C5A0DCA7E46}"/>
              </a:ext>
            </a:extLst>
          </p:cNvPr>
          <p:cNvSpPr>
            <a:spLocks xmlns:a="http://schemas.openxmlformats.org/drawingml/2006/main" noGrp="1"/>
          </p:cNvSpPr>
          <p:nvPr/>
        </p:nvSpPr>
        <p:spPr>
          <a:xfrm xmlns:a="http://schemas.openxmlformats.org/drawingml/2006/main">
            <a:off x="6477000" y="21336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|GT差分| 中央値</a:t>
            </a:r>
          </a:p>
        </p:txBody>
      </p:sp>
      <p:sp>
        <p:nvSpPr>
          <p:cNvPr id="15" name="">
            <a:extLst xmlns:a="http://schemas.openxmlformats.org/drawingml/2006/main">
              <a:ext uri="{FF2B5EF4-FFF2-40B4-BE49-F238E27FC236}">
                <a16:creationId xmlns:a16="http://schemas.microsoft.com/office/drawing/2014/main" id="{DAAAE207-378E-42DE-A8BA-59A363334916}"/>
              </a:ext>
            </a:extLst>
          </p:cNvPr>
          <p:cNvSpPr>
            <a:spLocks xmlns:a="http://schemas.openxmlformats.org/drawingml/2006/main" noGrp="1"/>
          </p:cNvSpPr>
          <p:nvPr/>
        </p:nvSpPr>
        <p:spPr>
          <a:xfrm xmlns:a="http://schemas.openxmlformats.org/drawingml/2006/main">
            <a:off x="8639175" y="21050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16" name="">
            <a:extLst xmlns:a="http://schemas.openxmlformats.org/drawingml/2006/main">
              <a:ext uri="{FF2B5EF4-FFF2-40B4-BE49-F238E27FC236}">
                <a16:creationId xmlns:a16="http://schemas.microsoft.com/office/drawing/2014/main" id="{71430C4E-660D-4CC7-BF5D-77BCFC56E1A5}"/>
              </a:ext>
            </a:extLst>
          </p:cNvPr>
          <p:cNvSpPr>
            <a:spLocks xmlns:a="http://schemas.openxmlformats.org/drawingml/2006/main" noGrp="1"/>
          </p:cNvSpPr>
          <p:nvPr/>
        </p:nvSpPr>
        <p:spPr>
          <a:xfrm xmlns:a="http://schemas.openxmlformats.org/drawingml/2006/main">
            <a:off x="8715375" y="21336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a:solidFill>
                  <a:srgbClr val="253443"/>
                </a:solidFill>
                <a:latin typeface="Yu Gothic"/>
                <a:ea typeface="Yu Gothic"/>
                <a:cs typeface="Yu Gothic"/>
              </a:defRPr>
            </a:pPr>
            <a:r>
              <a:rPr sz="1425" b="1">
                <a:solidFill>
                  <a:srgbClr val="253443"/>
                </a:solidFill>
                <a:latin typeface="Yu Gothic"/>
                <a:ea typeface="Yu Gothic"/>
                <a:cs typeface="Yu Gothic"/>
              </a:rPr>
              <a:t>0.015625</a:t>
            </a:r>
          </a:p>
        </p:txBody>
      </p:sp>
      <p:sp>
        <p:nvSpPr>
          <p:cNvPr id="17" name="">
            <a:extLst xmlns:a="http://schemas.openxmlformats.org/drawingml/2006/main">
              <a:ext uri="{FF2B5EF4-FFF2-40B4-BE49-F238E27FC236}">
                <a16:creationId xmlns:a16="http://schemas.microsoft.com/office/drawing/2014/main" id="{B403DEB0-3993-4D7B-A4A3-8E405C255342}"/>
              </a:ext>
            </a:extLst>
          </p:cNvPr>
          <p:cNvSpPr>
            <a:spLocks xmlns:a="http://schemas.openxmlformats.org/drawingml/2006/main" noGrp="1"/>
          </p:cNvSpPr>
          <p:nvPr/>
        </p:nvSpPr>
        <p:spPr>
          <a:xfrm xmlns:a="http://schemas.openxmlformats.org/drawingml/2006/main">
            <a:off x="6400800" y="2562225"/>
            <a:ext cx="2238375" cy="457200"/>
          </a:xfrm>
          <a:prstGeom xmlns:a="http://schemas.openxmlformats.org/drawingml/2006/main" prst="rect">
            <a:avLst/>
          </a:prstGeom>
          <a:solidFill xmlns:a="http://schemas.openxmlformats.org/drawingml/2006/main">
            <a:srgbClr val="E3F3F1"/>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08F53AB0-58D3-4642-A398-4D2F9E6F2A51}"/>
              </a:ext>
            </a:extLst>
          </p:cNvPr>
          <p:cNvSpPr>
            <a:spLocks xmlns:a="http://schemas.openxmlformats.org/drawingml/2006/main" noGrp="1"/>
          </p:cNvSpPr>
          <p:nvPr/>
        </p:nvSpPr>
        <p:spPr>
          <a:xfrm xmlns:a="http://schemas.openxmlformats.org/drawingml/2006/main">
            <a:off x="6477000" y="25908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a:solidFill>
                  <a:srgbClr val="253443"/>
                </a:solidFill>
                <a:latin typeface="Yu Gothic"/>
                <a:ea typeface="Yu Gothic"/>
                <a:cs typeface="Yu Gothic"/>
              </a:defRPr>
            </a:pPr>
            <a:r>
              <a:rPr sz="1275" b="1">
                <a:solidFill>
                  <a:srgbClr val="253443"/>
                </a:solidFill>
                <a:latin typeface="Yu Gothic"/>
                <a:ea typeface="Yu Gothic"/>
                <a:cs typeface="Yu Gothic"/>
              </a:rPr>
              <a:t>zero baseline MAE</a:t>
            </a:r>
          </a:p>
        </p:txBody>
      </p:sp>
      <p:sp>
        <p:nvSpPr>
          <p:cNvPr id="19" name="">
            <a:extLst xmlns:a="http://schemas.openxmlformats.org/drawingml/2006/main">
              <a:ext uri="{FF2B5EF4-FFF2-40B4-BE49-F238E27FC236}">
                <a16:creationId xmlns:a16="http://schemas.microsoft.com/office/drawing/2014/main" id="{7C43A589-89B3-45EF-9427-4D4320E8084C}"/>
              </a:ext>
            </a:extLst>
          </p:cNvPr>
          <p:cNvSpPr>
            <a:spLocks xmlns:a="http://schemas.openxmlformats.org/drawingml/2006/main" noGrp="1"/>
          </p:cNvSpPr>
          <p:nvPr/>
        </p:nvSpPr>
        <p:spPr>
          <a:xfrm xmlns:a="http://schemas.openxmlformats.org/drawingml/2006/main">
            <a:off x="8639175" y="2562225"/>
            <a:ext cx="2238375" cy="457200"/>
          </a:xfrm>
          <a:prstGeom xmlns:a="http://schemas.openxmlformats.org/drawingml/2006/main" prst="rect">
            <a:avLst/>
          </a:prstGeom>
          <a:solidFill xmlns:a="http://schemas.openxmlformats.org/drawingml/2006/main">
            <a:srgbClr val="E3F3F1"/>
          </a:solidFill>
          <a:ln xmlns:a="http://schemas.openxmlformats.org/drawingml/2006/main" w="9525">
            <a:solidFill>
              <a:srgbClr val="D9E1E7"/>
            </a:solidFill>
            <a:prstDash val="solid"/>
          </a:ln>
        </p:spPr>
      </p:sp>
      <p:sp>
        <p:nvSpPr>
          <p:cNvPr id="20" name="">
            <a:extLst xmlns:a="http://schemas.openxmlformats.org/drawingml/2006/main">
              <a:ext uri="{FF2B5EF4-FFF2-40B4-BE49-F238E27FC236}">
                <a16:creationId xmlns:a16="http://schemas.microsoft.com/office/drawing/2014/main" id="{D515BF13-98A4-4F2D-87F7-56EBD8236A3A}"/>
              </a:ext>
            </a:extLst>
          </p:cNvPr>
          <p:cNvSpPr>
            <a:spLocks xmlns:a="http://schemas.openxmlformats.org/drawingml/2006/main" noGrp="1"/>
          </p:cNvSpPr>
          <p:nvPr/>
        </p:nvSpPr>
        <p:spPr>
          <a:xfrm xmlns:a="http://schemas.openxmlformats.org/drawingml/2006/main">
            <a:off x="8715375" y="25908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a:solidFill>
                  <a:srgbClr val="168C88"/>
                </a:solidFill>
                <a:latin typeface="Yu Gothic"/>
                <a:ea typeface="Yu Gothic"/>
                <a:cs typeface="Yu Gothic"/>
              </a:defRPr>
            </a:pPr>
            <a:r>
              <a:rPr sz="1425" b="1">
                <a:solidFill>
                  <a:srgbClr val="168C88"/>
                </a:solidFill>
                <a:latin typeface="Yu Gothic"/>
                <a:ea typeface="Yu Gothic"/>
                <a:cs typeface="Yu Gothic"/>
              </a:rPr>
              <a:t>0.040656</a:t>
            </a:r>
          </a:p>
        </p:txBody>
      </p:sp>
      <p:sp>
        <p:nvSpPr>
          <p:cNvPr id="21" name="">
            <a:extLst xmlns:a="http://schemas.openxmlformats.org/drawingml/2006/main">
              <a:ext uri="{FF2B5EF4-FFF2-40B4-BE49-F238E27FC236}">
                <a16:creationId xmlns:a16="http://schemas.microsoft.com/office/drawing/2014/main" id="{9B4CE47B-85B3-4087-9F14-55F2DAFB02F8}"/>
              </a:ext>
            </a:extLst>
          </p:cNvPr>
          <p:cNvSpPr>
            <a:spLocks xmlns:a="http://schemas.openxmlformats.org/drawingml/2006/main" noGrp="1"/>
          </p:cNvSpPr>
          <p:nvPr/>
        </p:nvSpPr>
        <p:spPr>
          <a:xfrm xmlns:a="http://schemas.openxmlformats.org/drawingml/2006/main">
            <a:off x="6400800" y="30194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2" name="">
            <a:extLst xmlns:a="http://schemas.openxmlformats.org/drawingml/2006/main">
              <a:ext uri="{FF2B5EF4-FFF2-40B4-BE49-F238E27FC236}">
                <a16:creationId xmlns:a16="http://schemas.microsoft.com/office/drawing/2014/main" id="{219381D7-3C7E-413E-A83E-D2A810F8162C}"/>
              </a:ext>
            </a:extLst>
          </p:cNvPr>
          <p:cNvSpPr>
            <a:spLocks xmlns:a="http://schemas.openxmlformats.org/drawingml/2006/main" noGrp="1"/>
          </p:cNvSpPr>
          <p:nvPr/>
        </p:nvSpPr>
        <p:spPr>
          <a:xfrm xmlns:a="http://schemas.openxmlformats.org/drawingml/2006/main">
            <a:off x="6477000" y="30480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metric raw MAE</a:t>
            </a:r>
          </a:p>
        </p:txBody>
      </p:sp>
      <p:sp>
        <p:nvSpPr>
          <p:cNvPr id="23" name="">
            <a:extLst xmlns:a="http://schemas.openxmlformats.org/drawingml/2006/main">
              <a:ext uri="{FF2B5EF4-FFF2-40B4-BE49-F238E27FC236}">
                <a16:creationId xmlns:a16="http://schemas.microsoft.com/office/drawing/2014/main" id="{3DD4EEED-547F-43C0-988E-BB785C246041}"/>
              </a:ext>
            </a:extLst>
          </p:cNvPr>
          <p:cNvSpPr>
            <a:spLocks xmlns:a="http://schemas.openxmlformats.org/drawingml/2006/main" noGrp="1"/>
          </p:cNvSpPr>
          <p:nvPr/>
        </p:nvSpPr>
        <p:spPr>
          <a:xfrm xmlns:a="http://schemas.openxmlformats.org/drawingml/2006/main">
            <a:off x="8639175" y="30194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4" name="">
            <a:extLst xmlns:a="http://schemas.openxmlformats.org/drawingml/2006/main">
              <a:ext uri="{FF2B5EF4-FFF2-40B4-BE49-F238E27FC236}">
                <a16:creationId xmlns:a16="http://schemas.microsoft.com/office/drawing/2014/main" id="{92332A0B-A1BA-4426-B8C7-A9ECC9FFDC72}"/>
              </a:ext>
            </a:extLst>
          </p:cNvPr>
          <p:cNvSpPr>
            <a:spLocks xmlns:a="http://schemas.openxmlformats.org/drawingml/2006/main" noGrp="1"/>
          </p:cNvSpPr>
          <p:nvPr/>
        </p:nvSpPr>
        <p:spPr>
          <a:xfrm xmlns:a="http://schemas.openxmlformats.org/drawingml/2006/main">
            <a:off x="8715375" y="30480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a:solidFill>
                  <a:srgbClr val="253443"/>
                </a:solidFill>
                <a:latin typeface="Yu Gothic"/>
                <a:ea typeface="Yu Gothic"/>
                <a:cs typeface="Yu Gothic"/>
              </a:defRPr>
            </a:pPr>
            <a:r>
              <a:rPr sz="1425" b="1">
                <a:solidFill>
                  <a:srgbClr val="253443"/>
                </a:solidFill>
                <a:latin typeface="Yu Gothic"/>
                <a:ea typeface="Yu Gothic"/>
                <a:cs typeface="Yu Gothic"/>
              </a:rPr>
              <a:t>0.053259</a:t>
            </a:r>
          </a:p>
        </p:txBody>
      </p:sp>
      <p:sp>
        <p:nvSpPr>
          <p:cNvPr id="25" name="">
            <a:extLst xmlns:a="http://schemas.openxmlformats.org/drawingml/2006/main">
              <a:ext uri="{FF2B5EF4-FFF2-40B4-BE49-F238E27FC236}">
                <a16:creationId xmlns:a16="http://schemas.microsoft.com/office/drawing/2014/main" id="{C267B076-C705-40F4-9BE0-AE9BF8D4EEEA}"/>
              </a:ext>
            </a:extLst>
          </p:cNvPr>
          <p:cNvSpPr>
            <a:spLocks xmlns:a="http://schemas.openxmlformats.org/drawingml/2006/main" noGrp="1"/>
          </p:cNvSpPr>
          <p:nvPr/>
        </p:nvSpPr>
        <p:spPr>
          <a:xfrm xmlns:a="http://schemas.openxmlformats.org/drawingml/2006/main">
            <a:off x="6400800" y="34766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6" name="">
            <a:extLst xmlns:a="http://schemas.openxmlformats.org/drawingml/2006/main">
              <a:ext uri="{FF2B5EF4-FFF2-40B4-BE49-F238E27FC236}">
                <a16:creationId xmlns:a16="http://schemas.microsoft.com/office/drawing/2014/main" id="{330EF713-6158-4F73-B457-8510A695325C}"/>
              </a:ext>
            </a:extLst>
          </p:cNvPr>
          <p:cNvSpPr>
            <a:spLocks xmlns:a="http://schemas.openxmlformats.org/drawingml/2006/main" noGrp="1"/>
          </p:cNvSpPr>
          <p:nvPr/>
        </p:nvSpPr>
        <p:spPr>
          <a:xfrm xmlns:a="http://schemas.openxmlformats.org/drawingml/2006/main">
            <a:off x="6477000" y="35052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253443"/>
                </a:solidFill>
                <a:latin typeface="Yu Gothic"/>
                <a:ea typeface="Yu Gothic"/>
                <a:cs typeface="Yu Gothic"/>
              </a:defRPr>
            </a:pPr>
            <a:r>
              <a:rPr sz="1275" b="0">
                <a:solidFill>
                  <a:srgbClr val="253443"/>
                </a:solidFill>
                <a:latin typeface="Yu Gothic"/>
                <a:ea typeface="Yu Gothic"/>
                <a:cs typeface="Yu Gothic"/>
              </a:rPr>
              <a:t>relative aligned MAE</a:t>
            </a:r>
          </a:p>
        </p:txBody>
      </p:sp>
      <p:sp>
        <p:nvSpPr>
          <p:cNvPr id="27" name="">
            <a:extLst xmlns:a="http://schemas.openxmlformats.org/drawingml/2006/main">
              <a:ext uri="{FF2B5EF4-FFF2-40B4-BE49-F238E27FC236}">
                <a16:creationId xmlns:a16="http://schemas.microsoft.com/office/drawing/2014/main" id="{27472EBE-AC98-4A95-8DE8-1E0C85871108}"/>
              </a:ext>
            </a:extLst>
          </p:cNvPr>
          <p:cNvSpPr>
            <a:spLocks xmlns:a="http://schemas.openxmlformats.org/drawingml/2006/main" noGrp="1"/>
          </p:cNvSpPr>
          <p:nvPr/>
        </p:nvSpPr>
        <p:spPr>
          <a:xfrm xmlns:a="http://schemas.openxmlformats.org/drawingml/2006/main">
            <a:off x="8639175" y="3476625"/>
            <a:ext cx="2238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F9F057C4-3C7E-4D08-A2FC-BAA0708BE89E}"/>
              </a:ext>
            </a:extLst>
          </p:cNvPr>
          <p:cNvSpPr>
            <a:spLocks xmlns:a="http://schemas.openxmlformats.org/drawingml/2006/main" noGrp="1"/>
          </p:cNvSpPr>
          <p:nvPr/>
        </p:nvSpPr>
        <p:spPr>
          <a:xfrm xmlns:a="http://schemas.openxmlformats.org/drawingml/2006/main">
            <a:off x="8715375" y="35052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425" b="1">
                <a:solidFill>
                  <a:srgbClr val="253443"/>
                </a:solidFill>
                <a:latin typeface="Yu Gothic"/>
                <a:ea typeface="Yu Gothic"/>
                <a:cs typeface="Yu Gothic"/>
              </a:defRPr>
            </a:pPr>
            <a:r>
              <a:rPr sz="1425" b="1">
                <a:solidFill>
                  <a:srgbClr val="253443"/>
                </a:solidFill>
                <a:latin typeface="Yu Gothic"/>
                <a:ea typeface="Yu Gothic"/>
                <a:cs typeface="Yu Gothic"/>
              </a:rPr>
              <a:t>0.040874</a:t>
            </a:r>
          </a:p>
        </p:txBody>
      </p:sp>
      <p:sp>
        <p:nvSpPr>
          <p:cNvPr id="29" name="">
            <a:extLst xmlns:a="http://schemas.openxmlformats.org/drawingml/2006/main">
              <a:ext uri="{FF2B5EF4-FFF2-40B4-BE49-F238E27FC236}">
                <a16:creationId xmlns:a16="http://schemas.microsoft.com/office/drawing/2014/main" id="{DE96CD33-0BE8-4445-874C-200E78930050}"/>
              </a:ext>
            </a:extLst>
          </p:cNvPr>
          <p:cNvSpPr>
            <a:spLocks xmlns:a="http://schemas.openxmlformats.org/drawingml/2006/main" noGrp="1"/>
          </p:cNvSpPr>
          <p:nvPr/>
        </p:nvSpPr>
        <p:spPr>
          <a:xfrm xmlns:a="http://schemas.openxmlformats.org/drawingml/2006/main">
            <a:off x="742950" y="5095875"/>
            <a:ext cx="10668000" cy="876300"/>
          </a:xfrm>
          <a:prstGeom xmlns:a="http://schemas.openxmlformats.org/drawingml/2006/main" prst="roundRect">
            <a:avLst>
              <a:gd name="adj" fmla="val 8696"/>
            </a:avLst>
          </a:prstGeom>
          <a:solidFill xmlns:a="http://schemas.openxmlformats.org/drawingml/2006/main">
            <a:srgbClr val="F7E8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3DAD3F8-2D5A-479B-BFEC-B52A39B5232D}"/>
              </a:ext>
            </a:extLst>
          </p:cNvPr>
          <p:cNvSpPr>
            <a:spLocks xmlns:a="http://schemas.openxmlformats.org/drawingml/2006/main" noGrp="1"/>
          </p:cNvSpPr>
          <p:nvPr/>
        </p:nvSpPr>
        <p:spPr>
          <a:xfrm xmlns:a="http://schemas.openxmlformats.org/drawingml/2006/main">
            <a:off x="990600" y="5257800"/>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a:solidFill>
                  <a:srgbClr val="B54747"/>
                </a:solidFill>
                <a:latin typeface="Yu Gothic"/>
                <a:ea typeface="Yu Gothic"/>
                <a:cs typeface="Yu Gothic"/>
              </a:defRPr>
            </a:pPr>
            <a:r>
              <a:rPr sz="2025" b="1">
                <a:solidFill>
                  <a:srgbClr val="B54747"/>
                </a:solidFill>
                <a:latin typeface="Yu Gothic"/>
                <a:ea typeface="Yu Gothic"/>
                <a:cs typeface="Yu Gothic"/>
              </a:rPr>
              <a:t>Local MAEが約4～5 cmでも、高さを4～5 cm精度で測定できることを意味しない</a:t>
            </a:r>
          </a:p>
        </p:txBody>
      </p:sp>
    </p:spTree>
    <p:extLst>
      <p:ext uri="{BB962C8B-B14F-4D97-AF65-F5344CB8AC3E}">
        <p14:creationId xmlns:p14="http://schemas.microsoft.com/office/powerpoint/2010/main" val="17865453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475975FC-53A6-4674-876E-EBB28DE260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9F7753-98B0-4C8C-B8AE-FD9FC2FF68AC}"/>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高さ差が大きいほど順序は合うが、振幅は縮む</a:t>
            </a:r>
          </a:p>
        </p:txBody>
      </p:sp>
      <p:sp>
        <p:nvSpPr>
          <p:cNvPr id="3" name="">
            <a:extLst xmlns:a="http://schemas.openxmlformats.org/drawingml/2006/main">
              <a:ext uri="{FF2B5EF4-FFF2-40B4-BE49-F238E27FC236}">
                <a16:creationId xmlns:a16="http://schemas.microsoft.com/office/drawing/2014/main" id="{7DEFA9C0-AF97-43CE-8C27-A1A16E717AA1}"/>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0E4CD2-0ECF-4413-9302-1A370AB50019}"/>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D3DE0A-585F-4978-8195-5A08315975D7}"/>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UAV3DCrop relative scale+shift; target bins ±20%, pooled across 8–128 px separations.</a:t>
            </a:r>
          </a:p>
        </p:txBody>
      </p:sp>
      <p:sp>
        <p:nvSpPr>
          <p:cNvPr id="6" name="">
            <a:extLst xmlns:a="http://schemas.openxmlformats.org/drawingml/2006/main">
              <a:ext uri="{FF2B5EF4-FFF2-40B4-BE49-F238E27FC236}">
                <a16:creationId xmlns:a16="http://schemas.microsoft.com/office/drawing/2014/main" id="{6509864B-1F3B-4C37-B938-4773EE630D2E}"/>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10</a:t>
            </a:r>
          </a:p>
        </p:txBody>
      </p:sp>
      <p:sp>
        <p:nvSpPr>
          <p:cNvPr id="7" name="">
            <a:extLst xmlns:a="http://schemas.openxmlformats.org/drawingml/2006/main">
              <a:ext uri="{FF2B5EF4-FFF2-40B4-BE49-F238E27FC236}">
                <a16:creationId xmlns:a16="http://schemas.microsoft.com/office/drawing/2014/main" id="{951A8E1F-2418-4C43-ACA5-716AEC830097}"/>
              </a:ext>
            </a:extLst>
          </p:cNvPr>
          <p:cNvSpPr>
            <a:spLocks xmlns:a="http://schemas.openxmlformats.org/drawingml/2006/main" noGrp="1"/>
          </p:cNvSpPr>
          <p:nvPr/>
        </p:nvSpPr>
        <p:spPr>
          <a:xfrm xmlns:a="http://schemas.openxmlformats.org/drawingml/2006/main">
            <a:off x="914400" y="13811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62717F"/>
                </a:solidFill>
                <a:latin typeface="Yu Gothic"/>
                <a:ea typeface="Yu Gothic"/>
                <a:cs typeface="Yu Gothic"/>
              </a:defRPr>
            </a:pPr>
            <a:r>
              <a:rPr sz="1425" b="1">
                <a:solidFill>
                  <a:srgbClr val="62717F"/>
                </a:solidFill>
                <a:latin typeface="Yu Gothic"/>
                <a:ea typeface="Yu Gothic"/>
                <a:cs typeface="Yu Gothic"/>
              </a:rPr>
              <a:t>GT差分target</a:t>
            </a:r>
          </a:p>
        </p:txBody>
      </p:sp>
      <p:sp>
        <p:nvSpPr>
          <p:cNvPr id="8" name="">
            <a:extLst xmlns:a="http://schemas.openxmlformats.org/drawingml/2006/main">
              <a:ext uri="{FF2B5EF4-FFF2-40B4-BE49-F238E27FC236}">
                <a16:creationId xmlns:a16="http://schemas.microsoft.com/office/drawing/2014/main" id="{4868A5EF-D58E-4F55-9474-ECE1B40448AC}"/>
              </a:ext>
            </a:extLst>
          </p:cNvPr>
          <p:cNvSpPr>
            <a:spLocks xmlns:a="http://schemas.openxmlformats.org/drawingml/2006/main" noGrp="1"/>
          </p:cNvSpPr>
          <p:nvPr/>
        </p:nvSpPr>
        <p:spPr>
          <a:xfrm xmlns:a="http://schemas.openxmlformats.org/drawingml/2006/main">
            <a:off x="3381375" y="13811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62717F"/>
                </a:solidFill>
                <a:latin typeface="Yu Gothic"/>
                <a:ea typeface="Yu Gothic"/>
                <a:cs typeface="Yu Gothic"/>
              </a:defRPr>
            </a:pPr>
            <a:r>
              <a:rPr sz="1425" b="1">
                <a:solidFill>
                  <a:srgbClr val="62717F"/>
                </a:solidFill>
                <a:latin typeface="Yu Gothic"/>
                <a:ea typeface="Yu Gothic"/>
                <a:cs typeface="Yu Gothic"/>
              </a:rPr>
              <a:t>MAE (m)</a:t>
            </a:r>
          </a:p>
        </p:txBody>
      </p:sp>
      <p:sp>
        <p:nvSpPr>
          <p:cNvPr id="9" name="">
            <a:extLst xmlns:a="http://schemas.openxmlformats.org/drawingml/2006/main">
              <a:ext uri="{FF2B5EF4-FFF2-40B4-BE49-F238E27FC236}">
                <a16:creationId xmlns:a16="http://schemas.microsoft.com/office/drawing/2014/main" id="{19C0B641-47D9-4D63-AF52-1AF8099B8D0B}"/>
              </a:ext>
            </a:extLst>
          </p:cNvPr>
          <p:cNvSpPr>
            <a:spLocks xmlns:a="http://schemas.openxmlformats.org/drawingml/2006/main" noGrp="1"/>
          </p:cNvSpPr>
          <p:nvPr/>
        </p:nvSpPr>
        <p:spPr>
          <a:xfrm xmlns:a="http://schemas.openxmlformats.org/drawingml/2006/main">
            <a:off x="5305425" y="1381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62717F"/>
                </a:solidFill>
                <a:latin typeface="Yu Gothic"/>
                <a:ea typeface="Yu Gothic"/>
                <a:cs typeface="Yu Gothic"/>
              </a:defRPr>
            </a:pPr>
            <a:r>
              <a:rPr sz="1425" b="1">
                <a:solidFill>
                  <a:srgbClr val="62717F"/>
                </a:solidFill>
                <a:latin typeface="Yu Gothic"/>
                <a:ea typeface="Yu Gothic"/>
                <a:cs typeface="Yu Gothic"/>
              </a:rPr>
              <a:t>Sign agreement</a:t>
            </a:r>
          </a:p>
        </p:txBody>
      </p:sp>
      <p:sp>
        <p:nvSpPr>
          <p:cNvPr id="10" name="">
            <a:extLst xmlns:a="http://schemas.openxmlformats.org/drawingml/2006/main">
              <a:ext uri="{FF2B5EF4-FFF2-40B4-BE49-F238E27FC236}">
                <a16:creationId xmlns:a16="http://schemas.microsoft.com/office/drawing/2014/main" id="{526FE2CA-C3CD-4D8E-8CE6-2F22C2413A63}"/>
              </a:ext>
            </a:extLst>
          </p:cNvPr>
          <p:cNvSpPr>
            <a:spLocks xmlns:a="http://schemas.openxmlformats.org/drawingml/2006/main" noGrp="1"/>
          </p:cNvSpPr>
          <p:nvPr/>
        </p:nvSpPr>
        <p:spPr>
          <a:xfrm xmlns:a="http://schemas.openxmlformats.org/drawingml/2006/main">
            <a:off x="8220075" y="1381125"/>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a:solidFill>
                  <a:srgbClr val="62717F"/>
                </a:solidFill>
                <a:latin typeface="Yu Gothic"/>
                <a:ea typeface="Yu Gothic"/>
                <a:cs typeface="Yu Gothic"/>
              </a:defRPr>
            </a:pPr>
            <a:r>
              <a:rPr sz="1425" b="1">
                <a:solidFill>
                  <a:srgbClr val="62717F"/>
                </a:solidFill>
                <a:latin typeface="Yu Gothic"/>
                <a:ea typeface="Yu Gothic"/>
                <a:cs typeface="Yu Gothic"/>
              </a:rPr>
              <a:t>回帰 slope（理想=1）</a:t>
            </a:r>
          </a:p>
        </p:txBody>
      </p:sp>
      <p:sp>
        <p:nvSpPr>
          <p:cNvPr id="11" name="">
            <a:extLst xmlns:a="http://schemas.openxmlformats.org/drawingml/2006/main">
              <a:ext uri="{FF2B5EF4-FFF2-40B4-BE49-F238E27FC236}">
                <a16:creationId xmlns:a16="http://schemas.microsoft.com/office/drawing/2014/main" id="{1F056AC5-F566-41F1-B84C-61564CF15F6A}"/>
              </a:ext>
            </a:extLst>
          </p:cNvPr>
          <p:cNvSpPr>
            <a:spLocks xmlns:a="http://schemas.openxmlformats.org/drawingml/2006/main" noGrp="1"/>
          </p:cNvSpPr>
          <p:nvPr/>
        </p:nvSpPr>
        <p:spPr>
          <a:xfrm xmlns:a="http://schemas.openxmlformats.org/drawingml/2006/main">
            <a:off x="733425" y="1838325"/>
            <a:ext cx="10715625" cy="685800"/>
          </a:xfrm>
          <a:prstGeom xmlns:a="http://schemas.openxmlformats.org/drawingml/2006/main" prst="roundRect">
            <a:avLst>
              <a:gd name="adj" fmla="val 11111"/>
            </a:avLst>
          </a:prstGeom>
          <a:solidFill xmlns:a="http://schemas.openxmlformats.org/drawingml/2006/main">
            <a:srgbClr val="F4F7F9"/>
          </a:solidFill>
          <a:ln xmlns:a="http://schemas.openxmlformats.org/drawingml/2006/main" w="9525">
            <a:solidFill>
              <a:srgbClr val="D9E1E7"/>
            </a:solidFill>
            <a:prstDash val="solid"/>
          </a:ln>
        </p:spPr>
      </p:sp>
      <p:sp>
        <p:nvSpPr>
          <p:cNvPr id="12" name="">
            <a:extLst xmlns:a="http://schemas.openxmlformats.org/drawingml/2006/main">
              <a:ext uri="{FF2B5EF4-FFF2-40B4-BE49-F238E27FC236}">
                <a16:creationId xmlns:a16="http://schemas.microsoft.com/office/drawing/2014/main" id="{09DA4A6A-071F-4D42-9115-D90971EF0C65}"/>
              </a:ext>
            </a:extLst>
          </p:cNvPr>
          <p:cNvSpPr>
            <a:spLocks xmlns:a="http://schemas.openxmlformats.org/drawingml/2006/main" noGrp="1"/>
          </p:cNvSpPr>
          <p:nvPr/>
        </p:nvSpPr>
        <p:spPr>
          <a:xfrm xmlns:a="http://schemas.openxmlformats.org/drawingml/2006/main">
            <a:off x="923925" y="19907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0.1 m</a:t>
            </a:r>
          </a:p>
        </p:txBody>
      </p:sp>
      <p:sp>
        <p:nvSpPr>
          <p:cNvPr id="13" name="">
            <a:extLst xmlns:a="http://schemas.openxmlformats.org/drawingml/2006/main">
              <a:ext uri="{FF2B5EF4-FFF2-40B4-BE49-F238E27FC236}">
                <a16:creationId xmlns:a16="http://schemas.microsoft.com/office/drawing/2014/main" id="{4C10085C-A70E-4DF5-8F42-1D9845D783AB}"/>
              </a:ext>
            </a:extLst>
          </p:cNvPr>
          <p:cNvSpPr>
            <a:spLocks xmlns:a="http://schemas.openxmlformats.org/drawingml/2006/main" noGrp="1"/>
          </p:cNvSpPr>
          <p:nvPr/>
        </p:nvSpPr>
        <p:spPr>
          <a:xfrm xmlns:a="http://schemas.openxmlformats.org/drawingml/2006/main">
            <a:off x="3362325" y="20002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253443"/>
                </a:solidFill>
                <a:latin typeface="Yu Gothic"/>
                <a:ea typeface="Yu Gothic"/>
                <a:cs typeface="Yu Gothic"/>
              </a:defRPr>
            </a:pPr>
            <a:r>
              <a:rPr sz="1725" b="1">
                <a:solidFill>
                  <a:srgbClr val="253443"/>
                </a:solidFill>
                <a:latin typeface="Yu Gothic"/>
                <a:ea typeface="Yu Gothic"/>
                <a:cs typeface="Yu Gothic"/>
              </a:rPr>
              <a:t>0.0922</a:t>
            </a:r>
          </a:p>
        </p:txBody>
      </p:sp>
      <p:sp>
        <p:nvSpPr>
          <p:cNvPr id="14" name="">
            <a:extLst xmlns:a="http://schemas.openxmlformats.org/drawingml/2006/main">
              <a:ext uri="{FF2B5EF4-FFF2-40B4-BE49-F238E27FC236}">
                <a16:creationId xmlns:a16="http://schemas.microsoft.com/office/drawing/2014/main" id="{5CBAFD74-52ED-4655-8414-5E4065875290}"/>
              </a:ext>
            </a:extLst>
          </p:cNvPr>
          <p:cNvSpPr>
            <a:spLocks xmlns:a="http://schemas.openxmlformats.org/drawingml/2006/main" noGrp="1"/>
          </p:cNvSpPr>
          <p:nvPr/>
        </p:nvSpPr>
        <p:spPr>
          <a:xfrm xmlns:a="http://schemas.openxmlformats.org/drawingml/2006/main">
            <a:off x="5381625" y="2047875"/>
            <a:ext cx="17145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2DC2DDC-C770-49DA-84CD-84B3C60F64D3}"/>
              </a:ext>
            </a:extLst>
          </p:cNvPr>
          <p:cNvSpPr>
            <a:spLocks xmlns:a="http://schemas.openxmlformats.org/drawingml/2006/main" noGrp="1"/>
          </p:cNvSpPr>
          <p:nvPr/>
        </p:nvSpPr>
        <p:spPr>
          <a:xfrm xmlns:a="http://schemas.openxmlformats.org/drawingml/2006/main">
            <a:off x="5381625" y="2047875"/>
            <a:ext cx="1117854" cy="209550"/>
          </a:xfrm>
          <a:prstGeom xmlns:a="http://schemas.openxmlformats.org/drawingml/2006/main" prst="roundRect">
            <a:avLst>
              <a:gd name="adj" fmla="val 36364"/>
            </a:avLst>
          </a:prstGeom>
          <a:solidFill xmlns:a="http://schemas.openxmlformats.org/drawingml/2006/main">
            <a:srgbClr val="168C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96471A-D3A3-4B39-BAE8-A53D381181CB}"/>
              </a:ext>
            </a:extLst>
          </p:cNvPr>
          <p:cNvSpPr>
            <a:spLocks xmlns:a="http://schemas.openxmlformats.org/drawingml/2006/main" noGrp="1"/>
          </p:cNvSpPr>
          <p:nvPr/>
        </p:nvSpPr>
        <p:spPr>
          <a:xfrm xmlns:a="http://schemas.openxmlformats.org/drawingml/2006/main">
            <a:off x="7200900" y="1990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168C88"/>
                </a:solidFill>
                <a:latin typeface="Yu Gothic"/>
                <a:ea typeface="Yu Gothic"/>
                <a:cs typeface="Yu Gothic"/>
              </a:defRPr>
            </a:pPr>
            <a:r>
              <a:rPr sz="1575" b="1">
                <a:solidFill>
                  <a:srgbClr val="168C88"/>
                </a:solidFill>
                <a:latin typeface="Yu Gothic"/>
                <a:ea typeface="Yu Gothic"/>
                <a:cs typeface="Yu Gothic"/>
              </a:rPr>
              <a:t>0.652</a:t>
            </a:r>
          </a:p>
        </p:txBody>
      </p:sp>
      <p:sp>
        <p:nvSpPr>
          <p:cNvPr id="17" name="">
            <a:extLst xmlns:a="http://schemas.openxmlformats.org/drawingml/2006/main">
              <a:ext uri="{FF2B5EF4-FFF2-40B4-BE49-F238E27FC236}">
                <a16:creationId xmlns:a16="http://schemas.microsoft.com/office/drawing/2014/main" id="{55DDD9BB-97DE-4F6F-86CA-6B4D42641C58}"/>
              </a:ext>
            </a:extLst>
          </p:cNvPr>
          <p:cNvSpPr>
            <a:spLocks xmlns:a="http://schemas.openxmlformats.org/drawingml/2006/main" noGrp="1"/>
          </p:cNvSpPr>
          <p:nvPr/>
        </p:nvSpPr>
        <p:spPr>
          <a:xfrm xmlns:a="http://schemas.openxmlformats.org/drawingml/2006/main">
            <a:off x="8420100" y="2047875"/>
            <a:ext cx="16764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F0F682A-4A12-471C-ABCC-6157140C7029}"/>
              </a:ext>
            </a:extLst>
          </p:cNvPr>
          <p:cNvSpPr>
            <a:spLocks xmlns:a="http://schemas.openxmlformats.org/drawingml/2006/main" noGrp="1"/>
          </p:cNvSpPr>
          <p:nvPr/>
        </p:nvSpPr>
        <p:spPr>
          <a:xfrm xmlns:a="http://schemas.openxmlformats.org/drawingml/2006/main">
            <a:off x="8420100" y="2047875"/>
            <a:ext cx="298399" cy="209550"/>
          </a:xfrm>
          <a:prstGeom xmlns:a="http://schemas.openxmlformats.org/drawingml/2006/main" prst="roundRect">
            <a:avLst>
              <a:gd name="adj" fmla="val 36364"/>
            </a:avLst>
          </a:prstGeom>
          <a:solidFill xmlns:a="http://schemas.openxmlformats.org/drawingml/2006/main">
            <a:srgbClr val="D9883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A5958C-D487-4CDE-BBF9-D43EF26F40EA}"/>
              </a:ext>
            </a:extLst>
          </p:cNvPr>
          <p:cNvSpPr>
            <a:spLocks xmlns:a="http://schemas.openxmlformats.org/drawingml/2006/main" noGrp="1"/>
          </p:cNvSpPr>
          <p:nvPr/>
        </p:nvSpPr>
        <p:spPr>
          <a:xfrm xmlns:a="http://schemas.openxmlformats.org/drawingml/2006/main">
            <a:off x="10201275" y="19907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D98839"/>
                </a:solidFill>
                <a:latin typeface="Yu Gothic"/>
                <a:ea typeface="Yu Gothic"/>
                <a:cs typeface="Yu Gothic"/>
              </a:defRPr>
            </a:pPr>
            <a:r>
              <a:rPr sz="1575" b="1">
                <a:solidFill>
                  <a:srgbClr val="D98839"/>
                </a:solidFill>
                <a:latin typeface="Yu Gothic"/>
                <a:ea typeface="Yu Gothic"/>
                <a:cs typeface="Yu Gothic"/>
              </a:rPr>
              <a:t>0.178</a:t>
            </a:r>
          </a:p>
        </p:txBody>
      </p:sp>
      <p:sp>
        <p:nvSpPr>
          <p:cNvPr id="20" name="">
            <a:extLst xmlns:a="http://schemas.openxmlformats.org/drawingml/2006/main">
              <a:ext uri="{FF2B5EF4-FFF2-40B4-BE49-F238E27FC236}">
                <a16:creationId xmlns:a16="http://schemas.microsoft.com/office/drawing/2014/main" id="{9F5B6BF8-4947-4F48-88DF-FE446E83F92D}"/>
              </a:ext>
            </a:extLst>
          </p:cNvPr>
          <p:cNvSpPr>
            <a:spLocks xmlns:a="http://schemas.openxmlformats.org/drawingml/2006/main" noGrp="1"/>
          </p:cNvSpPr>
          <p:nvPr/>
        </p:nvSpPr>
        <p:spPr>
          <a:xfrm xmlns:a="http://schemas.openxmlformats.org/drawingml/2006/main">
            <a:off x="733425" y="2676525"/>
            <a:ext cx="10715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1E7"/>
            </a:solidFill>
            <a:prstDash val="solid"/>
          </a:ln>
        </p:spPr>
      </p:sp>
      <p:sp>
        <p:nvSpPr>
          <p:cNvPr id="21" name="">
            <a:extLst xmlns:a="http://schemas.openxmlformats.org/drawingml/2006/main">
              <a:ext uri="{FF2B5EF4-FFF2-40B4-BE49-F238E27FC236}">
                <a16:creationId xmlns:a16="http://schemas.microsoft.com/office/drawing/2014/main" id="{A14A3C2C-170F-4009-ADF2-96CEA584EE67}"/>
              </a:ext>
            </a:extLst>
          </p:cNvPr>
          <p:cNvSpPr>
            <a:spLocks xmlns:a="http://schemas.openxmlformats.org/drawingml/2006/main" noGrp="1"/>
          </p:cNvSpPr>
          <p:nvPr/>
        </p:nvSpPr>
        <p:spPr>
          <a:xfrm xmlns:a="http://schemas.openxmlformats.org/drawingml/2006/main">
            <a:off x="923925" y="28289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0.2 m</a:t>
            </a:r>
          </a:p>
        </p:txBody>
      </p:sp>
      <p:sp>
        <p:nvSpPr>
          <p:cNvPr id="22" name="">
            <a:extLst xmlns:a="http://schemas.openxmlformats.org/drawingml/2006/main">
              <a:ext uri="{FF2B5EF4-FFF2-40B4-BE49-F238E27FC236}">
                <a16:creationId xmlns:a16="http://schemas.microsoft.com/office/drawing/2014/main" id="{88499C8F-6ABB-44E1-AEF8-98849063CF55}"/>
              </a:ext>
            </a:extLst>
          </p:cNvPr>
          <p:cNvSpPr>
            <a:spLocks xmlns:a="http://schemas.openxmlformats.org/drawingml/2006/main" noGrp="1"/>
          </p:cNvSpPr>
          <p:nvPr/>
        </p:nvSpPr>
        <p:spPr>
          <a:xfrm xmlns:a="http://schemas.openxmlformats.org/drawingml/2006/main">
            <a:off x="3362325" y="28384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253443"/>
                </a:solidFill>
                <a:latin typeface="Yu Gothic"/>
                <a:ea typeface="Yu Gothic"/>
                <a:cs typeface="Yu Gothic"/>
              </a:defRPr>
            </a:pPr>
            <a:r>
              <a:rPr sz="1725" b="1">
                <a:solidFill>
                  <a:srgbClr val="253443"/>
                </a:solidFill>
                <a:latin typeface="Yu Gothic"/>
                <a:ea typeface="Yu Gothic"/>
                <a:cs typeface="Yu Gothic"/>
              </a:rPr>
              <a:t>0.1755</a:t>
            </a:r>
          </a:p>
        </p:txBody>
      </p:sp>
      <p:sp>
        <p:nvSpPr>
          <p:cNvPr id="23" name="">
            <a:extLst xmlns:a="http://schemas.openxmlformats.org/drawingml/2006/main">
              <a:ext uri="{FF2B5EF4-FFF2-40B4-BE49-F238E27FC236}">
                <a16:creationId xmlns:a16="http://schemas.microsoft.com/office/drawing/2014/main" id="{30DBDAD8-03B4-4679-80B6-CDF462F0D4C5}"/>
              </a:ext>
            </a:extLst>
          </p:cNvPr>
          <p:cNvSpPr>
            <a:spLocks xmlns:a="http://schemas.openxmlformats.org/drawingml/2006/main" noGrp="1"/>
          </p:cNvSpPr>
          <p:nvPr/>
        </p:nvSpPr>
        <p:spPr>
          <a:xfrm xmlns:a="http://schemas.openxmlformats.org/drawingml/2006/main">
            <a:off x="5381625" y="2886075"/>
            <a:ext cx="17145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F2EE00F-9918-4335-A8BF-8596CB74D650}"/>
              </a:ext>
            </a:extLst>
          </p:cNvPr>
          <p:cNvSpPr>
            <a:spLocks xmlns:a="http://schemas.openxmlformats.org/drawingml/2006/main" noGrp="1"/>
          </p:cNvSpPr>
          <p:nvPr/>
        </p:nvSpPr>
        <p:spPr>
          <a:xfrm xmlns:a="http://schemas.openxmlformats.org/drawingml/2006/main">
            <a:off x="5381625" y="2886075"/>
            <a:ext cx="1261872" cy="209550"/>
          </a:xfrm>
          <a:prstGeom xmlns:a="http://schemas.openxmlformats.org/drawingml/2006/main" prst="roundRect">
            <a:avLst>
              <a:gd name="adj" fmla="val 36364"/>
            </a:avLst>
          </a:prstGeom>
          <a:solidFill xmlns:a="http://schemas.openxmlformats.org/drawingml/2006/main">
            <a:srgbClr val="168C8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2E660D0-7916-4A31-A4D2-781130709CA1}"/>
              </a:ext>
            </a:extLst>
          </p:cNvPr>
          <p:cNvSpPr>
            <a:spLocks xmlns:a="http://schemas.openxmlformats.org/drawingml/2006/main" noGrp="1"/>
          </p:cNvSpPr>
          <p:nvPr/>
        </p:nvSpPr>
        <p:spPr>
          <a:xfrm xmlns:a="http://schemas.openxmlformats.org/drawingml/2006/main">
            <a:off x="7200900" y="28289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168C88"/>
                </a:solidFill>
                <a:latin typeface="Yu Gothic"/>
                <a:ea typeface="Yu Gothic"/>
                <a:cs typeface="Yu Gothic"/>
              </a:defRPr>
            </a:pPr>
            <a:r>
              <a:rPr sz="1575" b="1">
                <a:solidFill>
                  <a:srgbClr val="168C88"/>
                </a:solidFill>
                <a:latin typeface="Yu Gothic"/>
                <a:ea typeface="Yu Gothic"/>
                <a:cs typeface="Yu Gothic"/>
              </a:rPr>
              <a:t>0.736</a:t>
            </a:r>
          </a:p>
        </p:txBody>
      </p:sp>
      <p:sp>
        <p:nvSpPr>
          <p:cNvPr id="26" name="">
            <a:extLst xmlns:a="http://schemas.openxmlformats.org/drawingml/2006/main">
              <a:ext uri="{FF2B5EF4-FFF2-40B4-BE49-F238E27FC236}">
                <a16:creationId xmlns:a16="http://schemas.microsoft.com/office/drawing/2014/main" id="{4D8207E4-2D39-4642-9D30-63BEC24D8422}"/>
              </a:ext>
            </a:extLst>
          </p:cNvPr>
          <p:cNvSpPr>
            <a:spLocks xmlns:a="http://schemas.openxmlformats.org/drawingml/2006/main" noGrp="1"/>
          </p:cNvSpPr>
          <p:nvPr/>
        </p:nvSpPr>
        <p:spPr>
          <a:xfrm xmlns:a="http://schemas.openxmlformats.org/drawingml/2006/main">
            <a:off x="8420100" y="2886075"/>
            <a:ext cx="16764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1BF6FA4-3C93-4701-B1C0-E8FC7C07FB42}"/>
              </a:ext>
            </a:extLst>
          </p:cNvPr>
          <p:cNvSpPr>
            <a:spLocks xmlns:a="http://schemas.openxmlformats.org/drawingml/2006/main" noGrp="1"/>
          </p:cNvSpPr>
          <p:nvPr/>
        </p:nvSpPr>
        <p:spPr>
          <a:xfrm xmlns:a="http://schemas.openxmlformats.org/drawingml/2006/main">
            <a:off x="8420100" y="2886075"/>
            <a:ext cx="353720" cy="209550"/>
          </a:xfrm>
          <a:prstGeom xmlns:a="http://schemas.openxmlformats.org/drawingml/2006/main" prst="roundRect">
            <a:avLst>
              <a:gd name="adj" fmla="val 36364"/>
            </a:avLst>
          </a:prstGeom>
          <a:solidFill xmlns:a="http://schemas.openxmlformats.org/drawingml/2006/main">
            <a:srgbClr val="D9883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D941066-0CFE-40F3-A930-65865EEBB0FC}"/>
              </a:ext>
            </a:extLst>
          </p:cNvPr>
          <p:cNvSpPr>
            <a:spLocks xmlns:a="http://schemas.openxmlformats.org/drawingml/2006/main" noGrp="1"/>
          </p:cNvSpPr>
          <p:nvPr/>
        </p:nvSpPr>
        <p:spPr>
          <a:xfrm xmlns:a="http://schemas.openxmlformats.org/drawingml/2006/main">
            <a:off x="10201275" y="28289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D98839"/>
                </a:solidFill>
                <a:latin typeface="Yu Gothic"/>
                <a:ea typeface="Yu Gothic"/>
                <a:cs typeface="Yu Gothic"/>
              </a:defRPr>
            </a:pPr>
            <a:r>
              <a:rPr sz="1575" b="1">
                <a:solidFill>
                  <a:srgbClr val="D98839"/>
                </a:solidFill>
                <a:latin typeface="Yu Gothic"/>
                <a:ea typeface="Yu Gothic"/>
                <a:cs typeface="Yu Gothic"/>
              </a:rPr>
              <a:t>0.211</a:t>
            </a:r>
          </a:p>
        </p:txBody>
      </p:sp>
      <p:sp>
        <p:nvSpPr>
          <p:cNvPr id="29" name="">
            <a:extLst xmlns:a="http://schemas.openxmlformats.org/drawingml/2006/main">
              <a:ext uri="{FF2B5EF4-FFF2-40B4-BE49-F238E27FC236}">
                <a16:creationId xmlns:a16="http://schemas.microsoft.com/office/drawing/2014/main" id="{9789932D-29B1-4040-A6A8-3B8FBD9D9E91}"/>
              </a:ext>
            </a:extLst>
          </p:cNvPr>
          <p:cNvSpPr>
            <a:spLocks xmlns:a="http://schemas.openxmlformats.org/drawingml/2006/main" noGrp="1"/>
          </p:cNvSpPr>
          <p:nvPr/>
        </p:nvSpPr>
        <p:spPr>
          <a:xfrm xmlns:a="http://schemas.openxmlformats.org/drawingml/2006/main">
            <a:off x="733425" y="3514725"/>
            <a:ext cx="10715625" cy="685800"/>
          </a:xfrm>
          <a:prstGeom xmlns:a="http://schemas.openxmlformats.org/drawingml/2006/main" prst="roundRect">
            <a:avLst>
              <a:gd name="adj" fmla="val 11111"/>
            </a:avLst>
          </a:prstGeom>
          <a:solidFill xmlns:a="http://schemas.openxmlformats.org/drawingml/2006/main">
            <a:srgbClr val="F4F7F9"/>
          </a:solidFill>
          <a:ln xmlns:a="http://schemas.openxmlformats.org/drawingml/2006/main" w="9525">
            <a:solidFill>
              <a:srgbClr val="D9E1E7"/>
            </a:solidFill>
            <a:prstDash val="solid"/>
          </a:ln>
        </p:spPr>
      </p:sp>
      <p:sp>
        <p:nvSpPr>
          <p:cNvPr id="30" name="">
            <a:extLst xmlns:a="http://schemas.openxmlformats.org/drawingml/2006/main">
              <a:ext uri="{FF2B5EF4-FFF2-40B4-BE49-F238E27FC236}">
                <a16:creationId xmlns:a16="http://schemas.microsoft.com/office/drawing/2014/main" id="{CA6F0EE6-4221-4FB8-B919-6FB09705CDB9}"/>
              </a:ext>
            </a:extLst>
          </p:cNvPr>
          <p:cNvSpPr>
            <a:spLocks xmlns:a="http://schemas.openxmlformats.org/drawingml/2006/main" noGrp="1"/>
          </p:cNvSpPr>
          <p:nvPr/>
        </p:nvSpPr>
        <p:spPr>
          <a:xfrm xmlns:a="http://schemas.openxmlformats.org/drawingml/2006/main">
            <a:off x="923925" y="3667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0.5 m</a:t>
            </a:r>
          </a:p>
        </p:txBody>
      </p:sp>
      <p:sp>
        <p:nvSpPr>
          <p:cNvPr id="31" name="">
            <a:extLst xmlns:a="http://schemas.openxmlformats.org/drawingml/2006/main">
              <a:ext uri="{FF2B5EF4-FFF2-40B4-BE49-F238E27FC236}">
                <a16:creationId xmlns:a16="http://schemas.microsoft.com/office/drawing/2014/main" id="{906F49FF-6B73-4618-A47F-39769A90D6F1}"/>
              </a:ext>
            </a:extLst>
          </p:cNvPr>
          <p:cNvSpPr>
            <a:spLocks xmlns:a="http://schemas.openxmlformats.org/drawingml/2006/main" noGrp="1"/>
          </p:cNvSpPr>
          <p:nvPr/>
        </p:nvSpPr>
        <p:spPr>
          <a:xfrm xmlns:a="http://schemas.openxmlformats.org/drawingml/2006/main">
            <a:off x="3362325" y="36766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253443"/>
                </a:solidFill>
                <a:latin typeface="Yu Gothic"/>
                <a:ea typeface="Yu Gothic"/>
                <a:cs typeface="Yu Gothic"/>
              </a:defRPr>
            </a:pPr>
            <a:r>
              <a:rPr sz="1725" b="1">
                <a:solidFill>
                  <a:srgbClr val="253443"/>
                </a:solidFill>
                <a:latin typeface="Yu Gothic"/>
                <a:ea typeface="Yu Gothic"/>
                <a:cs typeface="Yu Gothic"/>
              </a:rPr>
              <a:t>0.3720</a:t>
            </a:r>
          </a:p>
        </p:txBody>
      </p:sp>
      <p:sp>
        <p:nvSpPr>
          <p:cNvPr id="32" name="">
            <a:extLst xmlns:a="http://schemas.openxmlformats.org/drawingml/2006/main">
              <a:ext uri="{FF2B5EF4-FFF2-40B4-BE49-F238E27FC236}">
                <a16:creationId xmlns:a16="http://schemas.microsoft.com/office/drawing/2014/main" id="{26B63EAD-CC12-43A9-83EC-CE57F44585DB}"/>
              </a:ext>
            </a:extLst>
          </p:cNvPr>
          <p:cNvSpPr>
            <a:spLocks xmlns:a="http://schemas.openxmlformats.org/drawingml/2006/main" noGrp="1"/>
          </p:cNvSpPr>
          <p:nvPr/>
        </p:nvSpPr>
        <p:spPr>
          <a:xfrm xmlns:a="http://schemas.openxmlformats.org/drawingml/2006/main">
            <a:off x="5381625" y="3724275"/>
            <a:ext cx="17145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73A29E4-EFE4-4A73-BDF7-86FFCBE25BCB}"/>
              </a:ext>
            </a:extLst>
          </p:cNvPr>
          <p:cNvSpPr>
            <a:spLocks xmlns:a="http://schemas.openxmlformats.org/drawingml/2006/main" noGrp="1"/>
          </p:cNvSpPr>
          <p:nvPr/>
        </p:nvSpPr>
        <p:spPr>
          <a:xfrm xmlns:a="http://schemas.openxmlformats.org/drawingml/2006/main">
            <a:off x="5381625" y="3724275"/>
            <a:ext cx="1435037" cy="209550"/>
          </a:xfrm>
          <a:prstGeom xmlns:a="http://schemas.openxmlformats.org/drawingml/2006/main" prst="roundRect">
            <a:avLst>
              <a:gd name="adj" fmla="val 36364"/>
            </a:avLst>
          </a:prstGeom>
          <a:solidFill xmlns:a="http://schemas.openxmlformats.org/drawingml/2006/main">
            <a:srgbClr val="168C8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6BE9AAA-E988-473C-9BD9-85FD304AA186}"/>
              </a:ext>
            </a:extLst>
          </p:cNvPr>
          <p:cNvSpPr>
            <a:spLocks xmlns:a="http://schemas.openxmlformats.org/drawingml/2006/main" noGrp="1"/>
          </p:cNvSpPr>
          <p:nvPr/>
        </p:nvSpPr>
        <p:spPr>
          <a:xfrm xmlns:a="http://schemas.openxmlformats.org/drawingml/2006/main">
            <a:off x="7200900" y="36671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168C88"/>
                </a:solidFill>
                <a:latin typeface="Yu Gothic"/>
                <a:ea typeface="Yu Gothic"/>
                <a:cs typeface="Yu Gothic"/>
              </a:defRPr>
            </a:pPr>
            <a:r>
              <a:rPr sz="1575" b="1">
                <a:solidFill>
                  <a:srgbClr val="168C88"/>
                </a:solidFill>
                <a:latin typeface="Yu Gothic"/>
                <a:ea typeface="Yu Gothic"/>
                <a:cs typeface="Yu Gothic"/>
              </a:rPr>
              <a:t>0.837</a:t>
            </a:r>
          </a:p>
        </p:txBody>
      </p:sp>
      <p:sp>
        <p:nvSpPr>
          <p:cNvPr id="35" name="">
            <a:extLst xmlns:a="http://schemas.openxmlformats.org/drawingml/2006/main">
              <a:ext uri="{FF2B5EF4-FFF2-40B4-BE49-F238E27FC236}">
                <a16:creationId xmlns:a16="http://schemas.microsoft.com/office/drawing/2014/main" id="{76B4683A-7160-409B-90CF-CBE43F44BC3D}"/>
              </a:ext>
            </a:extLst>
          </p:cNvPr>
          <p:cNvSpPr>
            <a:spLocks xmlns:a="http://schemas.openxmlformats.org/drawingml/2006/main" noGrp="1"/>
          </p:cNvSpPr>
          <p:nvPr/>
        </p:nvSpPr>
        <p:spPr>
          <a:xfrm xmlns:a="http://schemas.openxmlformats.org/drawingml/2006/main">
            <a:off x="8420100" y="3724275"/>
            <a:ext cx="16764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F119060-675D-4ADA-9C95-D8F4CF376B27}"/>
              </a:ext>
            </a:extLst>
          </p:cNvPr>
          <p:cNvSpPr>
            <a:spLocks xmlns:a="http://schemas.openxmlformats.org/drawingml/2006/main" noGrp="1"/>
          </p:cNvSpPr>
          <p:nvPr/>
        </p:nvSpPr>
        <p:spPr>
          <a:xfrm xmlns:a="http://schemas.openxmlformats.org/drawingml/2006/main">
            <a:off x="8420100" y="3724275"/>
            <a:ext cx="512978" cy="209550"/>
          </a:xfrm>
          <a:prstGeom xmlns:a="http://schemas.openxmlformats.org/drawingml/2006/main" prst="roundRect">
            <a:avLst>
              <a:gd name="adj" fmla="val 36364"/>
            </a:avLst>
          </a:prstGeom>
          <a:solidFill xmlns:a="http://schemas.openxmlformats.org/drawingml/2006/main">
            <a:srgbClr val="D9883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19E339D-8217-4151-813E-159E9174982A}"/>
              </a:ext>
            </a:extLst>
          </p:cNvPr>
          <p:cNvSpPr>
            <a:spLocks xmlns:a="http://schemas.openxmlformats.org/drawingml/2006/main" noGrp="1"/>
          </p:cNvSpPr>
          <p:nvPr/>
        </p:nvSpPr>
        <p:spPr>
          <a:xfrm xmlns:a="http://schemas.openxmlformats.org/drawingml/2006/main">
            <a:off x="10201275" y="36671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D98839"/>
                </a:solidFill>
                <a:latin typeface="Yu Gothic"/>
                <a:ea typeface="Yu Gothic"/>
                <a:cs typeface="Yu Gothic"/>
              </a:defRPr>
            </a:pPr>
            <a:r>
              <a:rPr sz="1575" b="1">
                <a:solidFill>
                  <a:srgbClr val="D98839"/>
                </a:solidFill>
                <a:latin typeface="Yu Gothic"/>
                <a:ea typeface="Yu Gothic"/>
                <a:cs typeface="Yu Gothic"/>
              </a:rPr>
              <a:t>0.306</a:t>
            </a:r>
          </a:p>
        </p:txBody>
      </p:sp>
      <p:sp>
        <p:nvSpPr>
          <p:cNvPr id="38" name="">
            <a:extLst xmlns:a="http://schemas.openxmlformats.org/drawingml/2006/main">
              <a:ext uri="{FF2B5EF4-FFF2-40B4-BE49-F238E27FC236}">
                <a16:creationId xmlns:a16="http://schemas.microsoft.com/office/drawing/2014/main" id="{F18490F1-EC32-400A-AEB0-17068419AAC8}"/>
              </a:ext>
            </a:extLst>
          </p:cNvPr>
          <p:cNvSpPr>
            <a:spLocks xmlns:a="http://schemas.openxmlformats.org/drawingml/2006/main" noGrp="1"/>
          </p:cNvSpPr>
          <p:nvPr/>
        </p:nvSpPr>
        <p:spPr>
          <a:xfrm xmlns:a="http://schemas.openxmlformats.org/drawingml/2006/main">
            <a:off x="733425" y="4352925"/>
            <a:ext cx="1071562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1E7"/>
            </a:solidFill>
            <a:prstDash val="solid"/>
          </a:ln>
        </p:spPr>
      </p:sp>
      <p:sp>
        <p:nvSpPr>
          <p:cNvPr id="39" name="">
            <a:extLst xmlns:a="http://schemas.openxmlformats.org/drawingml/2006/main">
              <a:ext uri="{FF2B5EF4-FFF2-40B4-BE49-F238E27FC236}">
                <a16:creationId xmlns:a16="http://schemas.microsoft.com/office/drawing/2014/main" id="{60F7C0A4-C519-4CD7-A93B-2502CB33730F}"/>
              </a:ext>
            </a:extLst>
          </p:cNvPr>
          <p:cNvSpPr>
            <a:spLocks xmlns:a="http://schemas.openxmlformats.org/drawingml/2006/main" noGrp="1"/>
          </p:cNvSpPr>
          <p:nvPr/>
        </p:nvSpPr>
        <p:spPr>
          <a:xfrm xmlns:a="http://schemas.openxmlformats.org/drawingml/2006/main">
            <a:off x="923925" y="45053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142A43"/>
                </a:solidFill>
                <a:latin typeface="Yu Gothic"/>
                <a:ea typeface="Yu Gothic"/>
                <a:cs typeface="Yu Gothic"/>
              </a:defRPr>
            </a:pPr>
            <a:r>
              <a:rPr sz="1875" b="1">
                <a:solidFill>
                  <a:srgbClr val="142A43"/>
                </a:solidFill>
                <a:latin typeface="Yu Gothic"/>
                <a:ea typeface="Yu Gothic"/>
                <a:cs typeface="Yu Gothic"/>
              </a:rPr>
              <a:t>1.0 m</a:t>
            </a:r>
          </a:p>
        </p:txBody>
      </p:sp>
      <p:sp>
        <p:nvSpPr>
          <p:cNvPr id="40" name="">
            <a:extLst xmlns:a="http://schemas.openxmlformats.org/drawingml/2006/main">
              <a:ext uri="{FF2B5EF4-FFF2-40B4-BE49-F238E27FC236}">
                <a16:creationId xmlns:a16="http://schemas.microsoft.com/office/drawing/2014/main" id="{7A68A538-9B3E-4F4F-92A2-DA2AF1E873F5}"/>
              </a:ext>
            </a:extLst>
          </p:cNvPr>
          <p:cNvSpPr>
            <a:spLocks xmlns:a="http://schemas.openxmlformats.org/drawingml/2006/main" noGrp="1"/>
          </p:cNvSpPr>
          <p:nvPr/>
        </p:nvSpPr>
        <p:spPr>
          <a:xfrm xmlns:a="http://schemas.openxmlformats.org/drawingml/2006/main">
            <a:off x="3362325" y="45148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253443"/>
                </a:solidFill>
                <a:latin typeface="Yu Gothic"/>
                <a:ea typeface="Yu Gothic"/>
                <a:cs typeface="Yu Gothic"/>
              </a:defRPr>
            </a:pPr>
            <a:r>
              <a:rPr sz="1725" b="1">
                <a:solidFill>
                  <a:srgbClr val="253443"/>
                </a:solidFill>
                <a:latin typeface="Yu Gothic"/>
                <a:ea typeface="Yu Gothic"/>
                <a:cs typeface="Yu Gothic"/>
              </a:rPr>
              <a:t>0.7516</a:t>
            </a:r>
          </a:p>
        </p:txBody>
      </p:sp>
      <p:sp>
        <p:nvSpPr>
          <p:cNvPr id="41" name="">
            <a:extLst xmlns:a="http://schemas.openxmlformats.org/drawingml/2006/main">
              <a:ext uri="{FF2B5EF4-FFF2-40B4-BE49-F238E27FC236}">
                <a16:creationId xmlns:a16="http://schemas.microsoft.com/office/drawing/2014/main" id="{8A6A84B9-D48D-4D29-B5A0-D4D48657C73C}"/>
              </a:ext>
            </a:extLst>
          </p:cNvPr>
          <p:cNvSpPr>
            <a:spLocks xmlns:a="http://schemas.openxmlformats.org/drawingml/2006/main" noGrp="1"/>
          </p:cNvSpPr>
          <p:nvPr/>
        </p:nvSpPr>
        <p:spPr>
          <a:xfrm xmlns:a="http://schemas.openxmlformats.org/drawingml/2006/main">
            <a:off x="5381625" y="4562475"/>
            <a:ext cx="17145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7C8A527-83C5-4296-A580-0C0D7D82617A}"/>
              </a:ext>
            </a:extLst>
          </p:cNvPr>
          <p:cNvSpPr>
            <a:spLocks xmlns:a="http://schemas.openxmlformats.org/drawingml/2006/main" noGrp="1"/>
          </p:cNvSpPr>
          <p:nvPr/>
        </p:nvSpPr>
        <p:spPr>
          <a:xfrm xmlns:a="http://schemas.openxmlformats.org/drawingml/2006/main">
            <a:off x="5381625" y="4562475"/>
            <a:ext cx="1513904" cy="209550"/>
          </a:xfrm>
          <a:prstGeom xmlns:a="http://schemas.openxmlformats.org/drawingml/2006/main" prst="roundRect">
            <a:avLst>
              <a:gd name="adj" fmla="val 36364"/>
            </a:avLst>
          </a:prstGeom>
          <a:solidFill xmlns:a="http://schemas.openxmlformats.org/drawingml/2006/main">
            <a:srgbClr val="168C8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24BB2B2-2915-4D2E-A61C-125B948F745E}"/>
              </a:ext>
            </a:extLst>
          </p:cNvPr>
          <p:cNvSpPr>
            <a:spLocks xmlns:a="http://schemas.openxmlformats.org/drawingml/2006/main" noGrp="1"/>
          </p:cNvSpPr>
          <p:nvPr/>
        </p:nvSpPr>
        <p:spPr>
          <a:xfrm xmlns:a="http://schemas.openxmlformats.org/drawingml/2006/main">
            <a:off x="7200900" y="45053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168C88"/>
                </a:solidFill>
                <a:latin typeface="Yu Gothic"/>
                <a:ea typeface="Yu Gothic"/>
                <a:cs typeface="Yu Gothic"/>
              </a:defRPr>
            </a:pPr>
            <a:r>
              <a:rPr sz="1575" b="1">
                <a:solidFill>
                  <a:srgbClr val="168C88"/>
                </a:solidFill>
                <a:latin typeface="Yu Gothic"/>
                <a:ea typeface="Yu Gothic"/>
                <a:cs typeface="Yu Gothic"/>
              </a:rPr>
              <a:t>0.883</a:t>
            </a:r>
          </a:p>
        </p:txBody>
      </p:sp>
      <p:sp>
        <p:nvSpPr>
          <p:cNvPr id="44" name="">
            <a:extLst xmlns:a="http://schemas.openxmlformats.org/drawingml/2006/main">
              <a:ext uri="{FF2B5EF4-FFF2-40B4-BE49-F238E27FC236}">
                <a16:creationId xmlns:a16="http://schemas.microsoft.com/office/drawing/2014/main" id="{8D01AE68-F4B0-4624-9864-F0398493CF09}"/>
              </a:ext>
            </a:extLst>
          </p:cNvPr>
          <p:cNvSpPr>
            <a:spLocks xmlns:a="http://schemas.openxmlformats.org/drawingml/2006/main" noGrp="1"/>
          </p:cNvSpPr>
          <p:nvPr/>
        </p:nvSpPr>
        <p:spPr>
          <a:xfrm xmlns:a="http://schemas.openxmlformats.org/drawingml/2006/main">
            <a:off x="8420100" y="4562475"/>
            <a:ext cx="1676400" cy="209550"/>
          </a:xfrm>
          <a:prstGeom xmlns:a="http://schemas.openxmlformats.org/drawingml/2006/main" prst="roundRect">
            <a:avLst>
              <a:gd name="adj" fmla="val 36364"/>
            </a:avLst>
          </a:prstGeom>
          <a:solidFill xmlns:a="http://schemas.openxmlformats.org/drawingml/2006/main">
            <a:srgbClr val="D9E1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CAC28F6-5F44-4191-8FBA-7F48150DFBC4}"/>
              </a:ext>
            </a:extLst>
          </p:cNvPr>
          <p:cNvSpPr>
            <a:spLocks xmlns:a="http://schemas.openxmlformats.org/drawingml/2006/main" noGrp="1"/>
          </p:cNvSpPr>
          <p:nvPr/>
        </p:nvSpPr>
        <p:spPr>
          <a:xfrm xmlns:a="http://schemas.openxmlformats.org/drawingml/2006/main">
            <a:off x="8420100" y="4562475"/>
            <a:ext cx="417424" cy="209550"/>
          </a:xfrm>
          <a:prstGeom xmlns:a="http://schemas.openxmlformats.org/drawingml/2006/main" prst="roundRect">
            <a:avLst>
              <a:gd name="adj" fmla="val 36364"/>
            </a:avLst>
          </a:prstGeom>
          <a:solidFill xmlns:a="http://schemas.openxmlformats.org/drawingml/2006/main">
            <a:srgbClr val="D98839"/>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9903ED3-056C-4195-9F0B-1BC0014CE3BF}"/>
              </a:ext>
            </a:extLst>
          </p:cNvPr>
          <p:cNvSpPr>
            <a:spLocks xmlns:a="http://schemas.openxmlformats.org/drawingml/2006/main" noGrp="1"/>
          </p:cNvSpPr>
          <p:nvPr/>
        </p:nvSpPr>
        <p:spPr>
          <a:xfrm xmlns:a="http://schemas.openxmlformats.org/drawingml/2006/main">
            <a:off x="10201275" y="45053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75" b="1">
                <a:solidFill>
                  <a:srgbClr val="D98839"/>
                </a:solidFill>
                <a:latin typeface="Yu Gothic"/>
                <a:ea typeface="Yu Gothic"/>
                <a:cs typeface="Yu Gothic"/>
              </a:defRPr>
            </a:pPr>
            <a:r>
              <a:rPr sz="1575" b="1">
                <a:solidFill>
                  <a:srgbClr val="D98839"/>
                </a:solidFill>
                <a:latin typeface="Yu Gothic"/>
                <a:ea typeface="Yu Gothic"/>
                <a:cs typeface="Yu Gothic"/>
              </a:rPr>
              <a:t>0.249</a:t>
            </a:r>
          </a:p>
        </p:txBody>
      </p:sp>
      <p:sp>
        <p:nvSpPr>
          <p:cNvPr id="47" name="">
            <a:extLst xmlns:a="http://schemas.openxmlformats.org/drawingml/2006/main">
              <a:ext uri="{FF2B5EF4-FFF2-40B4-BE49-F238E27FC236}">
                <a16:creationId xmlns:a16="http://schemas.microsoft.com/office/drawing/2014/main" id="{8EB71433-316A-4ECE-8AAF-F009BE6259B0}"/>
              </a:ext>
            </a:extLst>
          </p:cNvPr>
          <p:cNvSpPr>
            <a:spLocks xmlns:a="http://schemas.openxmlformats.org/drawingml/2006/main" noGrp="1"/>
          </p:cNvSpPr>
          <p:nvPr/>
        </p:nvSpPr>
        <p:spPr>
          <a:xfrm xmlns:a="http://schemas.openxmlformats.org/drawingml/2006/main">
            <a:off x="762000" y="5391150"/>
            <a:ext cx="10668000" cy="609600"/>
          </a:xfrm>
          <a:prstGeom xmlns:a="http://schemas.openxmlformats.org/drawingml/2006/main" prst="roundRect">
            <a:avLst>
              <a:gd name="adj" fmla="val 12500"/>
            </a:avLst>
          </a:prstGeom>
          <a:solidFill xmlns:a="http://schemas.openxmlformats.org/drawingml/2006/main">
            <a:srgbClr val="F8EBD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C4D78676-42F0-4412-916B-ECB9D53384F0}"/>
              </a:ext>
            </a:extLst>
          </p:cNvPr>
          <p:cNvSpPr>
            <a:spLocks xmlns:a="http://schemas.openxmlformats.org/drawingml/2006/main" noGrp="1"/>
          </p:cNvSpPr>
          <p:nvPr/>
        </p:nvSpPr>
        <p:spPr>
          <a:xfrm xmlns:a="http://schemas.openxmlformats.org/drawingml/2006/main">
            <a:off x="962025" y="55054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B54747"/>
                </a:solidFill>
                <a:latin typeface="Yu Gothic"/>
                <a:ea typeface="Yu Gothic"/>
                <a:cs typeface="Yu Gothic"/>
              </a:defRPr>
            </a:pPr>
            <a:r>
              <a:rPr sz="1650" b="1">
                <a:solidFill>
                  <a:srgbClr val="B54747"/>
                </a:solidFill>
                <a:latin typeface="Yu Gothic"/>
                <a:ea typeface="Yu Gothic"/>
                <a:cs typeface="Yu Gothic"/>
              </a:rPr>
              <a:t>大きな差ほど符号は合いやすい。一方、slope 0.18–0.31は差分振幅の強い圧縮を示す。</a:t>
            </a:r>
          </a:p>
        </p:txBody>
      </p:sp>
    </p:spTree>
    <p:extLst>
      <p:ext uri="{BB962C8B-B14F-4D97-AF65-F5344CB8AC3E}">
        <p14:creationId xmlns:p14="http://schemas.microsoft.com/office/powerpoint/2010/main" val="6276816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12BFFCC-8CC4-4D0E-959E-376B124B17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79A55A-D3C9-4140-AD23-F11277D19EC1}"/>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AirMeasurer：実稲画像とCHMの比較</a:t>
            </a:r>
          </a:p>
        </p:txBody>
      </p:sp>
      <p:sp>
        <p:nvSpPr>
          <p:cNvPr id="3" name="">
            <a:extLst xmlns:a="http://schemas.openxmlformats.org/drawingml/2006/main">
              <a:ext uri="{FF2B5EF4-FFF2-40B4-BE49-F238E27FC236}">
                <a16:creationId xmlns:a16="http://schemas.microsoft.com/office/drawing/2014/main" id="{1A3C50D7-D252-4ABA-B055-8AAE222D6905}"/>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81D1E8-F68A-43E2-975A-B911E074EFAD}"/>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3D97BF-13C9-4ADF-A784-3406014C1717}"/>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[6] AirMeasurer rice field, 2022-05-05; relative DA2 vs approximate CHM from orthomosaic + LAS.</a:t>
            </a:r>
          </a:p>
        </p:txBody>
      </p:sp>
      <p:sp>
        <p:nvSpPr>
          <p:cNvPr id="6" name="">
            <a:extLst xmlns:a="http://schemas.openxmlformats.org/drawingml/2006/main">
              <a:ext uri="{FF2B5EF4-FFF2-40B4-BE49-F238E27FC236}">
                <a16:creationId xmlns:a16="http://schemas.microsoft.com/office/drawing/2014/main" id="{4C8E03ED-7830-4144-977B-4119F7201BB0}"/>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11</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8018e16bf67449f"/>
          <a:stretch xmlns:a="http://schemas.openxmlformats.org/drawingml/2006/main"/>
        </p:blipFill>
        <p:spPr>
          <a:xfrm xmlns:a="http://schemas.openxmlformats.org/drawingml/2006/main">
            <a:off x="2344511" y="1295400"/>
            <a:ext cx="7445829" cy="2895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E2915E1-D62A-42E2-8E9A-AE0EFA242DDD}"/>
              </a:ext>
            </a:extLst>
          </p:cNvPr>
          <p:cNvSpPr>
            <a:spLocks xmlns:a="http://schemas.openxmlformats.org/drawingml/2006/main" noGrp="1"/>
          </p:cNvSpPr>
          <p:nvPr/>
        </p:nvSpPr>
        <p:spPr>
          <a:xfrm xmlns:a="http://schemas.openxmlformats.org/drawingml/2006/main">
            <a:off x="952500" y="4400550"/>
            <a:ext cx="2362200" cy="628650"/>
          </a:xfrm>
          <a:prstGeom xmlns:a="http://schemas.openxmlformats.org/drawingml/2006/main" prst="roundRect">
            <a:avLst>
              <a:gd name="adj" fmla="val 12121"/>
            </a:avLst>
          </a:prstGeom>
          <a:solidFill xmlns:a="http://schemas.openxmlformats.org/drawingml/2006/main">
            <a:srgbClr val="DCEAF4"/>
          </a:solidFill>
          <a:ln xmlns:a="http://schemas.openxmlformats.org/drawingml/2006/main" w="9525">
            <a:solidFill>
              <a:srgbClr val="D9E1E7"/>
            </a:solidFill>
            <a:prstDash val="solid"/>
          </a:ln>
        </p:spPr>
      </p:sp>
      <p:sp>
        <p:nvSpPr>
          <p:cNvPr id="9" name="">
            <a:extLst xmlns:a="http://schemas.openxmlformats.org/drawingml/2006/main">
              <a:ext uri="{FF2B5EF4-FFF2-40B4-BE49-F238E27FC236}">
                <a16:creationId xmlns:a16="http://schemas.microsoft.com/office/drawing/2014/main" id="{14E0390D-3968-4B81-AC66-002E5BE958FE}"/>
              </a:ext>
            </a:extLst>
          </p:cNvPr>
          <p:cNvSpPr>
            <a:spLocks xmlns:a="http://schemas.openxmlformats.org/drawingml/2006/main" noGrp="1"/>
          </p:cNvSpPr>
          <p:nvPr/>
        </p:nvSpPr>
        <p:spPr>
          <a:xfrm xmlns:a="http://schemas.openxmlformats.org/drawingml/2006/main">
            <a:off x="952500" y="4400550"/>
            <a:ext cx="66675" cy="628650"/>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094C6A-9450-4A42-8A58-9F8CD7CE8EDA}"/>
              </a:ext>
            </a:extLst>
          </p:cNvPr>
          <p:cNvSpPr>
            <a:spLocks xmlns:a="http://schemas.openxmlformats.org/drawingml/2006/main" noGrp="1"/>
          </p:cNvSpPr>
          <p:nvPr/>
        </p:nvSpPr>
        <p:spPr>
          <a:xfrm xmlns:a="http://schemas.openxmlformats.org/drawingml/2006/main">
            <a:off x="1114425" y="44958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Orthomosaic + LAS</a:t>
            </a:r>
          </a:p>
        </p:txBody>
      </p:sp>
      <p:sp>
        <p:nvSpPr>
          <p:cNvPr id="11" name="">
            <a:extLst xmlns:a="http://schemas.openxmlformats.org/drawingml/2006/main">
              <a:ext uri="{FF2B5EF4-FFF2-40B4-BE49-F238E27FC236}">
                <a16:creationId xmlns:a16="http://schemas.microsoft.com/office/drawing/2014/main" id="{BE4FC97C-3495-4175-B163-790736FE964E}"/>
              </a:ext>
            </a:extLst>
          </p:cNvPr>
          <p:cNvSpPr>
            <a:spLocks xmlns:a="http://schemas.openxmlformats.org/drawingml/2006/main" noGrp="1"/>
          </p:cNvSpPr>
          <p:nvPr/>
        </p:nvSpPr>
        <p:spPr>
          <a:xfrm xmlns:a="http://schemas.openxmlformats.org/drawingml/2006/main">
            <a:off x="3476625" y="4581525"/>
            <a:ext cx="45720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085FB5-F19F-4291-A28B-4C942E75592B}"/>
              </a:ext>
            </a:extLst>
          </p:cNvPr>
          <p:cNvSpPr>
            <a:spLocks xmlns:a="http://schemas.openxmlformats.org/drawingml/2006/main" noGrp="1"/>
          </p:cNvSpPr>
          <p:nvPr/>
        </p:nvSpPr>
        <p:spPr>
          <a:xfrm xmlns:a="http://schemas.openxmlformats.org/drawingml/2006/main">
            <a:off x="4029075" y="4400550"/>
            <a:ext cx="2000250" cy="628650"/>
          </a:xfrm>
          <a:prstGeom xmlns:a="http://schemas.openxmlformats.org/drawingml/2006/main" prst="roundRect">
            <a:avLst>
              <a:gd name="adj" fmla="val 12121"/>
            </a:avLst>
          </a:prstGeom>
          <a:solidFill xmlns:a="http://schemas.openxmlformats.org/drawingml/2006/main">
            <a:srgbClr val="F4F7F9"/>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F96864E3-1316-49EB-A717-16484A9375E7}"/>
              </a:ext>
            </a:extLst>
          </p:cNvPr>
          <p:cNvSpPr>
            <a:spLocks xmlns:a="http://schemas.openxmlformats.org/drawingml/2006/main" noGrp="1"/>
          </p:cNvSpPr>
          <p:nvPr/>
        </p:nvSpPr>
        <p:spPr>
          <a:xfrm xmlns:a="http://schemas.openxmlformats.org/drawingml/2006/main">
            <a:off x="4029075" y="4400550"/>
            <a:ext cx="66675" cy="62865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690A63-669E-467F-96B6-D95E36B2AB9F}"/>
              </a:ext>
            </a:extLst>
          </p:cNvPr>
          <p:cNvSpPr>
            <a:spLocks xmlns:a="http://schemas.openxmlformats.org/drawingml/2006/main" noGrp="1"/>
          </p:cNvSpPr>
          <p:nvPr/>
        </p:nvSpPr>
        <p:spPr>
          <a:xfrm xmlns:a="http://schemas.openxmlformats.org/drawingml/2006/main">
            <a:off x="4191000" y="449580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DSM / DEM</a:t>
            </a:r>
          </a:p>
        </p:txBody>
      </p:sp>
      <p:sp>
        <p:nvSpPr>
          <p:cNvPr id="15" name="">
            <a:extLst xmlns:a="http://schemas.openxmlformats.org/drawingml/2006/main">
              <a:ext uri="{FF2B5EF4-FFF2-40B4-BE49-F238E27FC236}">
                <a16:creationId xmlns:a16="http://schemas.microsoft.com/office/drawing/2014/main" id="{C1961B29-57D1-40D5-BE21-196805B04C58}"/>
              </a:ext>
            </a:extLst>
          </p:cNvPr>
          <p:cNvSpPr>
            <a:spLocks xmlns:a="http://schemas.openxmlformats.org/drawingml/2006/main" noGrp="1"/>
          </p:cNvSpPr>
          <p:nvPr/>
        </p:nvSpPr>
        <p:spPr>
          <a:xfrm xmlns:a="http://schemas.openxmlformats.org/drawingml/2006/main">
            <a:off x="6172200" y="4581525"/>
            <a:ext cx="45720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A06A2B-E9F4-4308-9CE9-38E59484A421}"/>
              </a:ext>
            </a:extLst>
          </p:cNvPr>
          <p:cNvSpPr>
            <a:spLocks xmlns:a="http://schemas.openxmlformats.org/drawingml/2006/main" noGrp="1"/>
          </p:cNvSpPr>
          <p:nvPr/>
        </p:nvSpPr>
        <p:spPr>
          <a:xfrm xmlns:a="http://schemas.openxmlformats.org/drawingml/2006/main">
            <a:off x="6705600" y="4400550"/>
            <a:ext cx="1619250" cy="628650"/>
          </a:xfrm>
          <a:prstGeom xmlns:a="http://schemas.openxmlformats.org/drawingml/2006/main" prst="roundRect">
            <a:avLst>
              <a:gd name="adj" fmla="val 12121"/>
            </a:avLst>
          </a:prstGeom>
          <a:solidFill xmlns:a="http://schemas.openxmlformats.org/drawingml/2006/main">
            <a:srgbClr val="E3F3F1"/>
          </a:solidFill>
          <a:ln xmlns:a="http://schemas.openxmlformats.org/drawingml/2006/main" w="9525">
            <a:solidFill>
              <a:srgbClr val="D9E1E7"/>
            </a:solidFill>
            <a:prstDash val="solid"/>
          </a:ln>
        </p:spPr>
      </p:sp>
      <p:sp>
        <p:nvSpPr>
          <p:cNvPr id="17" name="">
            <a:extLst xmlns:a="http://schemas.openxmlformats.org/drawingml/2006/main">
              <a:ext uri="{FF2B5EF4-FFF2-40B4-BE49-F238E27FC236}">
                <a16:creationId xmlns:a16="http://schemas.microsoft.com/office/drawing/2014/main" id="{D3406D3E-1C50-4FE8-AA27-29763D966FBB}"/>
              </a:ext>
            </a:extLst>
          </p:cNvPr>
          <p:cNvSpPr>
            <a:spLocks xmlns:a="http://schemas.openxmlformats.org/drawingml/2006/main" noGrp="1"/>
          </p:cNvSpPr>
          <p:nvPr/>
        </p:nvSpPr>
        <p:spPr>
          <a:xfrm xmlns:a="http://schemas.openxmlformats.org/drawingml/2006/main">
            <a:off x="6705600" y="4400550"/>
            <a:ext cx="66675" cy="628650"/>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487FB10-3127-41FD-9F4E-2851DC247942}"/>
              </a:ext>
            </a:extLst>
          </p:cNvPr>
          <p:cNvSpPr>
            <a:spLocks xmlns:a="http://schemas.openxmlformats.org/drawingml/2006/main" noGrp="1"/>
          </p:cNvSpPr>
          <p:nvPr/>
        </p:nvSpPr>
        <p:spPr>
          <a:xfrm xmlns:a="http://schemas.openxmlformats.org/drawingml/2006/main">
            <a:off x="6867525" y="4495800"/>
            <a:ext cx="135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CHM</a:t>
            </a:r>
          </a:p>
        </p:txBody>
      </p:sp>
      <p:sp>
        <p:nvSpPr>
          <p:cNvPr id="19" name="">
            <a:extLst xmlns:a="http://schemas.openxmlformats.org/drawingml/2006/main">
              <a:ext uri="{FF2B5EF4-FFF2-40B4-BE49-F238E27FC236}">
                <a16:creationId xmlns:a16="http://schemas.microsoft.com/office/drawing/2014/main" id="{54AE1D4D-4469-4166-9023-A5EDE7961E3D}"/>
              </a:ext>
            </a:extLst>
          </p:cNvPr>
          <p:cNvSpPr>
            <a:spLocks xmlns:a="http://schemas.openxmlformats.org/drawingml/2006/main" noGrp="1"/>
          </p:cNvSpPr>
          <p:nvPr/>
        </p:nvSpPr>
        <p:spPr>
          <a:xfrm xmlns:a="http://schemas.openxmlformats.org/drawingml/2006/main">
            <a:off x="8467725" y="4581525"/>
            <a:ext cx="45720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159EE3-518E-45D2-B51E-A910CCC71969}"/>
              </a:ext>
            </a:extLst>
          </p:cNvPr>
          <p:cNvSpPr>
            <a:spLocks xmlns:a="http://schemas.openxmlformats.org/drawingml/2006/main" noGrp="1"/>
          </p:cNvSpPr>
          <p:nvPr/>
        </p:nvSpPr>
        <p:spPr>
          <a:xfrm xmlns:a="http://schemas.openxmlformats.org/drawingml/2006/main">
            <a:off x="9001125" y="4400550"/>
            <a:ext cx="2400300" cy="628650"/>
          </a:xfrm>
          <a:prstGeom xmlns:a="http://schemas.openxmlformats.org/drawingml/2006/main" prst="roundRect">
            <a:avLst>
              <a:gd name="adj" fmla="val 12121"/>
            </a:avLst>
          </a:prstGeom>
          <a:solidFill xmlns:a="http://schemas.openxmlformats.org/drawingml/2006/main">
            <a:srgbClr val="F8EBDD"/>
          </a:solidFill>
          <a:ln xmlns:a="http://schemas.openxmlformats.org/drawingml/2006/main" w="9525">
            <a:solidFill>
              <a:srgbClr val="D9E1E7"/>
            </a:solidFill>
            <a:prstDash val="solid"/>
          </a:ln>
        </p:spPr>
      </p:sp>
      <p:sp>
        <p:nvSpPr>
          <p:cNvPr id="21" name="">
            <a:extLst xmlns:a="http://schemas.openxmlformats.org/drawingml/2006/main">
              <a:ext uri="{FF2B5EF4-FFF2-40B4-BE49-F238E27FC236}">
                <a16:creationId xmlns:a16="http://schemas.microsoft.com/office/drawing/2014/main" id="{3A7BB6A0-96D1-450A-90E4-1014784BC147}"/>
              </a:ext>
            </a:extLst>
          </p:cNvPr>
          <p:cNvSpPr>
            <a:spLocks xmlns:a="http://schemas.openxmlformats.org/drawingml/2006/main" noGrp="1"/>
          </p:cNvSpPr>
          <p:nvPr/>
        </p:nvSpPr>
        <p:spPr>
          <a:xfrm xmlns:a="http://schemas.openxmlformats.org/drawingml/2006/main">
            <a:off x="9001125" y="4400550"/>
            <a:ext cx="66675" cy="628650"/>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D806BFF-DE3B-4D61-B6A2-103618D314F4}"/>
              </a:ext>
            </a:extLst>
          </p:cNvPr>
          <p:cNvSpPr>
            <a:spLocks xmlns:a="http://schemas.openxmlformats.org/drawingml/2006/main" noGrp="1"/>
          </p:cNvSpPr>
          <p:nvPr/>
        </p:nvSpPr>
        <p:spPr>
          <a:xfrm xmlns:a="http://schemas.openxmlformats.org/drawingml/2006/main">
            <a:off x="9163050" y="449580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DA2 relative depth</a:t>
            </a:r>
          </a:p>
        </p:txBody>
      </p:sp>
      <p:sp>
        <p:nvSpPr>
          <p:cNvPr id="23" name="">
            <a:extLst xmlns:a="http://schemas.openxmlformats.org/drawingml/2006/main">
              <a:ext uri="{FF2B5EF4-FFF2-40B4-BE49-F238E27FC236}">
                <a16:creationId xmlns:a16="http://schemas.microsoft.com/office/drawing/2014/main" id="{63342288-AA75-4134-ABAE-B605F726FF8E}"/>
              </a:ext>
            </a:extLst>
          </p:cNvPr>
          <p:cNvSpPr>
            <a:spLocks xmlns:a="http://schemas.openxmlformats.org/drawingml/2006/main" noGrp="1"/>
          </p:cNvSpPr>
          <p:nvPr/>
        </p:nvSpPr>
        <p:spPr>
          <a:xfrm xmlns:a="http://schemas.openxmlformats.org/drawingml/2006/main">
            <a:off x="1314450" y="5238750"/>
            <a:ext cx="2000250" cy="819150"/>
          </a:xfrm>
          <a:prstGeom xmlns:a="http://schemas.openxmlformats.org/drawingml/2006/main" prst="roundRect">
            <a:avLst>
              <a:gd name="adj" fmla="val 9302"/>
            </a:avLst>
          </a:prstGeom>
          <a:solidFill xmlns:a="http://schemas.openxmlformats.org/drawingml/2006/main">
            <a:srgbClr val="F4F7F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BE7EAFE-BEDB-40B4-A2B4-82F6B0A832DC}"/>
              </a:ext>
            </a:extLst>
          </p:cNvPr>
          <p:cNvSpPr>
            <a:spLocks xmlns:a="http://schemas.openxmlformats.org/drawingml/2006/main" noGrp="1"/>
          </p:cNvSpPr>
          <p:nvPr/>
        </p:nvSpPr>
        <p:spPr>
          <a:xfrm xmlns:a="http://schemas.openxmlformats.org/drawingml/2006/main">
            <a:off x="1428750" y="52959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2717F"/>
                </a:solidFill>
                <a:latin typeface="Yu Gothic"/>
                <a:ea typeface="Yu Gothic"/>
                <a:cs typeface="Yu Gothic"/>
              </a:defRPr>
            </a:pPr>
            <a:r>
              <a:rPr sz="1125" b="1">
                <a:solidFill>
                  <a:srgbClr val="62717F"/>
                </a:solidFill>
                <a:latin typeface="Yu Gothic"/>
                <a:ea typeface="Yu Gothic"/>
                <a:cs typeface="Yu Gothic"/>
              </a:rPr>
              <a:t>Pearson</a:t>
            </a:r>
          </a:p>
        </p:txBody>
      </p:sp>
      <p:sp>
        <p:nvSpPr>
          <p:cNvPr id="25" name="">
            <a:extLst xmlns:a="http://schemas.openxmlformats.org/drawingml/2006/main">
              <a:ext uri="{FF2B5EF4-FFF2-40B4-BE49-F238E27FC236}">
                <a16:creationId xmlns:a16="http://schemas.microsoft.com/office/drawing/2014/main" id="{6D910A60-5A72-4524-8C68-129362950DBB}"/>
              </a:ext>
            </a:extLst>
          </p:cNvPr>
          <p:cNvSpPr>
            <a:spLocks xmlns:a="http://schemas.openxmlformats.org/drawingml/2006/main" noGrp="1"/>
          </p:cNvSpPr>
          <p:nvPr/>
        </p:nvSpPr>
        <p:spPr>
          <a:xfrm xmlns:a="http://schemas.openxmlformats.org/drawingml/2006/main">
            <a:off x="1428750" y="551497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950" b="1">
                <a:solidFill>
                  <a:srgbClr val="142A43"/>
                </a:solidFill>
                <a:latin typeface="Yu Gothic"/>
                <a:ea typeface="Yu Gothic"/>
                <a:cs typeface="Yu Gothic"/>
              </a:defRPr>
            </a:pPr>
            <a:r>
              <a:rPr sz="1950" b="1">
                <a:solidFill>
                  <a:srgbClr val="142A43"/>
                </a:solidFill>
                <a:latin typeface="Yu Gothic"/>
                <a:ea typeface="Yu Gothic"/>
                <a:cs typeface="Yu Gothic"/>
              </a:rPr>
              <a:t>0.258</a:t>
            </a:r>
          </a:p>
        </p:txBody>
      </p:sp>
      <p:sp>
        <p:nvSpPr>
          <p:cNvPr id="26" name="">
            <a:extLst xmlns:a="http://schemas.openxmlformats.org/drawingml/2006/main">
              <a:ext uri="{FF2B5EF4-FFF2-40B4-BE49-F238E27FC236}">
                <a16:creationId xmlns:a16="http://schemas.microsoft.com/office/drawing/2014/main" id="{344B5E24-0D6D-4993-8DC2-9AB9A6A83011}"/>
              </a:ext>
            </a:extLst>
          </p:cNvPr>
          <p:cNvSpPr>
            <a:spLocks xmlns:a="http://schemas.openxmlformats.org/drawingml/2006/main" noGrp="1"/>
          </p:cNvSpPr>
          <p:nvPr/>
        </p:nvSpPr>
        <p:spPr>
          <a:xfrm xmlns:a="http://schemas.openxmlformats.org/drawingml/2006/main">
            <a:off x="3524250" y="5238750"/>
            <a:ext cx="2000250" cy="819150"/>
          </a:xfrm>
          <a:prstGeom xmlns:a="http://schemas.openxmlformats.org/drawingml/2006/main" prst="roundRect">
            <a:avLst>
              <a:gd name="adj" fmla="val 9302"/>
            </a:avLst>
          </a:prstGeom>
          <a:solidFill xmlns:a="http://schemas.openxmlformats.org/drawingml/2006/main">
            <a:srgbClr val="F4F7F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22F8BF9-6DA6-4739-8D03-60AD143C9794}"/>
              </a:ext>
            </a:extLst>
          </p:cNvPr>
          <p:cNvSpPr>
            <a:spLocks xmlns:a="http://schemas.openxmlformats.org/drawingml/2006/main" noGrp="1"/>
          </p:cNvSpPr>
          <p:nvPr/>
        </p:nvSpPr>
        <p:spPr>
          <a:xfrm xmlns:a="http://schemas.openxmlformats.org/drawingml/2006/main">
            <a:off x="3638550" y="52959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2717F"/>
                </a:solidFill>
                <a:latin typeface="Yu Gothic"/>
                <a:ea typeface="Yu Gothic"/>
                <a:cs typeface="Yu Gothic"/>
              </a:defRPr>
            </a:pPr>
            <a:r>
              <a:rPr sz="1125" b="1">
                <a:solidFill>
                  <a:srgbClr val="62717F"/>
                </a:solidFill>
                <a:latin typeface="Yu Gothic"/>
                <a:ea typeface="Yu Gothic"/>
                <a:cs typeface="Yu Gothic"/>
              </a:rPr>
              <a:t>Spearman</a:t>
            </a:r>
          </a:p>
        </p:txBody>
      </p:sp>
      <p:sp>
        <p:nvSpPr>
          <p:cNvPr id="28" name="">
            <a:extLst xmlns:a="http://schemas.openxmlformats.org/drawingml/2006/main">
              <a:ext uri="{FF2B5EF4-FFF2-40B4-BE49-F238E27FC236}">
                <a16:creationId xmlns:a16="http://schemas.microsoft.com/office/drawing/2014/main" id="{BB529986-8B44-45DB-863C-E921B5AA1E07}"/>
              </a:ext>
            </a:extLst>
          </p:cNvPr>
          <p:cNvSpPr>
            <a:spLocks xmlns:a="http://schemas.openxmlformats.org/drawingml/2006/main" noGrp="1"/>
          </p:cNvSpPr>
          <p:nvPr/>
        </p:nvSpPr>
        <p:spPr>
          <a:xfrm xmlns:a="http://schemas.openxmlformats.org/drawingml/2006/main">
            <a:off x="3638550" y="551497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950" b="1">
                <a:solidFill>
                  <a:srgbClr val="142A43"/>
                </a:solidFill>
                <a:latin typeface="Yu Gothic"/>
                <a:ea typeface="Yu Gothic"/>
                <a:cs typeface="Yu Gothic"/>
              </a:defRPr>
            </a:pPr>
            <a:r>
              <a:rPr sz="1950" b="1">
                <a:solidFill>
                  <a:srgbClr val="142A43"/>
                </a:solidFill>
                <a:latin typeface="Yu Gothic"/>
                <a:ea typeface="Yu Gothic"/>
                <a:cs typeface="Yu Gothic"/>
              </a:rPr>
              <a:t>0.210</a:t>
            </a:r>
          </a:p>
        </p:txBody>
      </p:sp>
      <p:sp>
        <p:nvSpPr>
          <p:cNvPr id="29" name="">
            <a:extLst xmlns:a="http://schemas.openxmlformats.org/drawingml/2006/main">
              <a:ext uri="{FF2B5EF4-FFF2-40B4-BE49-F238E27FC236}">
                <a16:creationId xmlns:a16="http://schemas.microsoft.com/office/drawing/2014/main" id="{7FD0FBD7-4032-4E45-AC7C-D1C77802D9E0}"/>
              </a:ext>
            </a:extLst>
          </p:cNvPr>
          <p:cNvSpPr>
            <a:spLocks xmlns:a="http://schemas.openxmlformats.org/drawingml/2006/main" noGrp="1"/>
          </p:cNvSpPr>
          <p:nvPr/>
        </p:nvSpPr>
        <p:spPr>
          <a:xfrm xmlns:a="http://schemas.openxmlformats.org/drawingml/2006/main">
            <a:off x="5734050" y="5238750"/>
            <a:ext cx="2476500" cy="819150"/>
          </a:xfrm>
          <a:prstGeom xmlns:a="http://schemas.openxmlformats.org/drawingml/2006/main" prst="roundRect">
            <a:avLst>
              <a:gd name="adj" fmla="val 9302"/>
            </a:avLst>
          </a:prstGeom>
          <a:solidFill xmlns:a="http://schemas.openxmlformats.org/drawingml/2006/main">
            <a:srgbClr val="F4F7F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AE11083-FD19-436B-9C5A-C70B6867A60A}"/>
              </a:ext>
            </a:extLst>
          </p:cNvPr>
          <p:cNvSpPr>
            <a:spLocks xmlns:a="http://schemas.openxmlformats.org/drawingml/2006/main" noGrp="1"/>
          </p:cNvSpPr>
          <p:nvPr/>
        </p:nvSpPr>
        <p:spPr>
          <a:xfrm xmlns:a="http://schemas.openxmlformats.org/drawingml/2006/main">
            <a:off x="5848350" y="529590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2717F"/>
                </a:solidFill>
                <a:latin typeface="Yu Gothic"/>
                <a:ea typeface="Yu Gothic"/>
                <a:cs typeface="Yu Gothic"/>
              </a:defRPr>
            </a:pPr>
            <a:r>
              <a:rPr sz="1125" b="1">
                <a:solidFill>
                  <a:srgbClr val="62717F"/>
                </a:solidFill>
                <a:latin typeface="Yu Gothic"/>
                <a:ea typeface="Yu Gothic"/>
                <a:cs typeface="Yu Gothic"/>
              </a:rPr>
              <a:t>DA2 aligned MAE</a:t>
            </a:r>
          </a:p>
        </p:txBody>
      </p:sp>
      <p:sp>
        <p:nvSpPr>
          <p:cNvPr id="31" name="">
            <a:extLst xmlns:a="http://schemas.openxmlformats.org/drawingml/2006/main">
              <a:ext uri="{FF2B5EF4-FFF2-40B4-BE49-F238E27FC236}">
                <a16:creationId xmlns:a16="http://schemas.microsoft.com/office/drawing/2014/main" id="{B5FF0CD0-FFB2-4B34-9F17-AD10DA1A3DE5}"/>
              </a:ext>
            </a:extLst>
          </p:cNvPr>
          <p:cNvSpPr>
            <a:spLocks xmlns:a="http://schemas.openxmlformats.org/drawingml/2006/main" noGrp="1"/>
          </p:cNvSpPr>
          <p:nvPr/>
        </p:nvSpPr>
        <p:spPr>
          <a:xfrm xmlns:a="http://schemas.openxmlformats.org/drawingml/2006/main">
            <a:off x="5848350" y="55149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950" b="1">
                <a:solidFill>
                  <a:srgbClr val="142A43"/>
                </a:solidFill>
                <a:latin typeface="Yu Gothic"/>
                <a:ea typeface="Yu Gothic"/>
                <a:cs typeface="Yu Gothic"/>
              </a:defRPr>
            </a:pPr>
            <a:r>
              <a:rPr sz="1950" b="1">
                <a:solidFill>
                  <a:srgbClr val="142A43"/>
                </a:solidFill>
                <a:latin typeface="Yu Gothic"/>
                <a:ea typeface="Yu Gothic"/>
                <a:cs typeface="Yu Gothic"/>
              </a:rPr>
              <a:t>0.0791</a:t>
            </a:r>
          </a:p>
        </p:txBody>
      </p:sp>
      <p:sp>
        <p:nvSpPr>
          <p:cNvPr id="32" name="">
            <a:extLst xmlns:a="http://schemas.openxmlformats.org/drawingml/2006/main">
              <a:ext uri="{FF2B5EF4-FFF2-40B4-BE49-F238E27FC236}">
                <a16:creationId xmlns:a16="http://schemas.microsoft.com/office/drawing/2014/main" id="{52B3BABF-4E45-43D5-9136-6C6822562B8C}"/>
              </a:ext>
            </a:extLst>
          </p:cNvPr>
          <p:cNvSpPr>
            <a:spLocks xmlns:a="http://schemas.openxmlformats.org/drawingml/2006/main" noGrp="1"/>
          </p:cNvSpPr>
          <p:nvPr/>
        </p:nvSpPr>
        <p:spPr>
          <a:xfrm xmlns:a="http://schemas.openxmlformats.org/drawingml/2006/main">
            <a:off x="5848350" y="5876925"/>
            <a:ext cx="2247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a:solidFill>
                  <a:srgbClr val="62717F"/>
                </a:solidFill>
                <a:latin typeface="Yu Gothic"/>
                <a:ea typeface="Yu Gothic"/>
                <a:cs typeface="Yu Gothic"/>
              </a:defRPr>
            </a:pPr>
            <a:r>
              <a:rPr sz="825" b="0">
                <a:solidFill>
                  <a:srgbClr val="62717F"/>
                </a:solidFill>
                <a:latin typeface="Yu Gothic"/>
                <a:ea typeface="Yu Gothic"/>
                <a:cs typeface="Yu Gothic"/>
              </a:rPr>
              <a:t>m (RMSE 0.1450 m)</a:t>
            </a:r>
          </a:p>
        </p:txBody>
      </p:sp>
      <p:sp>
        <p:nvSpPr>
          <p:cNvPr id="33" name="">
            <a:extLst xmlns:a="http://schemas.openxmlformats.org/drawingml/2006/main">
              <a:ext uri="{FF2B5EF4-FFF2-40B4-BE49-F238E27FC236}">
                <a16:creationId xmlns:a16="http://schemas.microsoft.com/office/drawing/2014/main" id="{04C62106-C8B3-42FC-87C0-31A5F6C455EE}"/>
              </a:ext>
            </a:extLst>
          </p:cNvPr>
          <p:cNvSpPr>
            <a:spLocks xmlns:a="http://schemas.openxmlformats.org/drawingml/2006/main" noGrp="1"/>
          </p:cNvSpPr>
          <p:nvPr/>
        </p:nvSpPr>
        <p:spPr>
          <a:xfrm xmlns:a="http://schemas.openxmlformats.org/drawingml/2006/main">
            <a:off x="8420100" y="5238750"/>
            <a:ext cx="2476500" cy="819150"/>
          </a:xfrm>
          <a:prstGeom xmlns:a="http://schemas.openxmlformats.org/drawingml/2006/main" prst="roundRect">
            <a:avLst>
              <a:gd name="adj" fmla="val 9302"/>
            </a:avLst>
          </a:prstGeom>
          <a:solidFill xmlns:a="http://schemas.openxmlformats.org/drawingml/2006/main">
            <a:srgbClr val="F8EBD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4CF1563-ACD6-4A1E-A20F-3DF72CCABB8F}"/>
              </a:ext>
            </a:extLst>
          </p:cNvPr>
          <p:cNvSpPr>
            <a:spLocks xmlns:a="http://schemas.openxmlformats.org/drawingml/2006/main" noGrp="1"/>
          </p:cNvSpPr>
          <p:nvPr/>
        </p:nvSpPr>
        <p:spPr>
          <a:xfrm xmlns:a="http://schemas.openxmlformats.org/drawingml/2006/main">
            <a:off x="8534400" y="529590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2717F"/>
                </a:solidFill>
                <a:latin typeface="Yu Gothic"/>
                <a:ea typeface="Yu Gothic"/>
                <a:cs typeface="Yu Gothic"/>
              </a:defRPr>
            </a:pPr>
            <a:r>
              <a:rPr sz="1125" b="1">
                <a:solidFill>
                  <a:srgbClr val="62717F"/>
                </a:solidFill>
                <a:latin typeface="Yu Gothic"/>
                <a:ea typeface="Yu Gothic"/>
                <a:cs typeface="Yu Gothic"/>
              </a:rPr>
              <a:t>constant baseline MAE</a:t>
            </a:r>
          </a:p>
        </p:txBody>
      </p:sp>
      <p:sp>
        <p:nvSpPr>
          <p:cNvPr id="35" name="">
            <a:extLst xmlns:a="http://schemas.openxmlformats.org/drawingml/2006/main">
              <a:ext uri="{FF2B5EF4-FFF2-40B4-BE49-F238E27FC236}">
                <a16:creationId xmlns:a16="http://schemas.microsoft.com/office/drawing/2014/main" id="{FC8FB695-5E4F-4651-8C5A-FA1B6863D031}"/>
              </a:ext>
            </a:extLst>
          </p:cNvPr>
          <p:cNvSpPr>
            <a:spLocks xmlns:a="http://schemas.openxmlformats.org/drawingml/2006/main" noGrp="1"/>
          </p:cNvSpPr>
          <p:nvPr/>
        </p:nvSpPr>
        <p:spPr>
          <a:xfrm xmlns:a="http://schemas.openxmlformats.org/drawingml/2006/main">
            <a:off x="8534400" y="55149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950" b="1">
                <a:solidFill>
                  <a:srgbClr val="D98839"/>
                </a:solidFill>
                <a:latin typeface="Yu Gothic"/>
                <a:ea typeface="Yu Gothic"/>
                <a:cs typeface="Yu Gothic"/>
              </a:defRPr>
            </a:pPr>
            <a:r>
              <a:rPr sz="1950" b="1">
                <a:solidFill>
                  <a:srgbClr val="D98839"/>
                </a:solidFill>
                <a:latin typeface="Yu Gothic"/>
                <a:ea typeface="Yu Gothic"/>
                <a:cs typeface="Yu Gothic"/>
              </a:rPr>
              <a:t>0.0563</a:t>
            </a:r>
          </a:p>
        </p:txBody>
      </p:sp>
      <p:sp>
        <p:nvSpPr>
          <p:cNvPr id="36" name="">
            <a:extLst xmlns:a="http://schemas.openxmlformats.org/drawingml/2006/main">
              <a:ext uri="{FF2B5EF4-FFF2-40B4-BE49-F238E27FC236}">
                <a16:creationId xmlns:a16="http://schemas.microsoft.com/office/drawing/2014/main" id="{10440C87-CD4B-400E-83D6-C6B3151DF01D}"/>
              </a:ext>
            </a:extLst>
          </p:cNvPr>
          <p:cNvSpPr>
            <a:spLocks xmlns:a="http://schemas.openxmlformats.org/drawingml/2006/main" noGrp="1"/>
          </p:cNvSpPr>
          <p:nvPr/>
        </p:nvSpPr>
        <p:spPr>
          <a:xfrm xmlns:a="http://schemas.openxmlformats.org/drawingml/2006/main">
            <a:off x="8534400" y="5876925"/>
            <a:ext cx="2247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a:solidFill>
                  <a:srgbClr val="62717F"/>
                </a:solidFill>
                <a:latin typeface="Yu Gothic"/>
                <a:ea typeface="Yu Gothic"/>
                <a:cs typeface="Yu Gothic"/>
              </a:defRPr>
            </a:pPr>
            <a:r>
              <a:rPr sz="825" b="0">
                <a:solidFill>
                  <a:srgbClr val="62717F"/>
                </a:solidFill>
                <a:latin typeface="Yu Gothic"/>
                <a:ea typeface="Yu Gothic"/>
                <a:cs typeface="Yu Gothic"/>
              </a:rPr>
              <a:t>m (RMSE 0.1588 m)</a:t>
            </a:r>
          </a:p>
        </p:txBody>
      </p:sp>
      <p:sp>
        <p:nvSpPr>
          <p:cNvPr id="37" name="">
            <a:extLst xmlns:a="http://schemas.openxmlformats.org/drawingml/2006/main">
              <a:ext uri="{FF2B5EF4-FFF2-40B4-BE49-F238E27FC236}">
                <a16:creationId xmlns:a16="http://schemas.microsoft.com/office/drawing/2014/main" id="{D7C0124E-F850-4E93-AC6D-B3FD9B22886F}"/>
              </a:ext>
            </a:extLst>
          </p:cNvPr>
          <p:cNvSpPr>
            <a:spLocks xmlns:a="http://schemas.openxmlformats.org/drawingml/2006/main" noGrp="1"/>
          </p:cNvSpPr>
          <p:nvPr/>
        </p:nvSpPr>
        <p:spPr>
          <a:xfrm xmlns:a="http://schemas.openxmlformats.org/drawingml/2006/main">
            <a:off x="1047750" y="60960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B54747"/>
                </a:solidFill>
                <a:latin typeface="Yu Gothic"/>
                <a:ea typeface="Yu Gothic"/>
                <a:cs typeface="Yu Gothic"/>
              </a:defRPr>
            </a:pPr>
            <a:r>
              <a:rPr sz="1350" b="1">
                <a:solidFill>
                  <a:srgbClr val="B54747"/>
                </a:solidFill>
                <a:latin typeface="Yu Gothic"/>
                <a:ea typeface="Yu Gothic"/>
                <a:cs typeface="Yu Gothic"/>
              </a:rPr>
              <a:t>pixel-level MAEではconstant baselineを上回らず（RMSEはDA2が低い）</a:t>
            </a:r>
          </a:p>
        </p:txBody>
      </p:sp>
    </p:spTree>
    <p:extLst>
      <p:ext uri="{BB962C8B-B14F-4D97-AF65-F5344CB8AC3E}">
        <p14:creationId xmlns:p14="http://schemas.microsoft.com/office/powerpoint/2010/main" val="4686524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A9EA70B-146C-4F8F-A23E-265EE839E4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B212B5-6979-4FC5-BA4C-89241CD80122}"/>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AirMeasurer：高低順序と高さ差の振幅</a:t>
            </a:r>
          </a:p>
        </p:txBody>
      </p:sp>
      <p:sp>
        <p:nvSpPr>
          <p:cNvPr id="3" name="">
            <a:extLst xmlns:a="http://schemas.openxmlformats.org/drawingml/2006/main">
              <a:ext uri="{FF2B5EF4-FFF2-40B4-BE49-F238E27FC236}">
                <a16:creationId xmlns:a16="http://schemas.microsoft.com/office/drawing/2014/main" id="{1CA09BE1-1B37-499A-ACA3-2213FEA3685D}"/>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F16F2D-CEA8-4CB6-9237-D0242CFC0EB9}"/>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A19CA5-E151-40A0-B53B-E18F0D60138C}"/>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Target bins are ±20% pooled across separations; GT is local CHM difference.</a:t>
            </a:r>
          </a:p>
        </p:txBody>
      </p:sp>
      <p:sp>
        <p:nvSpPr>
          <p:cNvPr id="6" name="">
            <a:extLst xmlns:a="http://schemas.openxmlformats.org/drawingml/2006/main">
              <a:ext uri="{FF2B5EF4-FFF2-40B4-BE49-F238E27FC236}">
                <a16:creationId xmlns:a16="http://schemas.microsoft.com/office/drawing/2014/main" id="{72584D3A-CAD8-4226-9539-EF757BE08BF2}"/>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12</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b0169621f124dda"/>
          <a:stretch xmlns:a="http://schemas.openxmlformats.org/drawingml/2006/main"/>
        </p:blipFill>
        <p:spPr>
          <a:xfrm xmlns:a="http://schemas.openxmlformats.org/drawingml/2006/main">
            <a:off x="723900" y="1412081"/>
            <a:ext cx="4762500" cy="416718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0AD1092-088D-47BE-BDD8-169F2C5BDEF0}"/>
              </a:ext>
            </a:extLst>
          </p:cNvPr>
          <p:cNvSpPr>
            <a:spLocks xmlns:a="http://schemas.openxmlformats.org/drawingml/2006/main" noGrp="1"/>
          </p:cNvSpPr>
          <p:nvPr/>
        </p:nvSpPr>
        <p:spPr>
          <a:xfrm xmlns:a="http://schemas.openxmlformats.org/drawingml/2006/main">
            <a:off x="5848350" y="1428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62717F"/>
                </a:solidFill>
                <a:latin typeface="Yu Gothic"/>
                <a:ea typeface="Yu Gothic"/>
                <a:cs typeface="Yu Gothic"/>
              </a:defRPr>
            </a:pPr>
            <a:r>
              <a:rPr sz="1275" b="1">
                <a:solidFill>
                  <a:srgbClr val="62717F"/>
                </a:solidFill>
                <a:latin typeface="Yu Gothic"/>
                <a:ea typeface="Yu Gothic"/>
                <a:cs typeface="Yu Gothic"/>
              </a:rPr>
              <a:t>GT差分target</a:t>
            </a:r>
          </a:p>
        </p:txBody>
      </p:sp>
      <p:sp>
        <p:nvSpPr>
          <p:cNvPr id="9" name="">
            <a:extLst xmlns:a="http://schemas.openxmlformats.org/drawingml/2006/main">
              <a:ext uri="{FF2B5EF4-FFF2-40B4-BE49-F238E27FC236}">
                <a16:creationId xmlns:a16="http://schemas.microsoft.com/office/drawing/2014/main" id="{F5761E38-7AF2-48A0-8259-B3E448485EEE}"/>
              </a:ext>
            </a:extLst>
          </p:cNvPr>
          <p:cNvSpPr>
            <a:spLocks xmlns:a="http://schemas.openxmlformats.org/drawingml/2006/main" noGrp="1"/>
          </p:cNvSpPr>
          <p:nvPr/>
        </p:nvSpPr>
        <p:spPr>
          <a:xfrm xmlns:a="http://schemas.openxmlformats.org/drawingml/2006/main">
            <a:off x="7258050" y="1428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62717F"/>
                </a:solidFill>
                <a:latin typeface="Yu Gothic"/>
                <a:ea typeface="Yu Gothic"/>
                <a:cs typeface="Yu Gothic"/>
              </a:defRPr>
            </a:pPr>
            <a:r>
              <a:rPr sz="1275" b="1">
                <a:solidFill>
                  <a:srgbClr val="62717F"/>
                </a:solidFill>
                <a:latin typeface="Yu Gothic"/>
                <a:ea typeface="Yu Gothic"/>
                <a:cs typeface="Yu Gothic"/>
              </a:rPr>
              <a:t>Pearson</a:t>
            </a:r>
          </a:p>
        </p:txBody>
      </p:sp>
      <p:sp>
        <p:nvSpPr>
          <p:cNvPr id="10" name="">
            <a:extLst xmlns:a="http://schemas.openxmlformats.org/drawingml/2006/main">
              <a:ext uri="{FF2B5EF4-FFF2-40B4-BE49-F238E27FC236}">
                <a16:creationId xmlns:a16="http://schemas.microsoft.com/office/drawing/2014/main" id="{7FEE4006-A435-4910-8FDF-58BBC2E0D56B}"/>
              </a:ext>
            </a:extLst>
          </p:cNvPr>
          <p:cNvSpPr>
            <a:spLocks xmlns:a="http://schemas.openxmlformats.org/drawingml/2006/main" noGrp="1"/>
          </p:cNvSpPr>
          <p:nvPr/>
        </p:nvSpPr>
        <p:spPr>
          <a:xfrm xmlns:a="http://schemas.openxmlformats.org/drawingml/2006/main">
            <a:off x="8382000" y="142875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62717F"/>
                </a:solidFill>
                <a:latin typeface="Yu Gothic"/>
                <a:ea typeface="Yu Gothic"/>
                <a:cs typeface="Yu Gothic"/>
              </a:defRPr>
            </a:pPr>
            <a:r>
              <a:rPr sz="1275" b="1">
                <a:solidFill>
                  <a:srgbClr val="62717F"/>
                </a:solidFill>
                <a:latin typeface="Yu Gothic"/>
                <a:ea typeface="Yu Gothic"/>
                <a:cs typeface="Yu Gothic"/>
              </a:rPr>
              <a:t>Sign</a:t>
            </a:r>
          </a:p>
        </p:txBody>
      </p:sp>
      <p:sp>
        <p:nvSpPr>
          <p:cNvPr id="11" name="">
            <a:extLst xmlns:a="http://schemas.openxmlformats.org/drawingml/2006/main">
              <a:ext uri="{FF2B5EF4-FFF2-40B4-BE49-F238E27FC236}">
                <a16:creationId xmlns:a16="http://schemas.microsoft.com/office/drawing/2014/main" id="{DFDD2B7E-091D-4C25-9A5E-A5030199D6A5}"/>
              </a:ext>
            </a:extLst>
          </p:cNvPr>
          <p:cNvSpPr>
            <a:spLocks xmlns:a="http://schemas.openxmlformats.org/drawingml/2006/main" noGrp="1"/>
          </p:cNvSpPr>
          <p:nvPr/>
        </p:nvSpPr>
        <p:spPr>
          <a:xfrm xmlns:a="http://schemas.openxmlformats.org/drawingml/2006/main">
            <a:off x="9391650" y="142875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62717F"/>
                </a:solidFill>
                <a:latin typeface="Yu Gothic"/>
                <a:ea typeface="Yu Gothic"/>
                <a:cs typeface="Yu Gothic"/>
              </a:defRPr>
            </a:pPr>
            <a:r>
              <a:rPr sz="1275" b="1">
                <a:solidFill>
                  <a:srgbClr val="62717F"/>
                </a:solidFill>
                <a:latin typeface="Yu Gothic"/>
                <a:ea typeface="Yu Gothic"/>
                <a:cs typeface="Yu Gothic"/>
              </a:rPr>
              <a:t>slope</a:t>
            </a:r>
          </a:p>
        </p:txBody>
      </p:sp>
      <p:sp>
        <p:nvSpPr>
          <p:cNvPr id="12" name="">
            <a:extLst xmlns:a="http://schemas.openxmlformats.org/drawingml/2006/main">
              <a:ext uri="{FF2B5EF4-FFF2-40B4-BE49-F238E27FC236}">
                <a16:creationId xmlns:a16="http://schemas.microsoft.com/office/drawing/2014/main" id="{5ADBE6A9-79A7-48FE-B1A4-5423FF2125E6}"/>
              </a:ext>
            </a:extLst>
          </p:cNvPr>
          <p:cNvSpPr>
            <a:spLocks xmlns:a="http://schemas.openxmlformats.org/drawingml/2006/main" noGrp="1"/>
          </p:cNvSpPr>
          <p:nvPr/>
        </p:nvSpPr>
        <p:spPr>
          <a:xfrm xmlns:a="http://schemas.openxmlformats.org/drawingml/2006/main">
            <a:off x="5838825" y="1838325"/>
            <a:ext cx="135255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ED44DE73-7202-4397-B779-47C690C18DA7}"/>
              </a:ext>
            </a:extLst>
          </p:cNvPr>
          <p:cNvSpPr>
            <a:spLocks xmlns:a="http://schemas.openxmlformats.org/drawingml/2006/main" noGrp="1"/>
          </p:cNvSpPr>
          <p:nvPr/>
        </p:nvSpPr>
        <p:spPr>
          <a:xfrm xmlns:a="http://schemas.openxmlformats.org/drawingml/2006/main">
            <a:off x="5915025" y="1866900"/>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a:solidFill>
                  <a:srgbClr val="253443"/>
                </a:solidFill>
                <a:latin typeface="Yu Gothic"/>
                <a:ea typeface="Yu Gothic"/>
                <a:cs typeface="Yu Gothic"/>
              </a:defRPr>
            </a:pPr>
            <a:r>
              <a:rPr sz="1350" b="1">
                <a:solidFill>
                  <a:srgbClr val="253443"/>
                </a:solidFill>
                <a:latin typeface="Yu Gothic"/>
                <a:ea typeface="Yu Gothic"/>
                <a:cs typeface="Yu Gothic"/>
              </a:rPr>
              <a:t>0.1 m</a:t>
            </a:r>
          </a:p>
        </p:txBody>
      </p:sp>
      <p:sp>
        <p:nvSpPr>
          <p:cNvPr id="14" name="">
            <a:extLst xmlns:a="http://schemas.openxmlformats.org/drawingml/2006/main">
              <a:ext uri="{FF2B5EF4-FFF2-40B4-BE49-F238E27FC236}">
                <a16:creationId xmlns:a16="http://schemas.microsoft.com/office/drawing/2014/main" id="{74F9BE8F-6C17-415C-A370-BFDB4B622B50}"/>
              </a:ext>
            </a:extLst>
          </p:cNvPr>
          <p:cNvSpPr>
            <a:spLocks xmlns:a="http://schemas.openxmlformats.org/drawingml/2006/main" noGrp="1"/>
          </p:cNvSpPr>
          <p:nvPr/>
        </p:nvSpPr>
        <p:spPr>
          <a:xfrm xmlns:a="http://schemas.openxmlformats.org/drawingml/2006/main">
            <a:off x="7191375" y="1838325"/>
            <a:ext cx="106680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15" name="">
            <a:extLst xmlns:a="http://schemas.openxmlformats.org/drawingml/2006/main">
              <a:ext uri="{FF2B5EF4-FFF2-40B4-BE49-F238E27FC236}">
                <a16:creationId xmlns:a16="http://schemas.microsoft.com/office/drawing/2014/main" id="{659198A6-F80B-4F78-9134-553E3915A692}"/>
              </a:ext>
            </a:extLst>
          </p:cNvPr>
          <p:cNvSpPr>
            <a:spLocks xmlns:a="http://schemas.openxmlformats.org/drawingml/2006/main" noGrp="1"/>
          </p:cNvSpPr>
          <p:nvPr/>
        </p:nvSpPr>
        <p:spPr>
          <a:xfrm xmlns:a="http://schemas.openxmlformats.org/drawingml/2006/main">
            <a:off x="7267575" y="1866900"/>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2D6F9F"/>
                </a:solidFill>
                <a:latin typeface="Yu Gothic"/>
                <a:ea typeface="Yu Gothic"/>
                <a:cs typeface="Yu Gothic"/>
              </a:defRPr>
            </a:pPr>
            <a:r>
              <a:rPr sz="1425" b="1">
                <a:solidFill>
                  <a:srgbClr val="2D6F9F"/>
                </a:solidFill>
                <a:latin typeface="Yu Gothic"/>
                <a:ea typeface="Yu Gothic"/>
                <a:cs typeface="Yu Gothic"/>
              </a:rPr>
              <a:t>.385</a:t>
            </a:r>
          </a:p>
        </p:txBody>
      </p:sp>
      <p:sp>
        <p:nvSpPr>
          <p:cNvPr id="16" name="">
            <a:extLst xmlns:a="http://schemas.openxmlformats.org/drawingml/2006/main">
              <a:ext uri="{FF2B5EF4-FFF2-40B4-BE49-F238E27FC236}">
                <a16:creationId xmlns:a16="http://schemas.microsoft.com/office/drawing/2014/main" id="{80A9DCE1-E44E-4B85-BDD1-6E40D6361FDA}"/>
              </a:ext>
            </a:extLst>
          </p:cNvPr>
          <p:cNvSpPr>
            <a:spLocks xmlns:a="http://schemas.openxmlformats.org/drawingml/2006/main" noGrp="1"/>
          </p:cNvSpPr>
          <p:nvPr/>
        </p:nvSpPr>
        <p:spPr>
          <a:xfrm xmlns:a="http://schemas.openxmlformats.org/drawingml/2006/main">
            <a:off x="8258175" y="1838325"/>
            <a:ext cx="104775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17" name="">
            <a:extLst xmlns:a="http://schemas.openxmlformats.org/drawingml/2006/main">
              <a:ext uri="{FF2B5EF4-FFF2-40B4-BE49-F238E27FC236}">
                <a16:creationId xmlns:a16="http://schemas.microsoft.com/office/drawing/2014/main" id="{84988A6F-F941-40FC-B5CD-3E2C4F27FBA0}"/>
              </a:ext>
            </a:extLst>
          </p:cNvPr>
          <p:cNvSpPr>
            <a:spLocks xmlns:a="http://schemas.openxmlformats.org/drawingml/2006/main" noGrp="1"/>
          </p:cNvSpPr>
          <p:nvPr/>
        </p:nvSpPr>
        <p:spPr>
          <a:xfrm xmlns:a="http://schemas.openxmlformats.org/drawingml/2006/main">
            <a:off x="8334375" y="1866900"/>
            <a:ext cx="895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68C88"/>
                </a:solidFill>
                <a:latin typeface="Yu Gothic"/>
                <a:ea typeface="Yu Gothic"/>
                <a:cs typeface="Yu Gothic"/>
              </a:defRPr>
            </a:pPr>
            <a:r>
              <a:rPr sz="1425" b="1">
                <a:solidFill>
                  <a:srgbClr val="168C88"/>
                </a:solidFill>
                <a:latin typeface="Yu Gothic"/>
                <a:ea typeface="Yu Gothic"/>
                <a:cs typeface="Yu Gothic"/>
              </a:rPr>
              <a:t>.683</a:t>
            </a:r>
          </a:p>
        </p:txBody>
      </p:sp>
      <p:sp>
        <p:nvSpPr>
          <p:cNvPr id="18" name="">
            <a:extLst xmlns:a="http://schemas.openxmlformats.org/drawingml/2006/main">
              <a:ext uri="{FF2B5EF4-FFF2-40B4-BE49-F238E27FC236}">
                <a16:creationId xmlns:a16="http://schemas.microsoft.com/office/drawing/2014/main" id="{0612F002-B928-4AE2-99AE-09DCB1292C1F}"/>
              </a:ext>
            </a:extLst>
          </p:cNvPr>
          <p:cNvSpPr>
            <a:spLocks xmlns:a="http://schemas.openxmlformats.org/drawingml/2006/main" noGrp="1"/>
          </p:cNvSpPr>
          <p:nvPr/>
        </p:nvSpPr>
        <p:spPr>
          <a:xfrm xmlns:a="http://schemas.openxmlformats.org/drawingml/2006/main">
            <a:off x="9305925" y="1838325"/>
            <a:ext cx="106680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19" name="">
            <a:extLst xmlns:a="http://schemas.openxmlformats.org/drawingml/2006/main">
              <a:ext uri="{FF2B5EF4-FFF2-40B4-BE49-F238E27FC236}">
                <a16:creationId xmlns:a16="http://schemas.microsoft.com/office/drawing/2014/main" id="{55133AFE-572A-4D19-A4D1-AEEB89517A5B}"/>
              </a:ext>
            </a:extLst>
          </p:cNvPr>
          <p:cNvSpPr>
            <a:spLocks xmlns:a="http://schemas.openxmlformats.org/drawingml/2006/main" noGrp="1"/>
          </p:cNvSpPr>
          <p:nvPr/>
        </p:nvSpPr>
        <p:spPr>
          <a:xfrm xmlns:a="http://schemas.openxmlformats.org/drawingml/2006/main">
            <a:off x="9382125" y="1866900"/>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D98839"/>
                </a:solidFill>
                <a:latin typeface="Yu Gothic"/>
                <a:ea typeface="Yu Gothic"/>
                <a:cs typeface="Yu Gothic"/>
              </a:defRPr>
            </a:pPr>
            <a:r>
              <a:rPr sz="1425" b="1">
                <a:solidFill>
                  <a:srgbClr val="D98839"/>
                </a:solidFill>
                <a:latin typeface="Yu Gothic"/>
                <a:ea typeface="Yu Gothic"/>
                <a:cs typeface="Yu Gothic"/>
              </a:rPr>
              <a:t>.099</a:t>
            </a:r>
          </a:p>
        </p:txBody>
      </p:sp>
      <p:sp>
        <p:nvSpPr>
          <p:cNvPr id="20" name="">
            <a:extLst xmlns:a="http://schemas.openxmlformats.org/drawingml/2006/main">
              <a:ext uri="{FF2B5EF4-FFF2-40B4-BE49-F238E27FC236}">
                <a16:creationId xmlns:a16="http://schemas.microsoft.com/office/drawing/2014/main" id="{C8CB2207-FDC9-403B-87B6-D7ED8D1ECA51}"/>
              </a:ext>
            </a:extLst>
          </p:cNvPr>
          <p:cNvSpPr>
            <a:spLocks xmlns:a="http://schemas.openxmlformats.org/drawingml/2006/main" noGrp="1"/>
          </p:cNvSpPr>
          <p:nvPr/>
        </p:nvSpPr>
        <p:spPr>
          <a:xfrm xmlns:a="http://schemas.openxmlformats.org/drawingml/2006/main">
            <a:off x="5838825" y="2457450"/>
            <a:ext cx="13525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1" name="">
            <a:extLst xmlns:a="http://schemas.openxmlformats.org/drawingml/2006/main">
              <a:ext uri="{FF2B5EF4-FFF2-40B4-BE49-F238E27FC236}">
                <a16:creationId xmlns:a16="http://schemas.microsoft.com/office/drawing/2014/main" id="{EC72DD22-4487-4449-A1FD-F06D886D74E1}"/>
              </a:ext>
            </a:extLst>
          </p:cNvPr>
          <p:cNvSpPr>
            <a:spLocks xmlns:a="http://schemas.openxmlformats.org/drawingml/2006/main" noGrp="1"/>
          </p:cNvSpPr>
          <p:nvPr/>
        </p:nvSpPr>
        <p:spPr>
          <a:xfrm xmlns:a="http://schemas.openxmlformats.org/drawingml/2006/main">
            <a:off x="5915025" y="24860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a:solidFill>
                  <a:srgbClr val="253443"/>
                </a:solidFill>
                <a:latin typeface="Yu Gothic"/>
                <a:ea typeface="Yu Gothic"/>
                <a:cs typeface="Yu Gothic"/>
              </a:defRPr>
            </a:pPr>
            <a:r>
              <a:rPr sz="1350" b="1">
                <a:solidFill>
                  <a:srgbClr val="253443"/>
                </a:solidFill>
                <a:latin typeface="Yu Gothic"/>
                <a:ea typeface="Yu Gothic"/>
                <a:cs typeface="Yu Gothic"/>
              </a:rPr>
              <a:t>0.2 m</a:t>
            </a:r>
          </a:p>
        </p:txBody>
      </p:sp>
      <p:sp>
        <p:nvSpPr>
          <p:cNvPr id="22" name="">
            <a:extLst xmlns:a="http://schemas.openxmlformats.org/drawingml/2006/main">
              <a:ext uri="{FF2B5EF4-FFF2-40B4-BE49-F238E27FC236}">
                <a16:creationId xmlns:a16="http://schemas.microsoft.com/office/drawing/2014/main" id="{5EA0BCA1-B2A4-4428-8383-6CCF09EE739C}"/>
              </a:ext>
            </a:extLst>
          </p:cNvPr>
          <p:cNvSpPr>
            <a:spLocks xmlns:a="http://schemas.openxmlformats.org/drawingml/2006/main" noGrp="1"/>
          </p:cNvSpPr>
          <p:nvPr/>
        </p:nvSpPr>
        <p:spPr>
          <a:xfrm xmlns:a="http://schemas.openxmlformats.org/drawingml/2006/main">
            <a:off x="7191375" y="2457450"/>
            <a:ext cx="1066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3" name="">
            <a:extLst xmlns:a="http://schemas.openxmlformats.org/drawingml/2006/main">
              <a:ext uri="{FF2B5EF4-FFF2-40B4-BE49-F238E27FC236}">
                <a16:creationId xmlns:a16="http://schemas.microsoft.com/office/drawing/2014/main" id="{D3AD7106-AEF2-411C-AED5-3772DB364E95}"/>
              </a:ext>
            </a:extLst>
          </p:cNvPr>
          <p:cNvSpPr>
            <a:spLocks xmlns:a="http://schemas.openxmlformats.org/drawingml/2006/main" noGrp="1"/>
          </p:cNvSpPr>
          <p:nvPr/>
        </p:nvSpPr>
        <p:spPr>
          <a:xfrm xmlns:a="http://schemas.openxmlformats.org/drawingml/2006/main">
            <a:off x="7267575" y="2486025"/>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2D6F9F"/>
                </a:solidFill>
                <a:latin typeface="Yu Gothic"/>
                <a:ea typeface="Yu Gothic"/>
                <a:cs typeface="Yu Gothic"/>
              </a:defRPr>
            </a:pPr>
            <a:r>
              <a:rPr sz="1425" b="1">
                <a:solidFill>
                  <a:srgbClr val="2D6F9F"/>
                </a:solidFill>
                <a:latin typeface="Yu Gothic"/>
                <a:ea typeface="Yu Gothic"/>
                <a:cs typeface="Yu Gothic"/>
              </a:rPr>
              <a:t>.483</a:t>
            </a:r>
          </a:p>
        </p:txBody>
      </p:sp>
      <p:sp>
        <p:nvSpPr>
          <p:cNvPr id="24" name="">
            <a:extLst xmlns:a="http://schemas.openxmlformats.org/drawingml/2006/main">
              <a:ext uri="{FF2B5EF4-FFF2-40B4-BE49-F238E27FC236}">
                <a16:creationId xmlns:a16="http://schemas.microsoft.com/office/drawing/2014/main" id="{4387470F-7AED-44F3-8038-3FE5E2EE25F4}"/>
              </a:ext>
            </a:extLst>
          </p:cNvPr>
          <p:cNvSpPr>
            <a:spLocks xmlns:a="http://schemas.openxmlformats.org/drawingml/2006/main" noGrp="1"/>
          </p:cNvSpPr>
          <p:nvPr/>
        </p:nvSpPr>
        <p:spPr>
          <a:xfrm xmlns:a="http://schemas.openxmlformats.org/drawingml/2006/main">
            <a:off x="8258175" y="2457450"/>
            <a:ext cx="1047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5" name="">
            <a:extLst xmlns:a="http://schemas.openxmlformats.org/drawingml/2006/main">
              <a:ext uri="{FF2B5EF4-FFF2-40B4-BE49-F238E27FC236}">
                <a16:creationId xmlns:a16="http://schemas.microsoft.com/office/drawing/2014/main" id="{93DE65B3-4E32-4301-9F62-384F6C8CF847}"/>
              </a:ext>
            </a:extLst>
          </p:cNvPr>
          <p:cNvSpPr>
            <a:spLocks xmlns:a="http://schemas.openxmlformats.org/drawingml/2006/main" noGrp="1"/>
          </p:cNvSpPr>
          <p:nvPr/>
        </p:nvSpPr>
        <p:spPr>
          <a:xfrm xmlns:a="http://schemas.openxmlformats.org/drawingml/2006/main">
            <a:off x="8334375" y="2486025"/>
            <a:ext cx="895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68C88"/>
                </a:solidFill>
                <a:latin typeface="Yu Gothic"/>
                <a:ea typeface="Yu Gothic"/>
                <a:cs typeface="Yu Gothic"/>
              </a:defRPr>
            </a:pPr>
            <a:r>
              <a:rPr sz="1425" b="1">
                <a:solidFill>
                  <a:srgbClr val="168C88"/>
                </a:solidFill>
                <a:latin typeface="Yu Gothic"/>
                <a:ea typeface="Yu Gothic"/>
                <a:cs typeface="Yu Gothic"/>
              </a:rPr>
              <a:t>.741</a:t>
            </a:r>
          </a:p>
        </p:txBody>
      </p:sp>
      <p:sp>
        <p:nvSpPr>
          <p:cNvPr id="26" name="">
            <a:extLst xmlns:a="http://schemas.openxmlformats.org/drawingml/2006/main">
              <a:ext uri="{FF2B5EF4-FFF2-40B4-BE49-F238E27FC236}">
                <a16:creationId xmlns:a16="http://schemas.microsoft.com/office/drawing/2014/main" id="{38709E4B-F3B3-482A-878A-C763821F63B5}"/>
              </a:ext>
            </a:extLst>
          </p:cNvPr>
          <p:cNvSpPr>
            <a:spLocks xmlns:a="http://schemas.openxmlformats.org/drawingml/2006/main" noGrp="1"/>
          </p:cNvSpPr>
          <p:nvPr/>
        </p:nvSpPr>
        <p:spPr>
          <a:xfrm xmlns:a="http://schemas.openxmlformats.org/drawingml/2006/main">
            <a:off x="9305925" y="2457450"/>
            <a:ext cx="1066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27" name="">
            <a:extLst xmlns:a="http://schemas.openxmlformats.org/drawingml/2006/main">
              <a:ext uri="{FF2B5EF4-FFF2-40B4-BE49-F238E27FC236}">
                <a16:creationId xmlns:a16="http://schemas.microsoft.com/office/drawing/2014/main" id="{2A0DC046-0DD1-4A38-8C44-AA777E1F52F7}"/>
              </a:ext>
            </a:extLst>
          </p:cNvPr>
          <p:cNvSpPr>
            <a:spLocks xmlns:a="http://schemas.openxmlformats.org/drawingml/2006/main" noGrp="1"/>
          </p:cNvSpPr>
          <p:nvPr/>
        </p:nvSpPr>
        <p:spPr>
          <a:xfrm xmlns:a="http://schemas.openxmlformats.org/drawingml/2006/main">
            <a:off x="9382125" y="2486025"/>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D98839"/>
                </a:solidFill>
                <a:latin typeface="Yu Gothic"/>
                <a:ea typeface="Yu Gothic"/>
                <a:cs typeface="Yu Gothic"/>
              </a:defRPr>
            </a:pPr>
            <a:r>
              <a:rPr sz="1425" b="1">
                <a:solidFill>
                  <a:srgbClr val="D98839"/>
                </a:solidFill>
                <a:latin typeface="Yu Gothic"/>
                <a:ea typeface="Yu Gothic"/>
                <a:cs typeface="Yu Gothic"/>
              </a:rPr>
              <a:t>.070</a:t>
            </a:r>
          </a:p>
        </p:txBody>
      </p:sp>
      <p:sp>
        <p:nvSpPr>
          <p:cNvPr id="28" name="">
            <a:extLst xmlns:a="http://schemas.openxmlformats.org/drawingml/2006/main">
              <a:ext uri="{FF2B5EF4-FFF2-40B4-BE49-F238E27FC236}">
                <a16:creationId xmlns:a16="http://schemas.microsoft.com/office/drawing/2014/main" id="{76821E95-C008-4528-889A-C67C9028AAC4}"/>
              </a:ext>
            </a:extLst>
          </p:cNvPr>
          <p:cNvSpPr>
            <a:spLocks xmlns:a="http://schemas.openxmlformats.org/drawingml/2006/main" noGrp="1"/>
          </p:cNvSpPr>
          <p:nvPr/>
        </p:nvSpPr>
        <p:spPr>
          <a:xfrm xmlns:a="http://schemas.openxmlformats.org/drawingml/2006/main">
            <a:off x="5838825" y="3076575"/>
            <a:ext cx="135255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29" name="">
            <a:extLst xmlns:a="http://schemas.openxmlformats.org/drawingml/2006/main">
              <a:ext uri="{FF2B5EF4-FFF2-40B4-BE49-F238E27FC236}">
                <a16:creationId xmlns:a16="http://schemas.microsoft.com/office/drawing/2014/main" id="{B82E617D-61B7-4B08-AEAE-353E853A1EAD}"/>
              </a:ext>
            </a:extLst>
          </p:cNvPr>
          <p:cNvSpPr>
            <a:spLocks xmlns:a="http://schemas.openxmlformats.org/drawingml/2006/main" noGrp="1"/>
          </p:cNvSpPr>
          <p:nvPr/>
        </p:nvSpPr>
        <p:spPr>
          <a:xfrm xmlns:a="http://schemas.openxmlformats.org/drawingml/2006/main">
            <a:off x="5915025" y="3105150"/>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a:solidFill>
                  <a:srgbClr val="253443"/>
                </a:solidFill>
                <a:latin typeface="Yu Gothic"/>
                <a:ea typeface="Yu Gothic"/>
                <a:cs typeface="Yu Gothic"/>
              </a:defRPr>
            </a:pPr>
            <a:r>
              <a:rPr sz="1350" b="1">
                <a:solidFill>
                  <a:srgbClr val="253443"/>
                </a:solidFill>
                <a:latin typeface="Yu Gothic"/>
                <a:ea typeface="Yu Gothic"/>
                <a:cs typeface="Yu Gothic"/>
              </a:rPr>
              <a:t>0.5 m</a:t>
            </a:r>
          </a:p>
        </p:txBody>
      </p:sp>
      <p:sp>
        <p:nvSpPr>
          <p:cNvPr id="30" name="">
            <a:extLst xmlns:a="http://schemas.openxmlformats.org/drawingml/2006/main">
              <a:ext uri="{FF2B5EF4-FFF2-40B4-BE49-F238E27FC236}">
                <a16:creationId xmlns:a16="http://schemas.microsoft.com/office/drawing/2014/main" id="{7557572E-C40C-4E32-90EF-707B59532F44}"/>
              </a:ext>
            </a:extLst>
          </p:cNvPr>
          <p:cNvSpPr>
            <a:spLocks xmlns:a="http://schemas.openxmlformats.org/drawingml/2006/main" noGrp="1"/>
          </p:cNvSpPr>
          <p:nvPr/>
        </p:nvSpPr>
        <p:spPr>
          <a:xfrm xmlns:a="http://schemas.openxmlformats.org/drawingml/2006/main">
            <a:off x="7191375" y="3076575"/>
            <a:ext cx="106680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31" name="">
            <a:extLst xmlns:a="http://schemas.openxmlformats.org/drawingml/2006/main">
              <a:ext uri="{FF2B5EF4-FFF2-40B4-BE49-F238E27FC236}">
                <a16:creationId xmlns:a16="http://schemas.microsoft.com/office/drawing/2014/main" id="{09B39F4A-11D1-4711-934C-DC08447F0310}"/>
              </a:ext>
            </a:extLst>
          </p:cNvPr>
          <p:cNvSpPr>
            <a:spLocks xmlns:a="http://schemas.openxmlformats.org/drawingml/2006/main" noGrp="1"/>
          </p:cNvSpPr>
          <p:nvPr/>
        </p:nvSpPr>
        <p:spPr>
          <a:xfrm xmlns:a="http://schemas.openxmlformats.org/drawingml/2006/main">
            <a:off x="7267575" y="3105150"/>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2D6F9F"/>
                </a:solidFill>
                <a:latin typeface="Yu Gothic"/>
                <a:ea typeface="Yu Gothic"/>
                <a:cs typeface="Yu Gothic"/>
              </a:defRPr>
            </a:pPr>
            <a:r>
              <a:rPr sz="1425" b="1">
                <a:solidFill>
                  <a:srgbClr val="2D6F9F"/>
                </a:solidFill>
                <a:latin typeface="Yu Gothic"/>
                <a:ea typeface="Yu Gothic"/>
                <a:cs typeface="Yu Gothic"/>
              </a:rPr>
              <a:t>.696</a:t>
            </a:r>
          </a:p>
        </p:txBody>
      </p:sp>
      <p:sp>
        <p:nvSpPr>
          <p:cNvPr id="32" name="">
            <a:extLst xmlns:a="http://schemas.openxmlformats.org/drawingml/2006/main">
              <a:ext uri="{FF2B5EF4-FFF2-40B4-BE49-F238E27FC236}">
                <a16:creationId xmlns:a16="http://schemas.microsoft.com/office/drawing/2014/main" id="{0F6FB206-5131-4158-9873-8281EF096F39}"/>
              </a:ext>
            </a:extLst>
          </p:cNvPr>
          <p:cNvSpPr>
            <a:spLocks xmlns:a="http://schemas.openxmlformats.org/drawingml/2006/main" noGrp="1"/>
          </p:cNvSpPr>
          <p:nvPr/>
        </p:nvSpPr>
        <p:spPr>
          <a:xfrm xmlns:a="http://schemas.openxmlformats.org/drawingml/2006/main">
            <a:off x="8258175" y="3076575"/>
            <a:ext cx="104775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33" name="">
            <a:extLst xmlns:a="http://schemas.openxmlformats.org/drawingml/2006/main">
              <a:ext uri="{FF2B5EF4-FFF2-40B4-BE49-F238E27FC236}">
                <a16:creationId xmlns:a16="http://schemas.microsoft.com/office/drawing/2014/main" id="{38F36C21-64A8-48EE-9E90-F6FA0034DC57}"/>
              </a:ext>
            </a:extLst>
          </p:cNvPr>
          <p:cNvSpPr>
            <a:spLocks xmlns:a="http://schemas.openxmlformats.org/drawingml/2006/main" noGrp="1"/>
          </p:cNvSpPr>
          <p:nvPr/>
        </p:nvSpPr>
        <p:spPr>
          <a:xfrm xmlns:a="http://schemas.openxmlformats.org/drawingml/2006/main">
            <a:off x="8334375" y="3105150"/>
            <a:ext cx="895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68C88"/>
                </a:solidFill>
                <a:latin typeface="Yu Gothic"/>
                <a:ea typeface="Yu Gothic"/>
                <a:cs typeface="Yu Gothic"/>
              </a:defRPr>
            </a:pPr>
            <a:r>
              <a:rPr sz="1425" b="1">
                <a:solidFill>
                  <a:srgbClr val="168C88"/>
                </a:solidFill>
                <a:latin typeface="Yu Gothic"/>
                <a:ea typeface="Yu Gothic"/>
                <a:cs typeface="Yu Gothic"/>
              </a:rPr>
              <a:t>.888</a:t>
            </a:r>
          </a:p>
        </p:txBody>
      </p:sp>
      <p:sp>
        <p:nvSpPr>
          <p:cNvPr id="34" name="">
            <a:extLst xmlns:a="http://schemas.openxmlformats.org/drawingml/2006/main">
              <a:ext uri="{FF2B5EF4-FFF2-40B4-BE49-F238E27FC236}">
                <a16:creationId xmlns:a16="http://schemas.microsoft.com/office/drawing/2014/main" id="{F90E976D-757C-4B3C-A04E-866A4AF5100A}"/>
              </a:ext>
            </a:extLst>
          </p:cNvPr>
          <p:cNvSpPr>
            <a:spLocks xmlns:a="http://schemas.openxmlformats.org/drawingml/2006/main" noGrp="1"/>
          </p:cNvSpPr>
          <p:nvPr/>
        </p:nvSpPr>
        <p:spPr>
          <a:xfrm xmlns:a="http://schemas.openxmlformats.org/drawingml/2006/main">
            <a:off x="9305925" y="3076575"/>
            <a:ext cx="1066800" cy="552450"/>
          </a:xfrm>
          <a:prstGeom xmlns:a="http://schemas.openxmlformats.org/drawingml/2006/main" prst="rect">
            <a:avLst/>
          </a:prstGeom>
          <a:solidFill xmlns:a="http://schemas.openxmlformats.org/drawingml/2006/main">
            <a:srgbClr val="F4F7F9"/>
          </a:solidFill>
          <a:ln xmlns:a="http://schemas.openxmlformats.org/drawingml/2006/main" w="9525">
            <a:solidFill>
              <a:srgbClr val="D9E1E7"/>
            </a:solidFill>
            <a:prstDash val="solid"/>
          </a:ln>
        </p:spPr>
      </p:sp>
      <p:sp>
        <p:nvSpPr>
          <p:cNvPr id="35" name="">
            <a:extLst xmlns:a="http://schemas.openxmlformats.org/drawingml/2006/main">
              <a:ext uri="{FF2B5EF4-FFF2-40B4-BE49-F238E27FC236}">
                <a16:creationId xmlns:a16="http://schemas.microsoft.com/office/drawing/2014/main" id="{336E1B32-D2A2-4ED0-8BE3-0D367046928A}"/>
              </a:ext>
            </a:extLst>
          </p:cNvPr>
          <p:cNvSpPr>
            <a:spLocks xmlns:a="http://schemas.openxmlformats.org/drawingml/2006/main" noGrp="1"/>
          </p:cNvSpPr>
          <p:nvPr/>
        </p:nvSpPr>
        <p:spPr>
          <a:xfrm xmlns:a="http://schemas.openxmlformats.org/drawingml/2006/main">
            <a:off x="9382125" y="3105150"/>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D98839"/>
                </a:solidFill>
                <a:latin typeface="Yu Gothic"/>
                <a:ea typeface="Yu Gothic"/>
                <a:cs typeface="Yu Gothic"/>
              </a:defRPr>
            </a:pPr>
            <a:r>
              <a:rPr sz="1425" b="1">
                <a:solidFill>
                  <a:srgbClr val="D98839"/>
                </a:solidFill>
                <a:latin typeface="Yu Gothic"/>
                <a:ea typeface="Yu Gothic"/>
                <a:cs typeface="Yu Gothic"/>
              </a:rPr>
              <a:t>.055</a:t>
            </a:r>
          </a:p>
        </p:txBody>
      </p:sp>
      <p:sp>
        <p:nvSpPr>
          <p:cNvPr id="36" name="">
            <a:extLst xmlns:a="http://schemas.openxmlformats.org/drawingml/2006/main">
              <a:ext uri="{FF2B5EF4-FFF2-40B4-BE49-F238E27FC236}">
                <a16:creationId xmlns:a16="http://schemas.microsoft.com/office/drawing/2014/main" id="{1523EFE4-8CBD-42CE-B669-1FAD9472A179}"/>
              </a:ext>
            </a:extLst>
          </p:cNvPr>
          <p:cNvSpPr>
            <a:spLocks xmlns:a="http://schemas.openxmlformats.org/drawingml/2006/main" noGrp="1"/>
          </p:cNvSpPr>
          <p:nvPr/>
        </p:nvSpPr>
        <p:spPr>
          <a:xfrm xmlns:a="http://schemas.openxmlformats.org/drawingml/2006/main">
            <a:off x="5838825" y="3695700"/>
            <a:ext cx="13525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37" name="">
            <a:extLst xmlns:a="http://schemas.openxmlformats.org/drawingml/2006/main">
              <a:ext uri="{FF2B5EF4-FFF2-40B4-BE49-F238E27FC236}">
                <a16:creationId xmlns:a16="http://schemas.microsoft.com/office/drawing/2014/main" id="{D62F98BA-E748-412C-A4CB-10ECA36F2B9E}"/>
              </a:ext>
            </a:extLst>
          </p:cNvPr>
          <p:cNvSpPr>
            <a:spLocks xmlns:a="http://schemas.openxmlformats.org/drawingml/2006/main" noGrp="1"/>
          </p:cNvSpPr>
          <p:nvPr/>
        </p:nvSpPr>
        <p:spPr>
          <a:xfrm xmlns:a="http://schemas.openxmlformats.org/drawingml/2006/main">
            <a:off x="5915025" y="372427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a:solidFill>
                  <a:srgbClr val="253443"/>
                </a:solidFill>
                <a:latin typeface="Yu Gothic"/>
                <a:ea typeface="Yu Gothic"/>
                <a:cs typeface="Yu Gothic"/>
              </a:defRPr>
            </a:pPr>
            <a:r>
              <a:rPr sz="1350" b="1">
                <a:solidFill>
                  <a:srgbClr val="253443"/>
                </a:solidFill>
                <a:latin typeface="Yu Gothic"/>
                <a:ea typeface="Yu Gothic"/>
                <a:cs typeface="Yu Gothic"/>
              </a:rPr>
              <a:t>1.0 m</a:t>
            </a:r>
          </a:p>
        </p:txBody>
      </p:sp>
      <p:sp>
        <p:nvSpPr>
          <p:cNvPr id="38" name="">
            <a:extLst xmlns:a="http://schemas.openxmlformats.org/drawingml/2006/main">
              <a:ext uri="{FF2B5EF4-FFF2-40B4-BE49-F238E27FC236}">
                <a16:creationId xmlns:a16="http://schemas.microsoft.com/office/drawing/2014/main" id="{BDE08FF7-7B02-421F-BBD1-3364D060DBD8}"/>
              </a:ext>
            </a:extLst>
          </p:cNvPr>
          <p:cNvSpPr>
            <a:spLocks xmlns:a="http://schemas.openxmlformats.org/drawingml/2006/main" noGrp="1"/>
          </p:cNvSpPr>
          <p:nvPr/>
        </p:nvSpPr>
        <p:spPr>
          <a:xfrm xmlns:a="http://schemas.openxmlformats.org/drawingml/2006/main">
            <a:off x="7191375" y="3695700"/>
            <a:ext cx="1066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39" name="">
            <a:extLst xmlns:a="http://schemas.openxmlformats.org/drawingml/2006/main">
              <a:ext uri="{FF2B5EF4-FFF2-40B4-BE49-F238E27FC236}">
                <a16:creationId xmlns:a16="http://schemas.microsoft.com/office/drawing/2014/main" id="{E79BEB58-6FBC-441A-A5C0-8BFAE625FF9B}"/>
              </a:ext>
            </a:extLst>
          </p:cNvPr>
          <p:cNvSpPr>
            <a:spLocks xmlns:a="http://schemas.openxmlformats.org/drawingml/2006/main" noGrp="1"/>
          </p:cNvSpPr>
          <p:nvPr/>
        </p:nvSpPr>
        <p:spPr>
          <a:xfrm xmlns:a="http://schemas.openxmlformats.org/drawingml/2006/main">
            <a:off x="7267575" y="3724275"/>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2D6F9F"/>
                </a:solidFill>
                <a:latin typeface="Yu Gothic"/>
                <a:ea typeface="Yu Gothic"/>
                <a:cs typeface="Yu Gothic"/>
              </a:defRPr>
            </a:pPr>
            <a:r>
              <a:rPr sz="1425" b="1">
                <a:solidFill>
                  <a:srgbClr val="2D6F9F"/>
                </a:solidFill>
                <a:latin typeface="Yu Gothic"/>
                <a:ea typeface="Yu Gothic"/>
                <a:cs typeface="Yu Gothic"/>
              </a:rPr>
              <a:t>.824</a:t>
            </a:r>
          </a:p>
        </p:txBody>
      </p:sp>
      <p:sp>
        <p:nvSpPr>
          <p:cNvPr id="40" name="">
            <a:extLst xmlns:a="http://schemas.openxmlformats.org/drawingml/2006/main">
              <a:ext uri="{FF2B5EF4-FFF2-40B4-BE49-F238E27FC236}">
                <a16:creationId xmlns:a16="http://schemas.microsoft.com/office/drawing/2014/main" id="{6E481E8C-770C-46AF-9A20-FB0B11A2C4B7}"/>
              </a:ext>
            </a:extLst>
          </p:cNvPr>
          <p:cNvSpPr>
            <a:spLocks xmlns:a="http://schemas.openxmlformats.org/drawingml/2006/main" noGrp="1"/>
          </p:cNvSpPr>
          <p:nvPr/>
        </p:nvSpPr>
        <p:spPr>
          <a:xfrm xmlns:a="http://schemas.openxmlformats.org/drawingml/2006/main">
            <a:off x="8258175" y="3695700"/>
            <a:ext cx="1047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41" name="">
            <a:extLst xmlns:a="http://schemas.openxmlformats.org/drawingml/2006/main">
              <a:ext uri="{FF2B5EF4-FFF2-40B4-BE49-F238E27FC236}">
                <a16:creationId xmlns:a16="http://schemas.microsoft.com/office/drawing/2014/main" id="{14BC5DBE-693A-4251-8120-ABA55C10A324}"/>
              </a:ext>
            </a:extLst>
          </p:cNvPr>
          <p:cNvSpPr>
            <a:spLocks xmlns:a="http://schemas.openxmlformats.org/drawingml/2006/main" noGrp="1"/>
          </p:cNvSpPr>
          <p:nvPr/>
        </p:nvSpPr>
        <p:spPr>
          <a:xfrm xmlns:a="http://schemas.openxmlformats.org/drawingml/2006/main">
            <a:off x="8334375" y="3724275"/>
            <a:ext cx="895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68C88"/>
                </a:solidFill>
                <a:latin typeface="Yu Gothic"/>
                <a:ea typeface="Yu Gothic"/>
                <a:cs typeface="Yu Gothic"/>
              </a:defRPr>
            </a:pPr>
            <a:r>
              <a:rPr sz="1425" b="1">
                <a:solidFill>
                  <a:srgbClr val="168C88"/>
                </a:solidFill>
                <a:latin typeface="Yu Gothic"/>
                <a:ea typeface="Yu Gothic"/>
                <a:cs typeface="Yu Gothic"/>
              </a:rPr>
              <a:t>.962</a:t>
            </a:r>
          </a:p>
        </p:txBody>
      </p:sp>
      <p:sp>
        <p:nvSpPr>
          <p:cNvPr id="42" name="">
            <a:extLst xmlns:a="http://schemas.openxmlformats.org/drawingml/2006/main">
              <a:ext uri="{FF2B5EF4-FFF2-40B4-BE49-F238E27FC236}">
                <a16:creationId xmlns:a16="http://schemas.microsoft.com/office/drawing/2014/main" id="{D0C83618-2F9D-409F-BE77-2D35A2D6CC1D}"/>
              </a:ext>
            </a:extLst>
          </p:cNvPr>
          <p:cNvSpPr>
            <a:spLocks xmlns:a="http://schemas.openxmlformats.org/drawingml/2006/main" noGrp="1"/>
          </p:cNvSpPr>
          <p:nvPr/>
        </p:nvSpPr>
        <p:spPr>
          <a:xfrm xmlns:a="http://schemas.openxmlformats.org/drawingml/2006/main">
            <a:off x="9305925" y="3695700"/>
            <a:ext cx="1066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7"/>
            </a:solidFill>
            <a:prstDash val="solid"/>
          </a:ln>
        </p:spPr>
      </p:sp>
      <p:sp>
        <p:nvSpPr>
          <p:cNvPr id="43" name="">
            <a:extLst xmlns:a="http://schemas.openxmlformats.org/drawingml/2006/main">
              <a:ext uri="{FF2B5EF4-FFF2-40B4-BE49-F238E27FC236}">
                <a16:creationId xmlns:a16="http://schemas.microsoft.com/office/drawing/2014/main" id="{B10C58CD-1347-4226-8681-1C9DF5C61AFB}"/>
              </a:ext>
            </a:extLst>
          </p:cNvPr>
          <p:cNvSpPr>
            <a:spLocks xmlns:a="http://schemas.openxmlformats.org/drawingml/2006/main" noGrp="1"/>
          </p:cNvSpPr>
          <p:nvPr/>
        </p:nvSpPr>
        <p:spPr>
          <a:xfrm xmlns:a="http://schemas.openxmlformats.org/drawingml/2006/main">
            <a:off x="9382125" y="3724275"/>
            <a:ext cx="91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D98839"/>
                </a:solidFill>
                <a:latin typeface="Yu Gothic"/>
                <a:ea typeface="Yu Gothic"/>
                <a:cs typeface="Yu Gothic"/>
              </a:defRPr>
            </a:pPr>
            <a:r>
              <a:rPr sz="1425" b="1">
                <a:solidFill>
                  <a:srgbClr val="D98839"/>
                </a:solidFill>
                <a:latin typeface="Yu Gothic"/>
                <a:ea typeface="Yu Gothic"/>
                <a:cs typeface="Yu Gothic"/>
              </a:rPr>
              <a:t>.054</a:t>
            </a:r>
          </a:p>
        </p:txBody>
      </p:sp>
      <p:sp>
        <p:nvSpPr>
          <p:cNvPr id="44" name="">
            <a:extLst xmlns:a="http://schemas.openxmlformats.org/drawingml/2006/main">
              <a:ext uri="{FF2B5EF4-FFF2-40B4-BE49-F238E27FC236}">
                <a16:creationId xmlns:a16="http://schemas.microsoft.com/office/drawing/2014/main" id="{AD83C825-C06B-4A11-8093-EF1F3CCF0433}"/>
              </a:ext>
            </a:extLst>
          </p:cNvPr>
          <p:cNvSpPr>
            <a:spLocks xmlns:a="http://schemas.openxmlformats.org/drawingml/2006/main" noGrp="1"/>
          </p:cNvSpPr>
          <p:nvPr/>
        </p:nvSpPr>
        <p:spPr>
          <a:xfrm xmlns:a="http://schemas.openxmlformats.org/drawingml/2006/main">
            <a:off x="5848350" y="4514850"/>
            <a:ext cx="4695825" cy="971550"/>
          </a:xfrm>
          <a:prstGeom xmlns:a="http://schemas.openxmlformats.org/drawingml/2006/main" prst="roundRect">
            <a:avLst>
              <a:gd name="adj" fmla="val 7843"/>
            </a:avLst>
          </a:prstGeom>
          <a:solidFill xmlns:a="http://schemas.openxmlformats.org/drawingml/2006/main">
            <a:srgbClr val="F8EBD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7CEB8E1-8161-42C3-88EB-79986A70878F}"/>
              </a:ext>
            </a:extLst>
          </p:cNvPr>
          <p:cNvSpPr>
            <a:spLocks xmlns:a="http://schemas.openxmlformats.org/drawingml/2006/main" noGrp="1"/>
          </p:cNvSpPr>
          <p:nvPr/>
        </p:nvSpPr>
        <p:spPr>
          <a:xfrm xmlns:a="http://schemas.openxmlformats.org/drawingml/2006/main">
            <a:off x="6048375" y="4629150"/>
            <a:ext cx="4286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B54747"/>
                </a:solidFill>
                <a:latin typeface="Yu Gothic"/>
                <a:ea typeface="Yu Gothic"/>
                <a:cs typeface="Yu Gothic"/>
              </a:defRPr>
            </a:pPr>
            <a:r>
              <a:rPr sz="1575" b="1">
                <a:solidFill>
                  <a:srgbClr val="B54747"/>
                </a:solidFill>
                <a:latin typeface="Yu Gothic"/>
                <a:ea typeface="Yu Gothic"/>
                <a:cs typeface="Yu Gothic"/>
              </a:rPr>
              <a:t>差が大きいほど相関・符号一致は上昇。</a:t>
            </a:r>
          </a:p>
          <a:p xmlns:a="http://schemas.openxmlformats.org/drawingml/2006/main">
            <a:pPr algn="ctr">
              <a:lnSpc>
                <a:spcPct val="100000"/>
              </a:lnSpc>
              <a:buNone/>
              <a:defRPr sz="1575" b="1">
                <a:solidFill>
                  <a:srgbClr val="B54747"/>
                </a:solidFill>
                <a:latin typeface="Yu Gothic"/>
                <a:ea typeface="Yu Gothic"/>
                <a:cs typeface="Yu Gothic"/>
              </a:defRPr>
            </a:pPr>
            <a:r>
              <a:rPr sz="1575" b="1">
                <a:solidFill>
                  <a:srgbClr val="B54747"/>
                </a:solidFill>
                <a:latin typeface="Yu Gothic"/>
                <a:ea typeface="Yu Gothic"/>
                <a:cs typeface="Yu Gothic"/>
              </a:rPr>
              <a:t>slopeは約0.05–0.10で、振幅を強く圧縮。</a:t>
            </a:r>
          </a:p>
        </p:txBody>
      </p:sp>
      <p:sp>
        <p:nvSpPr>
          <p:cNvPr id="46" name="">
            <a:extLst xmlns:a="http://schemas.openxmlformats.org/drawingml/2006/main">
              <a:ext uri="{FF2B5EF4-FFF2-40B4-BE49-F238E27FC236}">
                <a16:creationId xmlns:a16="http://schemas.microsoft.com/office/drawing/2014/main" id="{697848DF-AE61-43C2-8248-7B839783FC20}"/>
              </a:ext>
            </a:extLst>
          </p:cNvPr>
          <p:cNvSpPr>
            <a:spLocks xmlns:a="http://schemas.openxmlformats.org/drawingml/2006/main" noGrp="1"/>
          </p:cNvSpPr>
          <p:nvPr/>
        </p:nvSpPr>
        <p:spPr>
          <a:xfrm xmlns:a="http://schemas.openxmlformats.org/drawingml/2006/main">
            <a:off x="5848350" y="5619750"/>
            <a:ext cx="4695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62717F"/>
                </a:solidFill>
                <a:latin typeface="Yu Gothic"/>
                <a:ea typeface="Yu Gothic"/>
                <a:cs typeface="Yu Gothic"/>
              </a:defRPr>
            </a:pPr>
            <a:r>
              <a:rPr sz="1275" b="1">
                <a:solidFill>
                  <a:srgbClr val="62717F"/>
                </a:solidFill>
                <a:latin typeface="Yu Gothic"/>
                <a:ea typeface="Yu Gothic"/>
                <a:cs typeface="Yu Gothic"/>
              </a:rPr>
              <a:t>32 px: MAE 0.0508 m / sign 0.554 / slope 0.0474</a:t>
            </a:r>
          </a:p>
        </p:txBody>
      </p:sp>
    </p:spTree>
    <p:extLst>
      <p:ext uri="{BB962C8B-B14F-4D97-AF65-F5344CB8AC3E}">
        <p14:creationId xmlns:p14="http://schemas.microsoft.com/office/powerpoint/2010/main" val="13227332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48C8A12-F86F-40DB-88D6-C07FE71EC1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BF8767-D0A8-4029-8C9C-2DAFE4B56FFB}"/>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全実験から分かったこと</a:t>
            </a:r>
          </a:p>
        </p:txBody>
      </p:sp>
      <p:sp>
        <p:nvSpPr>
          <p:cNvPr id="3" name="">
            <a:extLst xmlns:a="http://schemas.openxmlformats.org/drawingml/2006/main">
              <a:ext uri="{FF2B5EF4-FFF2-40B4-BE49-F238E27FC236}">
                <a16:creationId xmlns:a16="http://schemas.microsoft.com/office/drawing/2014/main" id="{D8A993C1-18E2-46AE-8F3D-E9A18E7B8EE8}"/>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5F4013-3E6A-479B-A401-C49F83CBBC51}"/>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6CB2E07-0DBF-4BCF-B7FB-5FC26326B3A5}"/>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Evidence spans road, indoor stereo, crop UAV, rice images and CHM; each supports a different claim.</a:t>
            </a:r>
          </a:p>
        </p:txBody>
      </p:sp>
      <p:sp>
        <p:nvSpPr>
          <p:cNvPr id="6" name="">
            <a:extLst xmlns:a="http://schemas.openxmlformats.org/drawingml/2006/main">
              <a:ext uri="{FF2B5EF4-FFF2-40B4-BE49-F238E27FC236}">
                <a16:creationId xmlns:a16="http://schemas.microsoft.com/office/drawing/2014/main" id="{AA8708BA-D1F9-42BB-8FC7-03B1AA6CE678}"/>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13</a:t>
            </a:r>
          </a:p>
        </p:txBody>
      </p:sp>
      <p:sp>
        <p:nvSpPr>
          <p:cNvPr id="7" name="">
            <a:extLst xmlns:a="http://schemas.openxmlformats.org/drawingml/2006/main">
              <a:ext uri="{FF2B5EF4-FFF2-40B4-BE49-F238E27FC236}">
                <a16:creationId xmlns:a16="http://schemas.microsoft.com/office/drawing/2014/main" id="{5ADDD70E-448F-4E06-A60E-BCE33E9F262F}"/>
              </a:ext>
            </a:extLst>
          </p:cNvPr>
          <p:cNvSpPr>
            <a:spLocks xmlns:a="http://schemas.openxmlformats.org/drawingml/2006/main" noGrp="1"/>
          </p:cNvSpPr>
          <p:nvPr/>
        </p:nvSpPr>
        <p:spPr>
          <a:xfrm xmlns:a="http://schemas.openxmlformats.org/drawingml/2006/main">
            <a:off x="742950" y="1466850"/>
            <a:ext cx="3286125" cy="3781425"/>
          </a:xfrm>
          <a:prstGeom xmlns:a="http://schemas.openxmlformats.org/drawingml/2006/main" prst="roundRect">
            <a:avLst>
              <a:gd name="adj" fmla="val 2319"/>
            </a:avLst>
          </a:prstGeom>
          <a:solidFill xmlns:a="http://schemas.openxmlformats.org/drawingml/2006/main">
            <a:srgbClr val="E3F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FBDF43-D3F2-4802-8015-1FEBC00E4999}"/>
              </a:ext>
            </a:extLst>
          </p:cNvPr>
          <p:cNvSpPr>
            <a:spLocks xmlns:a="http://schemas.openxmlformats.org/drawingml/2006/main" noGrp="1"/>
          </p:cNvSpPr>
          <p:nvPr/>
        </p:nvSpPr>
        <p:spPr>
          <a:xfrm xmlns:a="http://schemas.openxmlformats.org/drawingml/2006/main">
            <a:off x="990600" y="1638300"/>
            <a:ext cx="1952625"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8B93B6-CA6A-4C13-811D-9B66E6F7235B}"/>
              </a:ext>
            </a:extLst>
          </p:cNvPr>
          <p:cNvSpPr>
            <a:spLocks xmlns:a="http://schemas.openxmlformats.org/drawingml/2006/main" noGrp="1"/>
          </p:cNvSpPr>
          <p:nvPr/>
        </p:nvSpPr>
        <p:spPr>
          <a:xfrm xmlns:a="http://schemas.openxmlformats.org/drawingml/2006/main">
            <a:off x="1066800" y="1666875"/>
            <a:ext cx="18002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168C88"/>
                </a:solidFill>
                <a:latin typeface="Yu Gothic"/>
                <a:ea typeface="Yu Gothic"/>
                <a:cs typeface="Yu Gothic"/>
              </a:defRPr>
            </a:pPr>
            <a:r>
              <a:rPr sz="1200" b="1">
                <a:solidFill>
                  <a:srgbClr val="168C88"/>
                </a:solidFill>
                <a:latin typeface="Yu Gothic"/>
                <a:ea typeface="Yu Gothic"/>
                <a:cs typeface="Yu Gothic"/>
              </a:rPr>
              <a:t>確認できたこと</a:t>
            </a:r>
          </a:p>
        </p:txBody>
      </p:sp>
      <p:sp>
        <p:nvSpPr>
          <p:cNvPr id="10" name="">
            <a:extLst xmlns:a="http://schemas.openxmlformats.org/drawingml/2006/main">
              <a:ext uri="{FF2B5EF4-FFF2-40B4-BE49-F238E27FC236}">
                <a16:creationId xmlns:a16="http://schemas.microsoft.com/office/drawing/2014/main" id="{17A3D6A6-CEEF-46E1-877C-ACE23E7709E1}"/>
              </a:ext>
            </a:extLst>
          </p:cNvPr>
          <p:cNvSpPr>
            <a:spLocks xmlns:a="http://schemas.openxmlformats.org/drawingml/2006/main" noGrp="1"/>
          </p:cNvSpPr>
          <p:nvPr/>
        </p:nvSpPr>
        <p:spPr>
          <a:xfrm xmlns:a="http://schemas.openxmlformats.org/drawingml/2006/main">
            <a:off x="1000125" y="2209800"/>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57485B-143E-4405-825D-2546BC3C276E}"/>
              </a:ext>
            </a:extLst>
          </p:cNvPr>
          <p:cNvSpPr>
            <a:spLocks xmlns:a="http://schemas.openxmlformats.org/drawingml/2006/main" noGrp="1"/>
          </p:cNvSpPr>
          <p:nvPr/>
        </p:nvSpPr>
        <p:spPr>
          <a:xfrm xmlns:a="http://schemas.openxmlformats.org/drawingml/2006/main">
            <a:off x="1209675" y="21336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稲UAV画像にも適用可能</a:t>
            </a:r>
          </a:p>
        </p:txBody>
      </p:sp>
      <p:sp>
        <p:nvSpPr>
          <p:cNvPr id="12" name="">
            <a:extLst xmlns:a="http://schemas.openxmlformats.org/drawingml/2006/main">
              <a:ext uri="{FF2B5EF4-FFF2-40B4-BE49-F238E27FC236}">
                <a16:creationId xmlns:a16="http://schemas.microsoft.com/office/drawing/2014/main" id="{725062BD-DBDA-46B3-B6BE-03464774ADFC}"/>
              </a:ext>
            </a:extLst>
          </p:cNvPr>
          <p:cNvSpPr>
            <a:spLocks xmlns:a="http://schemas.openxmlformats.org/drawingml/2006/main" noGrp="1"/>
          </p:cNvSpPr>
          <p:nvPr/>
        </p:nvSpPr>
        <p:spPr>
          <a:xfrm xmlns:a="http://schemas.openxmlformats.org/drawingml/2006/main">
            <a:off x="1000125" y="2819400"/>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2E1986-E283-451C-BC9C-C4B1AC89992A}"/>
              </a:ext>
            </a:extLst>
          </p:cNvPr>
          <p:cNvSpPr>
            <a:spLocks xmlns:a="http://schemas.openxmlformats.org/drawingml/2006/main" noGrp="1"/>
          </p:cNvSpPr>
          <p:nvPr/>
        </p:nvSpPr>
        <p:spPr>
          <a:xfrm xmlns:a="http://schemas.openxmlformats.org/drawingml/2006/main">
            <a:off x="1209675" y="27432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Metric depth / relative depthを生成</a:t>
            </a:r>
          </a:p>
        </p:txBody>
      </p:sp>
      <p:sp>
        <p:nvSpPr>
          <p:cNvPr id="14" name="">
            <a:extLst xmlns:a="http://schemas.openxmlformats.org/drawingml/2006/main">
              <a:ext uri="{FF2B5EF4-FFF2-40B4-BE49-F238E27FC236}">
                <a16:creationId xmlns:a16="http://schemas.microsoft.com/office/drawing/2014/main" id="{BD101477-4570-4FAE-9742-FC7FD21D9CE2}"/>
              </a:ext>
            </a:extLst>
          </p:cNvPr>
          <p:cNvSpPr>
            <a:spLocks xmlns:a="http://schemas.openxmlformats.org/drawingml/2006/main" noGrp="1"/>
          </p:cNvSpPr>
          <p:nvPr/>
        </p:nvSpPr>
        <p:spPr>
          <a:xfrm xmlns:a="http://schemas.openxmlformats.org/drawingml/2006/main">
            <a:off x="1000125" y="3429000"/>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11EFA9E-D165-4DE5-B699-7C660FC75DBE}"/>
              </a:ext>
            </a:extLst>
          </p:cNvPr>
          <p:cNvSpPr>
            <a:spLocks xmlns:a="http://schemas.openxmlformats.org/drawingml/2006/main" noGrp="1"/>
          </p:cNvSpPr>
          <p:nvPr/>
        </p:nvSpPr>
        <p:spPr>
          <a:xfrm xmlns:a="http://schemas.openxmlformats.org/drawingml/2006/main">
            <a:off x="1209675" y="33528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局所的な高低順序を部分保持</a:t>
            </a:r>
          </a:p>
        </p:txBody>
      </p:sp>
      <p:sp>
        <p:nvSpPr>
          <p:cNvPr id="16" name="">
            <a:extLst xmlns:a="http://schemas.openxmlformats.org/drawingml/2006/main">
              <a:ext uri="{FF2B5EF4-FFF2-40B4-BE49-F238E27FC236}">
                <a16:creationId xmlns:a16="http://schemas.microsoft.com/office/drawing/2014/main" id="{CF15AC39-7BEF-4F88-8487-B7F31F89778F}"/>
              </a:ext>
            </a:extLst>
          </p:cNvPr>
          <p:cNvSpPr>
            <a:spLocks xmlns:a="http://schemas.openxmlformats.org/drawingml/2006/main" noGrp="1"/>
          </p:cNvSpPr>
          <p:nvPr/>
        </p:nvSpPr>
        <p:spPr>
          <a:xfrm xmlns:a="http://schemas.openxmlformats.org/drawingml/2006/main">
            <a:off x="1000125" y="4038600"/>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B7F2E5-030E-4117-9B1A-9C2108C3FF56}"/>
              </a:ext>
            </a:extLst>
          </p:cNvPr>
          <p:cNvSpPr>
            <a:spLocks xmlns:a="http://schemas.openxmlformats.org/drawingml/2006/main" noGrp="1"/>
          </p:cNvSpPr>
          <p:nvPr/>
        </p:nvSpPr>
        <p:spPr>
          <a:xfrm xmlns:a="http://schemas.openxmlformats.org/drawingml/2006/main">
            <a:off x="1209675" y="39624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大きな差ほどsignが合いやすい</a:t>
            </a:r>
          </a:p>
        </p:txBody>
      </p:sp>
      <p:sp>
        <p:nvSpPr>
          <p:cNvPr id="18" name="">
            <a:extLst xmlns:a="http://schemas.openxmlformats.org/drawingml/2006/main">
              <a:ext uri="{FF2B5EF4-FFF2-40B4-BE49-F238E27FC236}">
                <a16:creationId xmlns:a16="http://schemas.microsoft.com/office/drawing/2014/main" id="{C3A7FA51-CBD4-4FA7-8731-7F531E94B6F9}"/>
              </a:ext>
            </a:extLst>
          </p:cNvPr>
          <p:cNvSpPr>
            <a:spLocks xmlns:a="http://schemas.openxmlformats.org/drawingml/2006/main" noGrp="1"/>
          </p:cNvSpPr>
          <p:nvPr/>
        </p:nvSpPr>
        <p:spPr>
          <a:xfrm xmlns:a="http://schemas.openxmlformats.org/drawingml/2006/main">
            <a:off x="4448175" y="1466850"/>
            <a:ext cx="3286125" cy="3781425"/>
          </a:xfrm>
          <a:prstGeom xmlns:a="http://schemas.openxmlformats.org/drawingml/2006/main" prst="roundRect">
            <a:avLst>
              <a:gd name="adj" fmla="val 2319"/>
            </a:avLst>
          </a:prstGeom>
          <a:solidFill xmlns:a="http://schemas.openxmlformats.org/drawingml/2006/main">
            <a:srgbClr val="F8EBD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F611F-8BAD-465C-9241-A2B865D394E7}"/>
              </a:ext>
            </a:extLst>
          </p:cNvPr>
          <p:cNvSpPr>
            <a:spLocks xmlns:a="http://schemas.openxmlformats.org/drawingml/2006/main" noGrp="1"/>
          </p:cNvSpPr>
          <p:nvPr/>
        </p:nvSpPr>
        <p:spPr>
          <a:xfrm xmlns:a="http://schemas.openxmlformats.org/drawingml/2006/main">
            <a:off x="4695825" y="1638300"/>
            <a:ext cx="17526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A137E1B-834D-4407-B70E-0CCF40E84DFA}"/>
              </a:ext>
            </a:extLst>
          </p:cNvPr>
          <p:cNvSpPr>
            <a:spLocks xmlns:a="http://schemas.openxmlformats.org/drawingml/2006/main" noGrp="1"/>
          </p:cNvSpPr>
          <p:nvPr/>
        </p:nvSpPr>
        <p:spPr>
          <a:xfrm xmlns:a="http://schemas.openxmlformats.org/drawingml/2006/main">
            <a:off x="4772025" y="1666875"/>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D98839"/>
                </a:solidFill>
                <a:latin typeface="Yu Gothic"/>
                <a:ea typeface="Yu Gothic"/>
                <a:cs typeface="Yu Gothic"/>
              </a:defRPr>
            </a:pPr>
            <a:r>
              <a:rPr sz="1200" b="1">
                <a:solidFill>
                  <a:srgbClr val="D98839"/>
                </a:solidFill>
                <a:latin typeface="Yu Gothic"/>
                <a:ea typeface="Yu Gothic"/>
                <a:cs typeface="Yu Gothic"/>
              </a:rPr>
              <a:t>性能上の課題</a:t>
            </a:r>
          </a:p>
        </p:txBody>
      </p:sp>
      <p:sp>
        <p:nvSpPr>
          <p:cNvPr id="21" name="">
            <a:extLst xmlns:a="http://schemas.openxmlformats.org/drawingml/2006/main">
              <a:ext uri="{FF2B5EF4-FFF2-40B4-BE49-F238E27FC236}">
                <a16:creationId xmlns:a16="http://schemas.microsoft.com/office/drawing/2014/main" id="{A4EA8A81-2533-49C4-8DA0-12E9023E18E1}"/>
              </a:ext>
            </a:extLst>
          </p:cNvPr>
          <p:cNvSpPr>
            <a:spLocks xmlns:a="http://schemas.openxmlformats.org/drawingml/2006/main" noGrp="1"/>
          </p:cNvSpPr>
          <p:nvPr/>
        </p:nvSpPr>
        <p:spPr>
          <a:xfrm xmlns:a="http://schemas.openxmlformats.org/drawingml/2006/main">
            <a:off x="4705350" y="220980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14593D-47D2-4B58-8F98-32779E83E628}"/>
              </a:ext>
            </a:extLst>
          </p:cNvPr>
          <p:cNvSpPr>
            <a:spLocks xmlns:a="http://schemas.openxmlformats.org/drawingml/2006/main" noGrp="1"/>
          </p:cNvSpPr>
          <p:nvPr/>
        </p:nvSpPr>
        <p:spPr>
          <a:xfrm xmlns:a="http://schemas.openxmlformats.org/drawingml/2006/main">
            <a:off x="4914900" y="21336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一般環境とcrop domainに差</a:t>
            </a:r>
          </a:p>
        </p:txBody>
      </p:sp>
      <p:sp>
        <p:nvSpPr>
          <p:cNvPr id="23" name="">
            <a:extLst xmlns:a="http://schemas.openxmlformats.org/drawingml/2006/main">
              <a:ext uri="{FF2B5EF4-FFF2-40B4-BE49-F238E27FC236}">
                <a16:creationId xmlns:a16="http://schemas.microsoft.com/office/drawing/2014/main" id="{3559A3D7-3A3D-42F2-ABCE-6C77D0770E31}"/>
              </a:ext>
            </a:extLst>
          </p:cNvPr>
          <p:cNvSpPr>
            <a:spLocks xmlns:a="http://schemas.openxmlformats.org/drawingml/2006/main" noGrp="1"/>
          </p:cNvSpPr>
          <p:nvPr/>
        </p:nvSpPr>
        <p:spPr>
          <a:xfrm xmlns:a="http://schemas.openxmlformats.org/drawingml/2006/main">
            <a:off x="4705350" y="281940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6C28D5-54F3-459C-8E58-D7BC83920A9F}"/>
              </a:ext>
            </a:extLst>
          </p:cNvPr>
          <p:cNvSpPr>
            <a:spLocks xmlns:a="http://schemas.openxmlformats.org/drawingml/2006/main" noGrp="1"/>
          </p:cNvSpPr>
          <p:nvPr/>
        </p:nvSpPr>
        <p:spPr>
          <a:xfrm xmlns:a="http://schemas.openxmlformats.org/drawingml/2006/main">
            <a:off x="4914900" y="27432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raw metric depthにdomain bias</a:t>
            </a:r>
          </a:p>
        </p:txBody>
      </p:sp>
      <p:sp>
        <p:nvSpPr>
          <p:cNvPr id="25" name="">
            <a:extLst xmlns:a="http://schemas.openxmlformats.org/drawingml/2006/main">
              <a:ext uri="{FF2B5EF4-FFF2-40B4-BE49-F238E27FC236}">
                <a16:creationId xmlns:a16="http://schemas.microsoft.com/office/drawing/2014/main" id="{A8514F6C-A7CD-4508-9569-1CB9E82A99D7}"/>
              </a:ext>
            </a:extLst>
          </p:cNvPr>
          <p:cNvSpPr>
            <a:spLocks xmlns:a="http://schemas.openxmlformats.org/drawingml/2006/main" noGrp="1"/>
          </p:cNvSpPr>
          <p:nvPr/>
        </p:nvSpPr>
        <p:spPr>
          <a:xfrm xmlns:a="http://schemas.openxmlformats.org/drawingml/2006/main">
            <a:off x="4705350" y="342900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0FA9FB-5CF3-4CB1-B4D2-1F6D5C56B407}"/>
              </a:ext>
            </a:extLst>
          </p:cNvPr>
          <p:cNvSpPr>
            <a:spLocks xmlns:a="http://schemas.openxmlformats.org/drawingml/2006/main" noGrp="1"/>
          </p:cNvSpPr>
          <p:nvPr/>
        </p:nvSpPr>
        <p:spPr>
          <a:xfrm xmlns:a="http://schemas.openxmlformats.org/drawingml/2006/main">
            <a:off x="4914900" y="33528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local differenceの振幅圧縮</a:t>
            </a:r>
          </a:p>
        </p:txBody>
      </p:sp>
      <p:sp>
        <p:nvSpPr>
          <p:cNvPr id="27" name="">
            <a:extLst xmlns:a="http://schemas.openxmlformats.org/drawingml/2006/main">
              <a:ext uri="{FF2B5EF4-FFF2-40B4-BE49-F238E27FC236}">
                <a16:creationId xmlns:a16="http://schemas.microsoft.com/office/drawing/2014/main" id="{9BF8D79C-D64B-4D97-B985-32547FC2ECB5}"/>
              </a:ext>
            </a:extLst>
          </p:cNvPr>
          <p:cNvSpPr>
            <a:spLocks xmlns:a="http://schemas.openxmlformats.org/drawingml/2006/main" noGrp="1"/>
          </p:cNvSpPr>
          <p:nvPr/>
        </p:nvSpPr>
        <p:spPr>
          <a:xfrm xmlns:a="http://schemas.openxmlformats.org/drawingml/2006/main">
            <a:off x="4705350" y="403860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D271A8-E184-444F-A704-E8CFBBF6E23E}"/>
              </a:ext>
            </a:extLst>
          </p:cNvPr>
          <p:cNvSpPr>
            <a:spLocks xmlns:a="http://schemas.openxmlformats.org/drawingml/2006/main" noGrp="1"/>
          </p:cNvSpPr>
          <p:nvPr/>
        </p:nvSpPr>
        <p:spPr>
          <a:xfrm xmlns:a="http://schemas.openxmlformats.org/drawingml/2006/main">
            <a:off x="4914900" y="39624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253443"/>
                </a:solidFill>
                <a:latin typeface="Yu Gothic"/>
                <a:ea typeface="Yu Gothic"/>
                <a:cs typeface="Yu Gothic"/>
              </a:defRPr>
            </a:pPr>
            <a:r>
              <a:rPr sz="1425" b="0">
                <a:solidFill>
                  <a:srgbClr val="253443"/>
                </a:solidFill>
                <a:latin typeface="Yu Gothic"/>
                <a:ea typeface="Yu Gothic"/>
                <a:cs typeface="Yu Gothic"/>
              </a:rPr>
              <a:t>AirMeasurer MAEでconstantに届かず</a:t>
            </a:r>
          </a:p>
        </p:txBody>
      </p:sp>
      <p:sp>
        <p:nvSpPr>
          <p:cNvPr id="29" name="">
            <a:extLst xmlns:a="http://schemas.openxmlformats.org/drawingml/2006/main">
              <a:ext uri="{FF2B5EF4-FFF2-40B4-BE49-F238E27FC236}">
                <a16:creationId xmlns:a16="http://schemas.microsoft.com/office/drawing/2014/main" id="{BF412EAC-AA54-4873-9D40-1BD580B7239C}"/>
              </a:ext>
            </a:extLst>
          </p:cNvPr>
          <p:cNvSpPr>
            <a:spLocks xmlns:a="http://schemas.openxmlformats.org/drawingml/2006/main" noGrp="1"/>
          </p:cNvSpPr>
          <p:nvPr/>
        </p:nvSpPr>
        <p:spPr>
          <a:xfrm xmlns:a="http://schemas.openxmlformats.org/drawingml/2006/main">
            <a:off x="8153400" y="1466850"/>
            <a:ext cx="3286125" cy="3781425"/>
          </a:xfrm>
          <a:prstGeom xmlns:a="http://schemas.openxmlformats.org/drawingml/2006/main" prst="roundRect">
            <a:avLst>
              <a:gd name="adj" fmla="val 2319"/>
            </a:avLst>
          </a:prstGeom>
          <a:solidFill xmlns:a="http://schemas.openxmlformats.org/drawingml/2006/main">
            <a:srgbClr val="F7E8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32CAF2D-85FF-46C7-AEE8-E5C450D0791B}"/>
              </a:ext>
            </a:extLst>
          </p:cNvPr>
          <p:cNvSpPr>
            <a:spLocks xmlns:a="http://schemas.openxmlformats.org/drawingml/2006/main" noGrp="1"/>
          </p:cNvSpPr>
          <p:nvPr/>
        </p:nvSpPr>
        <p:spPr>
          <a:xfrm xmlns:a="http://schemas.openxmlformats.org/drawingml/2006/main">
            <a:off x="8401050" y="1638300"/>
            <a:ext cx="16764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E6BAC1E-A3BE-49CF-B506-F1FD9A8C9892}"/>
              </a:ext>
            </a:extLst>
          </p:cNvPr>
          <p:cNvSpPr>
            <a:spLocks xmlns:a="http://schemas.openxmlformats.org/drawingml/2006/main" noGrp="1"/>
          </p:cNvSpPr>
          <p:nvPr/>
        </p:nvSpPr>
        <p:spPr>
          <a:xfrm xmlns:a="http://schemas.openxmlformats.org/drawingml/2006/main">
            <a:off x="8477250" y="16668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B54747"/>
                </a:solidFill>
                <a:latin typeface="Yu Gothic"/>
                <a:ea typeface="Yu Gothic"/>
                <a:cs typeface="Yu Gothic"/>
              </a:defRPr>
            </a:pPr>
            <a:r>
              <a:rPr sz="1200" b="1">
                <a:solidFill>
                  <a:srgbClr val="B54747"/>
                </a:solidFill>
                <a:latin typeface="Yu Gothic"/>
                <a:ea typeface="Yu Gothic"/>
                <a:cs typeface="Yu Gothic"/>
              </a:rPr>
              <a:t>未確認のこと</a:t>
            </a:r>
          </a:p>
        </p:txBody>
      </p:sp>
      <p:sp>
        <p:nvSpPr>
          <p:cNvPr id="32" name="">
            <a:extLst xmlns:a="http://schemas.openxmlformats.org/drawingml/2006/main">
              <a:ext uri="{FF2B5EF4-FFF2-40B4-BE49-F238E27FC236}">
                <a16:creationId xmlns:a16="http://schemas.microsoft.com/office/drawing/2014/main" id="{FE8B2E02-12B4-44E7-B342-B154BA60EDAA}"/>
              </a:ext>
            </a:extLst>
          </p:cNvPr>
          <p:cNvSpPr>
            <a:spLocks xmlns:a="http://schemas.openxmlformats.org/drawingml/2006/main" noGrp="1"/>
          </p:cNvSpPr>
          <p:nvPr/>
        </p:nvSpPr>
        <p:spPr>
          <a:xfrm xmlns:a="http://schemas.openxmlformats.org/drawingml/2006/main">
            <a:off x="8410575" y="2209800"/>
            <a:ext cx="85725" cy="85725"/>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C2F9ADC-975F-463E-8F56-892756375C52}"/>
              </a:ext>
            </a:extLst>
          </p:cNvPr>
          <p:cNvSpPr>
            <a:spLocks xmlns:a="http://schemas.openxmlformats.org/drawingml/2006/main" noGrp="1"/>
          </p:cNvSpPr>
          <p:nvPr/>
        </p:nvSpPr>
        <p:spPr>
          <a:xfrm xmlns:a="http://schemas.openxmlformats.org/drawingml/2006/main">
            <a:off x="8620125" y="21336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実測稲高との十分な対応</a:t>
            </a:r>
          </a:p>
        </p:txBody>
      </p:sp>
      <p:sp>
        <p:nvSpPr>
          <p:cNvPr id="34" name="">
            <a:extLst xmlns:a="http://schemas.openxmlformats.org/drawingml/2006/main">
              <a:ext uri="{FF2B5EF4-FFF2-40B4-BE49-F238E27FC236}">
                <a16:creationId xmlns:a16="http://schemas.microsoft.com/office/drawing/2014/main" id="{7DF751EE-A983-43F7-A57A-F40FFBEB069D}"/>
              </a:ext>
            </a:extLst>
          </p:cNvPr>
          <p:cNvSpPr>
            <a:spLocks xmlns:a="http://schemas.openxmlformats.org/drawingml/2006/main" noGrp="1"/>
          </p:cNvSpPr>
          <p:nvPr/>
        </p:nvSpPr>
        <p:spPr>
          <a:xfrm xmlns:a="http://schemas.openxmlformats.org/drawingml/2006/main">
            <a:off x="8410575" y="2819400"/>
            <a:ext cx="85725" cy="85725"/>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B5837E6-D8D2-4C50-87BA-6FF17114EEDF}"/>
              </a:ext>
            </a:extLst>
          </p:cNvPr>
          <p:cNvSpPr>
            <a:spLocks xmlns:a="http://schemas.openxmlformats.org/drawingml/2006/main" noGrp="1"/>
          </p:cNvSpPr>
          <p:nvPr/>
        </p:nvSpPr>
        <p:spPr>
          <a:xfrm xmlns:a="http://schemas.openxmlformats.org/drawingml/2006/main">
            <a:off x="8620125" y="27432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raw frameでのGT付き評価</a:t>
            </a:r>
          </a:p>
        </p:txBody>
      </p:sp>
      <p:sp>
        <p:nvSpPr>
          <p:cNvPr id="36" name="">
            <a:extLst xmlns:a="http://schemas.openxmlformats.org/drawingml/2006/main">
              <a:ext uri="{FF2B5EF4-FFF2-40B4-BE49-F238E27FC236}">
                <a16:creationId xmlns:a16="http://schemas.microsoft.com/office/drawing/2014/main" id="{A9FA9833-D566-410E-A971-D66A248DE4A4}"/>
              </a:ext>
            </a:extLst>
          </p:cNvPr>
          <p:cNvSpPr>
            <a:spLocks xmlns:a="http://schemas.openxmlformats.org/drawingml/2006/main" noGrp="1"/>
          </p:cNvSpPr>
          <p:nvPr/>
        </p:nvSpPr>
        <p:spPr>
          <a:xfrm xmlns:a="http://schemas.openxmlformats.org/drawingml/2006/main">
            <a:off x="8410575" y="3429000"/>
            <a:ext cx="85725" cy="85725"/>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091E32A-131F-4708-9B26-4F057081C581}"/>
              </a:ext>
            </a:extLst>
          </p:cNvPr>
          <p:cNvSpPr>
            <a:spLocks xmlns:a="http://schemas.openxmlformats.org/drawingml/2006/main" noGrp="1"/>
          </p:cNvSpPr>
          <p:nvPr/>
        </p:nvSpPr>
        <p:spPr>
          <a:xfrm xmlns:a="http://schemas.openxmlformats.org/drawingml/2006/main">
            <a:off x="8620125" y="33528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plot-level汎化</a:t>
            </a:r>
          </a:p>
        </p:txBody>
      </p:sp>
      <p:sp>
        <p:nvSpPr>
          <p:cNvPr id="38" name="">
            <a:extLst xmlns:a="http://schemas.openxmlformats.org/drawingml/2006/main">
              <a:ext uri="{FF2B5EF4-FFF2-40B4-BE49-F238E27FC236}">
                <a16:creationId xmlns:a16="http://schemas.microsoft.com/office/drawing/2014/main" id="{F141A296-67A3-4142-8687-94304F161761}"/>
              </a:ext>
            </a:extLst>
          </p:cNvPr>
          <p:cNvSpPr>
            <a:spLocks xmlns:a="http://schemas.openxmlformats.org/drawingml/2006/main" noGrp="1"/>
          </p:cNvSpPr>
          <p:nvPr/>
        </p:nvSpPr>
        <p:spPr>
          <a:xfrm xmlns:a="http://schemas.openxmlformats.org/drawingml/2006/main">
            <a:off x="8410575" y="4038600"/>
            <a:ext cx="85725" cy="85725"/>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694667D-48C2-4209-8EF4-B0019067104E}"/>
              </a:ext>
            </a:extLst>
          </p:cNvPr>
          <p:cNvSpPr>
            <a:spLocks xmlns:a="http://schemas.openxmlformats.org/drawingml/2006/main" noGrp="1"/>
          </p:cNvSpPr>
          <p:nvPr/>
        </p:nvSpPr>
        <p:spPr>
          <a:xfrm xmlns:a="http://schemas.openxmlformats.org/drawingml/2006/main">
            <a:off x="8620125" y="39624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cross-date calibration</a:t>
            </a:r>
          </a:p>
        </p:txBody>
      </p:sp>
      <p:sp>
        <p:nvSpPr>
          <p:cNvPr id="40" name="">
            <a:extLst xmlns:a="http://schemas.openxmlformats.org/drawingml/2006/main">
              <a:ext uri="{FF2B5EF4-FFF2-40B4-BE49-F238E27FC236}">
                <a16:creationId xmlns:a16="http://schemas.microsoft.com/office/drawing/2014/main" id="{2872F6C0-B5DC-465F-A9A6-E6E01F93DF6F}"/>
              </a:ext>
            </a:extLst>
          </p:cNvPr>
          <p:cNvSpPr>
            <a:spLocks xmlns:a="http://schemas.openxmlformats.org/drawingml/2006/main" noGrp="1"/>
          </p:cNvSpPr>
          <p:nvPr/>
        </p:nvSpPr>
        <p:spPr>
          <a:xfrm xmlns:a="http://schemas.openxmlformats.org/drawingml/2006/main">
            <a:off x="952500" y="5572125"/>
            <a:ext cx="10287000" cy="590550"/>
          </a:xfrm>
          <a:prstGeom xmlns:a="http://schemas.openxmlformats.org/drawingml/2006/main" prst="roundRect">
            <a:avLst>
              <a:gd name="adj" fmla="val 12903"/>
            </a:avLst>
          </a:prstGeom>
          <a:solidFill xmlns:a="http://schemas.openxmlformats.org/drawingml/2006/main">
            <a:srgbClr val="142A4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5B3234C-358F-4DE1-A5F4-5B021DA94374}"/>
              </a:ext>
            </a:extLst>
          </p:cNvPr>
          <p:cNvSpPr>
            <a:spLocks xmlns:a="http://schemas.openxmlformats.org/drawingml/2006/main" noGrp="1"/>
          </p:cNvSpPr>
          <p:nvPr/>
        </p:nvSpPr>
        <p:spPr>
          <a:xfrm xmlns:a="http://schemas.openxmlformats.org/drawingml/2006/main">
            <a:off x="1162050" y="5686425"/>
            <a:ext cx="9858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深度マップの生成可能性 ≠ 高精度な稲高計測</a:t>
            </a:r>
          </a:p>
        </p:txBody>
      </p:sp>
    </p:spTree>
    <p:extLst>
      <p:ext uri="{BB962C8B-B14F-4D97-AF65-F5344CB8AC3E}">
        <p14:creationId xmlns:p14="http://schemas.microsoft.com/office/powerpoint/2010/main" val="19626473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BC5EB41-51CB-4278-B60C-416C85DD17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63C3BD-E754-47AB-8958-F1436178289A}"/>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現時点での結論</a:t>
            </a:r>
          </a:p>
        </p:txBody>
      </p:sp>
      <p:sp>
        <p:nvSpPr>
          <p:cNvPr id="3" name="">
            <a:extLst xmlns:a="http://schemas.openxmlformats.org/drawingml/2006/main">
              <a:ext uri="{FF2B5EF4-FFF2-40B4-BE49-F238E27FC236}">
                <a16:creationId xmlns:a16="http://schemas.microsoft.com/office/drawing/2014/main" id="{D32D5ED2-0F4D-4470-926B-E6DFC179B800}"/>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5A6F89-AF33-4ECD-8D37-7A1668C1A042}"/>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B93B4C-BC4C-4F8D-912E-6F8C66E7961C}"/>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この段階で主張するのは適用可能性と課題の整理まで。</a:t>
            </a:r>
          </a:p>
        </p:txBody>
      </p:sp>
      <p:sp>
        <p:nvSpPr>
          <p:cNvPr id="6" name="">
            <a:extLst xmlns:a="http://schemas.openxmlformats.org/drawingml/2006/main">
              <a:ext uri="{FF2B5EF4-FFF2-40B4-BE49-F238E27FC236}">
                <a16:creationId xmlns:a16="http://schemas.microsoft.com/office/drawing/2014/main" id="{F3A6B2CA-0F8A-4F5F-9922-DA4771DE9FD4}"/>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14</a:t>
            </a:r>
          </a:p>
        </p:txBody>
      </p:sp>
      <p:sp>
        <p:nvSpPr>
          <p:cNvPr id="7" name="">
            <a:extLst xmlns:a="http://schemas.openxmlformats.org/drawingml/2006/main">
              <a:ext uri="{FF2B5EF4-FFF2-40B4-BE49-F238E27FC236}">
                <a16:creationId xmlns:a16="http://schemas.microsoft.com/office/drawing/2014/main" id="{C7293D50-2D9F-45D5-B6F6-604E56B8B383}"/>
              </a:ext>
            </a:extLst>
          </p:cNvPr>
          <p:cNvSpPr>
            <a:spLocks xmlns:a="http://schemas.openxmlformats.org/drawingml/2006/main" noGrp="1"/>
          </p:cNvSpPr>
          <p:nvPr/>
        </p:nvSpPr>
        <p:spPr>
          <a:xfrm xmlns:a="http://schemas.openxmlformats.org/drawingml/2006/main">
            <a:off x="819150" y="1381125"/>
            <a:ext cx="10544175" cy="1047750"/>
          </a:xfrm>
          <a:prstGeom xmlns:a="http://schemas.openxmlformats.org/drawingml/2006/main" prst="roundRect">
            <a:avLst>
              <a:gd name="adj" fmla="val 7273"/>
            </a:avLst>
          </a:prstGeom>
          <a:solidFill xmlns:a="http://schemas.openxmlformats.org/drawingml/2006/main">
            <a:srgbClr val="142A4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750CD2-0A9E-4832-9CC0-E90E4FFC7BA4}"/>
              </a:ext>
            </a:extLst>
          </p:cNvPr>
          <p:cNvSpPr>
            <a:spLocks xmlns:a="http://schemas.openxmlformats.org/drawingml/2006/main" noGrp="1"/>
          </p:cNvSpPr>
          <p:nvPr/>
        </p:nvSpPr>
        <p:spPr>
          <a:xfrm xmlns:a="http://schemas.openxmlformats.org/drawingml/2006/main">
            <a:off x="1143000" y="162877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550" b="1">
                <a:solidFill>
                  <a:srgbClr val="FFFFFF"/>
                </a:solidFill>
                <a:latin typeface="Yu Gothic"/>
                <a:ea typeface="Yu Gothic"/>
                <a:cs typeface="Yu Gothic"/>
              </a:defRPr>
            </a:pPr>
            <a:r>
              <a:rPr sz="2550" b="1">
                <a:solidFill>
                  <a:srgbClr val="FFFFFF"/>
                </a:solidFill>
                <a:latin typeface="Yu Gothic"/>
                <a:ea typeface="Yu Gothic"/>
                <a:cs typeface="Yu Gothic"/>
              </a:rPr>
              <a:t>DA2の出力をそのまま稲高として使用しない</a:t>
            </a:r>
          </a:p>
        </p:txBody>
      </p:sp>
      <p:sp>
        <p:nvSpPr>
          <p:cNvPr id="9" name="">
            <a:extLst xmlns:a="http://schemas.openxmlformats.org/drawingml/2006/main">
              <a:ext uri="{FF2B5EF4-FFF2-40B4-BE49-F238E27FC236}">
                <a16:creationId xmlns:a16="http://schemas.microsoft.com/office/drawing/2014/main" id="{51627414-AB9C-4A15-89F9-933A98060327}"/>
              </a:ext>
            </a:extLst>
          </p:cNvPr>
          <p:cNvSpPr>
            <a:spLocks xmlns:a="http://schemas.openxmlformats.org/drawingml/2006/main" noGrp="1"/>
          </p:cNvSpPr>
          <p:nvPr/>
        </p:nvSpPr>
        <p:spPr>
          <a:xfrm xmlns:a="http://schemas.openxmlformats.org/drawingml/2006/main">
            <a:off x="857250" y="2781300"/>
            <a:ext cx="4857750" cy="2724150"/>
          </a:xfrm>
          <a:prstGeom xmlns:a="http://schemas.openxmlformats.org/drawingml/2006/main" prst="roundRect">
            <a:avLst>
              <a:gd name="adj" fmla="val 2797"/>
            </a:avLst>
          </a:prstGeom>
          <a:solidFill xmlns:a="http://schemas.openxmlformats.org/drawingml/2006/main">
            <a:srgbClr val="E3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6584267-144A-4A91-AFFD-EECD36F95642}"/>
              </a:ext>
            </a:extLst>
          </p:cNvPr>
          <p:cNvSpPr>
            <a:spLocks xmlns:a="http://schemas.openxmlformats.org/drawingml/2006/main" noGrp="1"/>
          </p:cNvSpPr>
          <p:nvPr/>
        </p:nvSpPr>
        <p:spPr>
          <a:xfrm xmlns:a="http://schemas.openxmlformats.org/drawingml/2006/main">
            <a:off x="1114425" y="29718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68C88"/>
                </a:solidFill>
                <a:latin typeface="Yu Gothic"/>
                <a:ea typeface="Yu Gothic"/>
                <a:cs typeface="Yu Gothic"/>
              </a:defRPr>
            </a:pPr>
            <a:r>
              <a:rPr sz="1800" b="1">
                <a:solidFill>
                  <a:srgbClr val="168C88"/>
                </a:solidFill>
                <a:latin typeface="Yu Gothic"/>
                <a:ea typeface="Yu Gothic"/>
                <a:cs typeface="Yu Gothic"/>
              </a:rPr>
              <a:t>確認できた</a:t>
            </a:r>
          </a:p>
        </p:txBody>
      </p:sp>
      <p:sp>
        <p:nvSpPr>
          <p:cNvPr id="11" name="">
            <a:extLst xmlns:a="http://schemas.openxmlformats.org/drawingml/2006/main">
              <a:ext uri="{FF2B5EF4-FFF2-40B4-BE49-F238E27FC236}">
                <a16:creationId xmlns:a16="http://schemas.microsoft.com/office/drawing/2014/main" id="{99262CFE-8A18-4004-A42E-EA9C72D1E831}"/>
              </a:ext>
            </a:extLst>
          </p:cNvPr>
          <p:cNvSpPr>
            <a:spLocks xmlns:a="http://schemas.openxmlformats.org/drawingml/2006/main" noGrp="1"/>
          </p:cNvSpPr>
          <p:nvPr/>
        </p:nvSpPr>
        <p:spPr>
          <a:xfrm xmlns:a="http://schemas.openxmlformats.org/drawingml/2006/main">
            <a:off x="1133475" y="357187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EEC1DD-F5B4-43DA-91BD-D36F9239A0B6}"/>
              </a:ext>
            </a:extLst>
          </p:cNvPr>
          <p:cNvSpPr>
            <a:spLocks xmlns:a="http://schemas.openxmlformats.org/drawingml/2006/main" noGrp="1"/>
          </p:cNvSpPr>
          <p:nvPr/>
        </p:nvSpPr>
        <p:spPr>
          <a:xfrm xmlns:a="http://schemas.openxmlformats.org/drawingml/2006/main">
            <a:off x="1343025" y="3495675"/>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稲画像への推論適用は可能</a:t>
            </a:r>
          </a:p>
        </p:txBody>
      </p:sp>
      <p:sp>
        <p:nvSpPr>
          <p:cNvPr id="13" name="">
            <a:extLst xmlns:a="http://schemas.openxmlformats.org/drawingml/2006/main">
              <a:ext uri="{FF2B5EF4-FFF2-40B4-BE49-F238E27FC236}">
                <a16:creationId xmlns:a16="http://schemas.microsoft.com/office/drawing/2014/main" id="{836EFD08-11A2-406F-82E4-7BF50089A326}"/>
              </a:ext>
            </a:extLst>
          </p:cNvPr>
          <p:cNvSpPr>
            <a:spLocks xmlns:a="http://schemas.openxmlformats.org/drawingml/2006/main" noGrp="1"/>
          </p:cNvSpPr>
          <p:nvPr/>
        </p:nvSpPr>
        <p:spPr>
          <a:xfrm xmlns:a="http://schemas.openxmlformats.org/drawingml/2006/main">
            <a:off x="1133475" y="4095750"/>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A1C3FC-AC7F-4C8F-864D-69458008EE02}"/>
              </a:ext>
            </a:extLst>
          </p:cNvPr>
          <p:cNvSpPr>
            <a:spLocks xmlns:a="http://schemas.openxmlformats.org/drawingml/2006/main" noGrp="1"/>
          </p:cNvSpPr>
          <p:nvPr/>
        </p:nvSpPr>
        <p:spPr>
          <a:xfrm xmlns:a="http://schemas.openxmlformats.org/drawingml/2006/main">
            <a:off x="1343025" y="4019550"/>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UAV crop domainではraw metricにbias</a:t>
            </a:r>
          </a:p>
        </p:txBody>
      </p:sp>
      <p:sp>
        <p:nvSpPr>
          <p:cNvPr id="15" name="">
            <a:extLst xmlns:a="http://schemas.openxmlformats.org/drawingml/2006/main">
              <a:ext uri="{FF2B5EF4-FFF2-40B4-BE49-F238E27FC236}">
                <a16:creationId xmlns:a16="http://schemas.microsoft.com/office/drawing/2014/main" id="{7F70686F-CF54-4C95-BA38-2063643B6851}"/>
              </a:ext>
            </a:extLst>
          </p:cNvPr>
          <p:cNvSpPr>
            <a:spLocks xmlns:a="http://schemas.openxmlformats.org/drawingml/2006/main" noGrp="1"/>
          </p:cNvSpPr>
          <p:nvPr/>
        </p:nvSpPr>
        <p:spPr>
          <a:xfrm xmlns:a="http://schemas.openxmlformats.org/drawingml/2006/main">
            <a:off x="1133475" y="4619625"/>
            <a:ext cx="85725" cy="85725"/>
          </a:xfrm>
          <a:prstGeom xmlns:a="http://schemas.openxmlformats.org/drawingml/2006/main" prst="ellipse">
            <a:avLst/>
          </a:prstGeom>
          <a:solidFill xmlns:a="http://schemas.openxmlformats.org/drawingml/2006/main">
            <a:srgbClr val="168C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34CFF5-8CFF-4D53-899E-D15D92B28F52}"/>
              </a:ext>
            </a:extLst>
          </p:cNvPr>
          <p:cNvSpPr>
            <a:spLocks xmlns:a="http://schemas.openxmlformats.org/drawingml/2006/main" noGrp="1"/>
          </p:cNvSpPr>
          <p:nvPr/>
        </p:nvSpPr>
        <p:spPr>
          <a:xfrm xmlns:a="http://schemas.openxmlformats.org/drawingml/2006/main">
            <a:off x="1343025" y="4543425"/>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relative depthは局所順序を部分保持</a:t>
            </a:r>
          </a:p>
        </p:txBody>
      </p:sp>
      <p:sp>
        <p:nvSpPr>
          <p:cNvPr id="17" name="">
            <a:extLst xmlns:a="http://schemas.openxmlformats.org/drawingml/2006/main">
              <a:ext uri="{FF2B5EF4-FFF2-40B4-BE49-F238E27FC236}">
                <a16:creationId xmlns:a16="http://schemas.microsoft.com/office/drawing/2014/main" id="{2F9250A0-2494-4CC4-9B0D-49D1A4C277D0}"/>
              </a:ext>
            </a:extLst>
          </p:cNvPr>
          <p:cNvSpPr>
            <a:spLocks xmlns:a="http://schemas.openxmlformats.org/drawingml/2006/main" noGrp="1"/>
          </p:cNvSpPr>
          <p:nvPr/>
        </p:nvSpPr>
        <p:spPr>
          <a:xfrm xmlns:a="http://schemas.openxmlformats.org/drawingml/2006/main">
            <a:off x="6477000" y="2781300"/>
            <a:ext cx="4857750" cy="2724150"/>
          </a:xfrm>
          <a:prstGeom xmlns:a="http://schemas.openxmlformats.org/drawingml/2006/main" prst="roundRect">
            <a:avLst>
              <a:gd name="adj" fmla="val 2797"/>
            </a:avLst>
          </a:prstGeom>
          <a:solidFill xmlns:a="http://schemas.openxmlformats.org/drawingml/2006/main">
            <a:srgbClr val="F8EBD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8E52166-7843-4B5D-83E7-2B2918A9D92D}"/>
              </a:ext>
            </a:extLst>
          </p:cNvPr>
          <p:cNvSpPr>
            <a:spLocks xmlns:a="http://schemas.openxmlformats.org/drawingml/2006/main" noGrp="1"/>
          </p:cNvSpPr>
          <p:nvPr/>
        </p:nvSpPr>
        <p:spPr>
          <a:xfrm xmlns:a="http://schemas.openxmlformats.org/drawingml/2006/main">
            <a:off x="6734175" y="2971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D98839"/>
                </a:solidFill>
                <a:latin typeface="Yu Gothic"/>
                <a:ea typeface="Yu Gothic"/>
                <a:cs typeface="Yu Gothic"/>
              </a:defRPr>
            </a:pPr>
            <a:r>
              <a:rPr sz="1800" b="1">
                <a:solidFill>
                  <a:srgbClr val="D98839"/>
                </a:solidFill>
                <a:latin typeface="Yu Gothic"/>
                <a:ea typeface="Yu Gothic"/>
                <a:cs typeface="Yu Gothic"/>
              </a:rPr>
              <a:t>まだ確認できていない</a:t>
            </a:r>
          </a:p>
        </p:txBody>
      </p:sp>
      <p:sp>
        <p:nvSpPr>
          <p:cNvPr id="19" name="">
            <a:extLst xmlns:a="http://schemas.openxmlformats.org/drawingml/2006/main">
              <a:ext uri="{FF2B5EF4-FFF2-40B4-BE49-F238E27FC236}">
                <a16:creationId xmlns:a16="http://schemas.microsoft.com/office/drawing/2014/main" id="{FF090D7A-37B9-4B64-B970-DE4CBE5A0313}"/>
              </a:ext>
            </a:extLst>
          </p:cNvPr>
          <p:cNvSpPr>
            <a:spLocks xmlns:a="http://schemas.openxmlformats.org/drawingml/2006/main" noGrp="1"/>
          </p:cNvSpPr>
          <p:nvPr/>
        </p:nvSpPr>
        <p:spPr>
          <a:xfrm xmlns:a="http://schemas.openxmlformats.org/drawingml/2006/main">
            <a:off x="6753225" y="3571875"/>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C2056F-7A61-4637-8BDF-21C199907487}"/>
              </a:ext>
            </a:extLst>
          </p:cNvPr>
          <p:cNvSpPr>
            <a:spLocks xmlns:a="http://schemas.openxmlformats.org/drawingml/2006/main" noGrp="1"/>
          </p:cNvSpPr>
          <p:nvPr/>
        </p:nvSpPr>
        <p:spPr>
          <a:xfrm xmlns:a="http://schemas.openxmlformats.org/drawingml/2006/main">
            <a:off x="6962775" y="3495675"/>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高精度な稲高・実測高との対応</a:t>
            </a:r>
          </a:p>
        </p:txBody>
      </p:sp>
      <p:sp>
        <p:nvSpPr>
          <p:cNvPr id="21" name="">
            <a:extLst xmlns:a="http://schemas.openxmlformats.org/drawingml/2006/main">
              <a:ext uri="{FF2B5EF4-FFF2-40B4-BE49-F238E27FC236}">
                <a16:creationId xmlns:a16="http://schemas.microsoft.com/office/drawing/2014/main" id="{11A336A6-CA47-4819-9E94-0D22BB24303A}"/>
              </a:ext>
            </a:extLst>
          </p:cNvPr>
          <p:cNvSpPr>
            <a:spLocks xmlns:a="http://schemas.openxmlformats.org/drawingml/2006/main" noGrp="1"/>
          </p:cNvSpPr>
          <p:nvPr/>
        </p:nvSpPr>
        <p:spPr>
          <a:xfrm xmlns:a="http://schemas.openxmlformats.org/drawingml/2006/main">
            <a:off x="6753225" y="4095750"/>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7E4D017-D8B9-47E1-A8DD-B4CD1815BC63}"/>
              </a:ext>
            </a:extLst>
          </p:cNvPr>
          <p:cNvSpPr>
            <a:spLocks xmlns:a="http://schemas.openxmlformats.org/drawingml/2006/main" noGrp="1"/>
          </p:cNvSpPr>
          <p:nvPr/>
        </p:nvSpPr>
        <p:spPr>
          <a:xfrm xmlns:a="http://schemas.openxmlformats.org/drawingml/2006/main">
            <a:off x="6962775" y="4019550"/>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raw frame単位のGT付き評価</a:t>
            </a:r>
          </a:p>
        </p:txBody>
      </p:sp>
      <p:sp>
        <p:nvSpPr>
          <p:cNvPr id="23" name="">
            <a:extLst xmlns:a="http://schemas.openxmlformats.org/drawingml/2006/main">
              <a:ext uri="{FF2B5EF4-FFF2-40B4-BE49-F238E27FC236}">
                <a16:creationId xmlns:a16="http://schemas.microsoft.com/office/drawing/2014/main" id="{F7DAEF58-D82D-4C47-970F-5B3E783D79C6}"/>
              </a:ext>
            </a:extLst>
          </p:cNvPr>
          <p:cNvSpPr>
            <a:spLocks xmlns:a="http://schemas.openxmlformats.org/drawingml/2006/main" noGrp="1"/>
          </p:cNvSpPr>
          <p:nvPr/>
        </p:nvSpPr>
        <p:spPr>
          <a:xfrm xmlns:a="http://schemas.openxmlformats.org/drawingml/2006/main">
            <a:off x="6753225" y="4619625"/>
            <a:ext cx="85725" cy="85725"/>
          </a:xfrm>
          <a:prstGeom xmlns:a="http://schemas.openxmlformats.org/drawingml/2006/main" prst="ellipse">
            <a:avLst/>
          </a:prstGeom>
          <a:solidFill xmlns:a="http://schemas.openxmlformats.org/drawingml/2006/main">
            <a:srgbClr val="D988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7D4A111-E0CA-407A-8563-D96E42A2B424}"/>
              </a:ext>
            </a:extLst>
          </p:cNvPr>
          <p:cNvSpPr>
            <a:spLocks xmlns:a="http://schemas.openxmlformats.org/drawingml/2006/main" noGrp="1"/>
          </p:cNvSpPr>
          <p:nvPr/>
        </p:nvSpPr>
        <p:spPr>
          <a:xfrm xmlns:a="http://schemas.openxmlformats.org/drawingml/2006/main">
            <a:off x="6962775" y="4543425"/>
            <a:ext cx="4057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0">
                <a:solidFill>
                  <a:srgbClr val="253443"/>
                </a:solidFill>
                <a:latin typeface="Yu Gothic"/>
                <a:ea typeface="Yu Gothic"/>
                <a:cs typeface="Yu Gothic"/>
              </a:defRPr>
            </a:pPr>
            <a:r>
              <a:rPr sz="1500" b="0">
                <a:solidFill>
                  <a:srgbClr val="253443"/>
                </a:solidFill>
                <a:latin typeface="Yu Gothic"/>
                <a:ea typeface="Yu Gothic"/>
                <a:cs typeface="Yu Gothic"/>
              </a:rPr>
              <a:t>plot-level・別日への汎化</a:t>
            </a:r>
          </a:p>
        </p:txBody>
      </p:sp>
      <p:sp>
        <p:nvSpPr>
          <p:cNvPr id="25" name="">
            <a:extLst xmlns:a="http://schemas.openxmlformats.org/drawingml/2006/main">
              <a:ext uri="{FF2B5EF4-FFF2-40B4-BE49-F238E27FC236}">
                <a16:creationId xmlns:a16="http://schemas.microsoft.com/office/drawing/2014/main" id="{47407574-140A-4BB6-BCD8-635FCAB77084}"/>
              </a:ext>
            </a:extLst>
          </p:cNvPr>
          <p:cNvSpPr>
            <a:spLocks xmlns:a="http://schemas.openxmlformats.org/drawingml/2006/main" noGrp="1"/>
          </p:cNvSpPr>
          <p:nvPr/>
        </p:nvSpPr>
        <p:spPr>
          <a:xfrm xmlns:a="http://schemas.openxmlformats.org/drawingml/2006/main">
            <a:off x="1143000" y="58293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42A43"/>
                </a:solidFill>
                <a:latin typeface="Yu Gothic"/>
                <a:ea typeface="Yu Gothic"/>
                <a:cs typeface="Yu Gothic"/>
              </a:defRPr>
            </a:pPr>
            <a:r>
              <a:rPr sz="1725" b="1">
                <a:solidFill>
                  <a:srgbClr val="142A43"/>
                </a:solidFill>
                <a:latin typeface="Yu Gothic"/>
                <a:ea typeface="Yu Gothic"/>
                <a:cs typeface="Yu Gothic"/>
              </a:rPr>
              <a:t>必要条件：camera geometry ＋ ground plane ＋ 外部scale ＋ 実測高さ</a:t>
            </a:r>
          </a:p>
        </p:txBody>
      </p:sp>
    </p:spTree>
    <p:extLst>
      <p:ext uri="{BB962C8B-B14F-4D97-AF65-F5344CB8AC3E}">
        <p14:creationId xmlns:p14="http://schemas.microsoft.com/office/powerpoint/2010/main" val="18318107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32CFA44-BC6C-4883-818C-470EA642A6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19034B-949B-4C44-A8FE-0790444A4674}"/>
              </a:ext>
            </a:extLst>
          </p:cNvPr>
          <p:cNvSpPr>
            <a:spLocks xmlns:a="http://schemas.openxmlformats.org/drawingml/2006/main" noGrp="1"/>
          </p:cNvSpPr>
          <p:nvPr/>
        </p:nvSpPr>
        <p:spPr>
          <a:xfrm xmlns:a="http://schemas.openxmlformats.org/drawingml/2006/main">
            <a:off x="552450" y="285750"/>
            <a:ext cx="1109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42A43"/>
                </a:solidFill>
                <a:latin typeface="Yu Gothic"/>
                <a:ea typeface="Yu Gothic"/>
                <a:cs typeface="Yu Gothic"/>
              </a:defRPr>
            </a:pPr>
            <a:r>
              <a:rPr sz="3000" b="1">
                <a:solidFill>
                  <a:srgbClr val="142A43"/>
                </a:solidFill>
                <a:latin typeface="Yu Gothic"/>
                <a:ea typeface="Yu Gothic"/>
                <a:cs typeface="Yu Gothic"/>
              </a:rPr>
              <a:t>今後の研究フロー</a:t>
            </a:r>
          </a:p>
        </p:txBody>
      </p:sp>
      <p:sp>
        <p:nvSpPr>
          <p:cNvPr id="3" name="">
            <a:extLst xmlns:a="http://schemas.openxmlformats.org/drawingml/2006/main">
              <a:ext uri="{FF2B5EF4-FFF2-40B4-BE49-F238E27FC236}">
                <a16:creationId xmlns:a16="http://schemas.microsoft.com/office/drawing/2014/main" id="{52A57684-417A-4FCF-886A-AE34B73CE6A1}"/>
              </a:ext>
            </a:extLst>
          </p:cNvPr>
          <p:cNvSpPr>
            <a:spLocks xmlns:a="http://schemas.openxmlformats.org/drawingml/2006/main" noGrp="1"/>
          </p:cNvSpPr>
          <p:nvPr/>
        </p:nvSpPr>
        <p:spPr>
          <a:xfrm xmlns:a="http://schemas.openxmlformats.org/drawingml/2006/main">
            <a:off x="571500" y="952500"/>
            <a:ext cx="11049000" cy="285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77CEF9-877C-4754-AE31-CB090C9D6AF1}"/>
              </a:ext>
            </a:extLst>
          </p:cNvPr>
          <p:cNvSpPr>
            <a:spLocks xmlns:a="http://schemas.openxmlformats.org/drawingml/2006/main" noGrp="1"/>
          </p:cNvSpPr>
          <p:nvPr/>
        </p:nvSpPr>
        <p:spPr>
          <a:xfrm xmlns:a="http://schemas.openxmlformats.org/drawingml/2006/main">
            <a:off x="571500" y="6477000"/>
            <a:ext cx="11049000" cy="14288"/>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992479-404F-4FF0-8AAC-8D137F993B8C}"/>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a:solidFill>
                  <a:srgbClr val="62717F"/>
                </a:solidFill>
                <a:latin typeface="Yu Gothic"/>
                <a:ea typeface="Yu Gothic"/>
                <a:cs typeface="Yu Gothic"/>
              </a:defRPr>
            </a:pPr>
            <a:r>
              <a:rPr sz="975" b="0">
                <a:solidFill>
                  <a:srgbClr val="62717F"/>
                </a:solidFill>
                <a:latin typeface="Yu Gothic"/>
                <a:ea typeface="Yu Gothic"/>
                <a:cs typeface="Yu Gothic"/>
              </a:rPr>
              <a:t>研究室で取得するUAVデータで、独立した稲高評価と校正を行う。</a:t>
            </a:r>
          </a:p>
        </p:txBody>
      </p:sp>
      <p:sp>
        <p:nvSpPr>
          <p:cNvPr id="6" name="">
            <a:extLst xmlns:a="http://schemas.openxmlformats.org/drawingml/2006/main">
              <a:ext uri="{FF2B5EF4-FFF2-40B4-BE49-F238E27FC236}">
                <a16:creationId xmlns:a16="http://schemas.microsoft.com/office/drawing/2014/main" id="{5EEC207F-45BF-4300-A38C-CFF3C2E7919E}"/>
              </a:ext>
            </a:extLst>
          </p:cNvPr>
          <p:cNvSpPr>
            <a:spLocks xmlns:a="http://schemas.openxmlformats.org/drawingml/2006/main" noGrp="1"/>
          </p:cNvSpPr>
          <p:nvPr/>
        </p:nvSpPr>
        <p:spPr>
          <a:xfrm xmlns:a="http://schemas.openxmlformats.org/drawingml/2006/main">
            <a:off x="11049000" y="65246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200" b="1">
                <a:solidFill>
                  <a:srgbClr val="62717F"/>
                </a:solidFill>
                <a:latin typeface="Yu Gothic"/>
                <a:ea typeface="Yu Gothic"/>
                <a:cs typeface="Yu Gothic"/>
              </a:defRPr>
            </a:pPr>
            <a:r>
              <a:rPr sz="1200" b="1">
                <a:solidFill>
                  <a:srgbClr val="62717F"/>
                </a:solidFill>
                <a:latin typeface="Yu Gothic"/>
                <a:ea typeface="Yu Gothic"/>
                <a:cs typeface="Yu Gothic"/>
              </a:rPr>
              <a:t>15</a:t>
            </a:r>
          </a:p>
        </p:txBody>
      </p:sp>
      <p:sp>
        <p:nvSpPr>
          <p:cNvPr id="7" name="">
            <a:extLst xmlns:a="http://schemas.openxmlformats.org/drawingml/2006/main">
              <a:ext uri="{FF2B5EF4-FFF2-40B4-BE49-F238E27FC236}">
                <a16:creationId xmlns:a16="http://schemas.microsoft.com/office/drawing/2014/main" id="{CC2E6EC4-E373-4A0E-89F3-F6C3CE892F25}"/>
              </a:ext>
            </a:extLst>
          </p:cNvPr>
          <p:cNvSpPr>
            <a:spLocks xmlns:a="http://schemas.openxmlformats.org/drawingml/2006/main" noGrp="1"/>
          </p:cNvSpPr>
          <p:nvPr/>
        </p:nvSpPr>
        <p:spPr>
          <a:xfrm xmlns:a="http://schemas.openxmlformats.org/drawingml/2006/main">
            <a:off x="800100" y="1028700"/>
            <a:ext cx="1828800" cy="266700"/>
          </a:xfrm>
          <a:prstGeom xmlns:a="http://schemas.openxmlformats.org/drawingml/2006/main" prst="roundRect">
            <a:avLst>
              <a:gd name="adj" fmla="val 28571"/>
            </a:avLst>
          </a:prstGeom>
          <a:solidFill xmlns:a="http://schemas.openxmlformats.org/drawingml/2006/main">
            <a:srgbClr val="DCEA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9EB3E2-CA78-48D2-8896-1412446EBFCB}"/>
              </a:ext>
            </a:extLst>
          </p:cNvPr>
          <p:cNvSpPr>
            <a:spLocks xmlns:a="http://schemas.openxmlformats.org/drawingml/2006/main" noGrp="1"/>
          </p:cNvSpPr>
          <p:nvPr/>
        </p:nvSpPr>
        <p:spPr>
          <a:xfrm xmlns:a="http://schemas.openxmlformats.org/drawingml/2006/main">
            <a:off x="876300" y="1057275"/>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2D6F9F"/>
                </a:solidFill>
                <a:latin typeface="Yu Gothic"/>
                <a:ea typeface="Yu Gothic"/>
                <a:cs typeface="Yu Gothic"/>
              </a:defRPr>
            </a:pPr>
            <a:r>
              <a:rPr sz="1200" b="1">
                <a:solidFill>
                  <a:srgbClr val="2D6F9F"/>
                </a:solidFill>
                <a:latin typeface="Yu Gothic"/>
                <a:ea typeface="Yu Gothic"/>
                <a:cs typeface="Yu Gothic"/>
              </a:rPr>
              <a:t>入力・校正用データ</a:t>
            </a:r>
          </a:p>
        </p:txBody>
      </p:sp>
      <p:sp>
        <p:nvSpPr>
          <p:cNvPr id="9" name="">
            <a:extLst xmlns:a="http://schemas.openxmlformats.org/drawingml/2006/main">
              <a:ext uri="{FF2B5EF4-FFF2-40B4-BE49-F238E27FC236}">
                <a16:creationId xmlns:a16="http://schemas.microsoft.com/office/drawing/2014/main" id="{EEAF2F3B-5E68-4551-A390-689AB50AC60D}"/>
              </a:ext>
            </a:extLst>
          </p:cNvPr>
          <p:cNvSpPr>
            <a:spLocks xmlns:a="http://schemas.openxmlformats.org/drawingml/2006/main" noGrp="1"/>
          </p:cNvSpPr>
          <p:nvPr/>
        </p:nvSpPr>
        <p:spPr>
          <a:xfrm xmlns:a="http://schemas.openxmlformats.org/drawingml/2006/main">
            <a:off x="733425" y="1343025"/>
            <a:ext cx="2143125" cy="714375"/>
          </a:xfrm>
          <a:prstGeom xmlns:a="http://schemas.openxmlformats.org/drawingml/2006/main" prst="roundRect">
            <a:avLst>
              <a:gd name="adj" fmla="val 10667"/>
            </a:avLst>
          </a:prstGeom>
          <a:solidFill xmlns:a="http://schemas.openxmlformats.org/drawingml/2006/main">
            <a:srgbClr val="DCEAF4"/>
          </a:solidFill>
          <a:ln xmlns:a="http://schemas.openxmlformats.org/drawingml/2006/main" w="9525">
            <a:solidFill>
              <a:srgbClr val="D9E1E7"/>
            </a:solidFill>
            <a:prstDash val="solid"/>
          </a:ln>
        </p:spPr>
      </p:sp>
      <p:sp>
        <p:nvSpPr>
          <p:cNvPr id="10" name="">
            <a:extLst xmlns:a="http://schemas.openxmlformats.org/drawingml/2006/main">
              <a:ext uri="{FF2B5EF4-FFF2-40B4-BE49-F238E27FC236}">
                <a16:creationId xmlns:a16="http://schemas.microsoft.com/office/drawing/2014/main" id="{994F0A52-073D-4698-AE37-E6C925707F7D}"/>
              </a:ext>
            </a:extLst>
          </p:cNvPr>
          <p:cNvSpPr>
            <a:spLocks xmlns:a="http://schemas.openxmlformats.org/drawingml/2006/main" noGrp="1"/>
          </p:cNvSpPr>
          <p:nvPr/>
        </p:nvSpPr>
        <p:spPr>
          <a:xfrm xmlns:a="http://schemas.openxmlformats.org/drawingml/2006/main">
            <a:off x="733425" y="1343025"/>
            <a:ext cx="66675" cy="7143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344290-85C3-43E2-AE1B-2C3539EBCD70}"/>
              </a:ext>
            </a:extLst>
          </p:cNvPr>
          <p:cNvSpPr>
            <a:spLocks xmlns:a="http://schemas.openxmlformats.org/drawingml/2006/main" noGrp="1"/>
          </p:cNvSpPr>
          <p:nvPr/>
        </p:nvSpPr>
        <p:spPr>
          <a:xfrm xmlns:a="http://schemas.openxmlformats.org/drawingml/2006/main">
            <a:off x="895350" y="1438275"/>
            <a:ext cx="1876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UAV RGB</a:t>
            </a:r>
          </a:p>
        </p:txBody>
      </p:sp>
      <p:sp>
        <p:nvSpPr>
          <p:cNvPr id="12" name="">
            <a:extLst xmlns:a="http://schemas.openxmlformats.org/drawingml/2006/main">
              <a:ext uri="{FF2B5EF4-FFF2-40B4-BE49-F238E27FC236}">
                <a16:creationId xmlns:a16="http://schemas.microsoft.com/office/drawing/2014/main" id="{77B05E95-4081-4468-95F0-C36D6611A9B2}"/>
              </a:ext>
            </a:extLst>
          </p:cNvPr>
          <p:cNvSpPr>
            <a:spLocks xmlns:a="http://schemas.openxmlformats.org/drawingml/2006/main" noGrp="1"/>
          </p:cNvSpPr>
          <p:nvPr/>
        </p:nvSpPr>
        <p:spPr>
          <a:xfrm xmlns:a="http://schemas.openxmlformats.org/drawingml/2006/main">
            <a:off x="895350" y="1762125"/>
            <a:ext cx="1876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intrinsics</a:t>
            </a:r>
          </a:p>
        </p:txBody>
      </p:sp>
      <p:sp>
        <p:nvSpPr>
          <p:cNvPr id="13" name="">
            <a:extLst xmlns:a="http://schemas.openxmlformats.org/drawingml/2006/main">
              <a:ext uri="{FF2B5EF4-FFF2-40B4-BE49-F238E27FC236}">
                <a16:creationId xmlns:a16="http://schemas.microsoft.com/office/drawing/2014/main" id="{A10CBA46-5C99-4E58-B2E4-D42686E0923A}"/>
              </a:ext>
            </a:extLst>
          </p:cNvPr>
          <p:cNvSpPr>
            <a:spLocks xmlns:a="http://schemas.openxmlformats.org/drawingml/2006/main" noGrp="1"/>
          </p:cNvSpPr>
          <p:nvPr/>
        </p:nvSpPr>
        <p:spPr>
          <a:xfrm xmlns:a="http://schemas.openxmlformats.org/drawingml/2006/main">
            <a:off x="2952750" y="1571625"/>
            <a:ext cx="43815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30EB43-9043-468D-9CC0-B814A97B0814}"/>
              </a:ext>
            </a:extLst>
          </p:cNvPr>
          <p:cNvSpPr>
            <a:spLocks xmlns:a="http://schemas.openxmlformats.org/drawingml/2006/main" noGrp="1"/>
          </p:cNvSpPr>
          <p:nvPr/>
        </p:nvSpPr>
        <p:spPr>
          <a:xfrm xmlns:a="http://schemas.openxmlformats.org/drawingml/2006/main">
            <a:off x="3476625" y="1343025"/>
            <a:ext cx="2514600" cy="714375"/>
          </a:xfrm>
          <a:prstGeom xmlns:a="http://schemas.openxmlformats.org/drawingml/2006/main" prst="roundRect">
            <a:avLst>
              <a:gd name="adj" fmla="val 10667"/>
            </a:avLst>
          </a:prstGeom>
          <a:solidFill xmlns:a="http://schemas.openxmlformats.org/drawingml/2006/main">
            <a:srgbClr val="F4F7F9"/>
          </a:solidFill>
          <a:ln xmlns:a="http://schemas.openxmlformats.org/drawingml/2006/main" w="9525">
            <a:solidFill>
              <a:srgbClr val="D9E1E7"/>
            </a:solidFill>
            <a:prstDash val="solid"/>
          </a:ln>
        </p:spPr>
      </p:sp>
      <p:sp>
        <p:nvSpPr>
          <p:cNvPr id="15" name="">
            <a:extLst xmlns:a="http://schemas.openxmlformats.org/drawingml/2006/main">
              <a:ext uri="{FF2B5EF4-FFF2-40B4-BE49-F238E27FC236}">
                <a16:creationId xmlns:a16="http://schemas.microsoft.com/office/drawing/2014/main" id="{108D5649-7010-46E4-82AC-9603ED1C341C}"/>
              </a:ext>
            </a:extLst>
          </p:cNvPr>
          <p:cNvSpPr>
            <a:spLocks xmlns:a="http://schemas.openxmlformats.org/drawingml/2006/main" noGrp="1"/>
          </p:cNvSpPr>
          <p:nvPr/>
        </p:nvSpPr>
        <p:spPr>
          <a:xfrm xmlns:a="http://schemas.openxmlformats.org/drawingml/2006/main">
            <a:off x="3476625" y="1343025"/>
            <a:ext cx="66675" cy="714375"/>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B5C59E6-93B0-491D-9293-E3D96A2040F0}"/>
              </a:ext>
            </a:extLst>
          </p:cNvPr>
          <p:cNvSpPr>
            <a:spLocks xmlns:a="http://schemas.openxmlformats.org/drawingml/2006/main" noGrp="1"/>
          </p:cNvSpPr>
          <p:nvPr/>
        </p:nvSpPr>
        <p:spPr>
          <a:xfrm xmlns:a="http://schemas.openxmlformats.org/drawingml/2006/main">
            <a:off x="3638550" y="14382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Camera Pose / AGL</a:t>
            </a:r>
          </a:p>
        </p:txBody>
      </p:sp>
      <p:sp>
        <p:nvSpPr>
          <p:cNvPr id="17" name="">
            <a:extLst xmlns:a="http://schemas.openxmlformats.org/drawingml/2006/main">
              <a:ext uri="{FF2B5EF4-FFF2-40B4-BE49-F238E27FC236}">
                <a16:creationId xmlns:a16="http://schemas.microsoft.com/office/drawing/2014/main" id="{9FE3C1D4-336E-45A3-9721-68C7513BB28A}"/>
              </a:ext>
            </a:extLst>
          </p:cNvPr>
          <p:cNvSpPr>
            <a:spLocks xmlns:a="http://schemas.openxmlformats.org/drawingml/2006/main" noGrp="1"/>
          </p:cNvSpPr>
          <p:nvPr/>
        </p:nvSpPr>
        <p:spPr>
          <a:xfrm xmlns:a="http://schemas.openxmlformats.org/drawingml/2006/main">
            <a:off x="3638550" y="1762125"/>
            <a:ext cx="2247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ground plane</a:t>
            </a:r>
          </a:p>
        </p:txBody>
      </p:sp>
      <p:sp>
        <p:nvSpPr>
          <p:cNvPr id="18" name="">
            <a:extLst xmlns:a="http://schemas.openxmlformats.org/drawingml/2006/main">
              <a:ext uri="{FF2B5EF4-FFF2-40B4-BE49-F238E27FC236}">
                <a16:creationId xmlns:a16="http://schemas.microsoft.com/office/drawing/2014/main" id="{39647854-6BD2-4A3E-A302-E8DFB9C42CD3}"/>
              </a:ext>
            </a:extLst>
          </p:cNvPr>
          <p:cNvSpPr>
            <a:spLocks xmlns:a="http://schemas.openxmlformats.org/drawingml/2006/main" noGrp="1"/>
          </p:cNvSpPr>
          <p:nvPr/>
        </p:nvSpPr>
        <p:spPr>
          <a:xfrm xmlns:a="http://schemas.openxmlformats.org/drawingml/2006/main">
            <a:off x="6067425" y="1571625"/>
            <a:ext cx="43815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99EA83-9A6E-4369-9ABE-0C13711297DA}"/>
              </a:ext>
            </a:extLst>
          </p:cNvPr>
          <p:cNvSpPr>
            <a:spLocks xmlns:a="http://schemas.openxmlformats.org/drawingml/2006/main" noGrp="1"/>
          </p:cNvSpPr>
          <p:nvPr/>
        </p:nvSpPr>
        <p:spPr>
          <a:xfrm xmlns:a="http://schemas.openxmlformats.org/drawingml/2006/main">
            <a:off x="6591300" y="1343025"/>
            <a:ext cx="2219325" cy="714375"/>
          </a:xfrm>
          <a:prstGeom xmlns:a="http://schemas.openxmlformats.org/drawingml/2006/main" prst="roundRect">
            <a:avLst>
              <a:gd name="adj" fmla="val 10667"/>
            </a:avLst>
          </a:prstGeom>
          <a:solidFill xmlns:a="http://schemas.openxmlformats.org/drawingml/2006/main">
            <a:srgbClr val="F8EBDD"/>
          </a:solidFill>
          <a:ln xmlns:a="http://schemas.openxmlformats.org/drawingml/2006/main" w="9525">
            <a:solidFill>
              <a:srgbClr val="D9E1E7"/>
            </a:solidFill>
            <a:prstDash val="solid"/>
          </a:ln>
        </p:spPr>
      </p:sp>
      <p:sp>
        <p:nvSpPr>
          <p:cNvPr id="20" name="">
            <a:extLst xmlns:a="http://schemas.openxmlformats.org/drawingml/2006/main">
              <a:ext uri="{FF2B5EF4-FFF2-40B4-BE49-F238E27FC236}">
                <a16:creationId xmlns:a16="http://schemas.microsoft.com/office/drawing/2014/main" id="{8555D9F4-57DB-4CC7-95B4-238F71500BAD}"/>
              </a:ext>
            </a:extLst>
          </p:cNvPr>
          <p:cNvSpPr>
            <a:spLocks xmlns:a="http://schemas.openxmlformats.org/drawingml/2006/main" noGrp="1"/>
          </p:cNvSpPr>
          <p:nvPr/>
        </p:nvSpPr>
        <p:spPr>
          <a:xfrm xmlns:a="http://schemas.openxmlformats.org/drawingml/2006/main">
            <a:off x="6591300" y="1343025"/>
            <a:ext cx="66675" cy="714375"/>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955A03-BEDC-4B45-A468-B04645602B4F}"/>
              </a:ext>
            </a:extLst>
          </p:cNvPr>
          <p:cNvSpPr>
            <a:spLocks xmlns:a="http://schemas.openxmlformats.org/drawingml/2006/main" noGrp="1"/>
          </p:cNvSpPr>
          <p:nvPr/>
        </p:nvSpPr>
        <p:spPr>
          <a:xfrm xmlns:a="http://schemas.openxmlformats.org/drawingml/2006/main">
            <a:off x="6753225" y="14382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実測稲高</a:t>
            </a:r>
          </a:p>
        </p:txBody>
      </p:sp>
      <p:sp>
        <p:nvSpPr>
          <p:cNvPr id="22" name="">
            <a:extLst xmlns:a="http://schemas.openxmlformats.org/drawingml/2006/main">
              <a:ext uri="{FF2B5EF4-FFF2-40B4-BE49-F238E27FC236}">
                <a16:creationId xmlns:a16="http://schemas.microsoft.com/office/drawing/2014/main" id="{77E73D33-956F-496C-B65A-9AA1DF979397}"/>
              </a:ext>
            </a:extLst>
          </p:cNvPr>
          <p:cNvSpPr>
            <a:spLocks xmlns:a="http://schemas.openxmlformats.org/drawingml/2006/main" noGrp="1"/>
          </p:cNvSpPr>
          <p:nvPr/>
        </p:nvSpPr>
        <p:spPr>
          <a:xfrm xmlns:a="http://schemas.openxmlformats.org/drawingml/2006/main">
            <a:off x="6753225" y="1762125"/>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plot / date reference</a:t>
            </a:r>
          </a:p>
        </p:txBody>
      </p:sp>
      <p:sp>
        <p:nvSpPr>
          <p:cNvPr id="23" name="">
            <a:extLst xmlns:a="http://schemas.openxmlformats.org/drawingml/2006/main">
              <a:ext uri="{FF2B5EF4-FFF2-40B4-BE49-F238E27FC236}">
                <a16:creationId xmlns:a16="http://schemas.microsoft.com/office/drawing/2014/main" id="{71CB0639-FAC2-4B9F-AB78-81E618CD87B5}"/>
              </a:ext>
            </a:extLst>
          </p:cNvPr>
          <p:cNvSpPr>
            <a:spLocks xmlns:a="http://schemas.openxmlformats.org/drawingml/2006/main" noGrp="1"/>
          </p:cNvSpPr>
          <p:nvPr/>
        </p:nvSpPr>
        <p:spPr>
          <a:xfrm xmlns:a="http://schemas.openxmlformats.org/drawingml/2006/main">
            <a:off x="8896350" y="1571625"/>
            <a:ext cx="438150" cy="257175"/>
          </a:xfrm>
          <a:prstGeom xmlns:a="http://schemas.openxmlformats.org/drawingml/2006/main" prst="rightArrow">
            <a:avLst/>
          </a:prstGeom>
          <a:solidFill xmlns:a="http://schemas.openxmlformats.org/drawingml/2006/main">
            <a:srgbClr val="2D6F9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3189825-09CE-4F7E-8B96-C795B53CCEDD}"/>
              </a:ext>
            </a:extLst>
          </p:cNvPr>
          <p:cNvSpPr>
            <a:spLocks xmlns:a="http://schemas.openxmlformats.org/drawingml/2006/main" noGrp="1"/>
          </p:cNvSpPr>
          <p:nvPr/>
        </p:nvSpPr>
        <p:spPr>
          <a:xfrm xmlns:a="http://schemas.openxmlformats.org/drawingml/2006/main">
            <a:off x="9420225" y="1343025"/>
            <a:ext cx="1943100" cy="714375"/>
          </a:xfrm>
          <a:prstGeom xmlns:a="http://schemas.openxmlformats.org/drawingml/2006/main" prst="roundRect">
            <a:avLst>
              <a:gd name="adj" fmla="val 10667"/>
            </a:avLst>
          </a:prstGeom>
          <a:solidFill xmlns:a="http://schemas.openxmlformats.org/drawingml/2006/main">
            <a:srgbClr val="E3F3F1"/>
          </a:solidFill>
          <a:ln xmlns:a="http://schemas.openxmlformats.org/drawingml/2006/main" w="9525">
            <a:solidFill>
              <a:srgbClr val="D9E1E7"/>
            </a:solidFill>
            <a:prstDash val="solid"/>
          </a:ln>
        </p:spPr>
      </p:sp>
      <p:sp>
        <p:nvSpPr>
          <p:cNvPr id="25" name="">
            <a:extLst xmlns:a="http://schemas.openxmlformats.org/drawingml/2006/main">
              <a:ext uri="{FF2B5EF4-FFF2-40B4-BE49-F238E27FC236}">
                <a16:creationId xmlns:a16="http://schemas.microsoft.com/office/drawing/2014/main" id="{A9DC49E6-3C0B-47D7-A90F-A5E2CC791D6B}"/>
              </a:ext>
            </a:extLst>
          </p:cNvPr>
          <p:cNvSpPr>
            <a:spLocks xmlns:a="http://schemas.openxmlformats.org/drawingml/2006/main" noGrp="1"/>
          </p:cNvSpPr>
          <p:nvPr/>
        </p:nvSpPr>
        <p:spPr>
          <a:xfrm xmlns:a="http://schemas.openxmlformats.org/drawingml/2006/main">
            <a:off x="9420225" y="1343025"/>
            <a:ext cx="66675" cy="714375"/>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789F392-6AF7-47E5-BF22-3FB2D6DD97BC}"/>
              </a:ext>
            </a:extLst>
          </p:cNvPr>
          <p:cNvSpPr>
            <a:spLocks xmlns:a="http://schemas.openxmlformats.org/drawingml/2006/main" noGrp="1"/>
          </p:cNvSpPr>
          <p:nvPr/>
        </p:nvSpPr>
        <p:spPr>
          <a:xfrm xmlns:a="http://schemas.openxmlformats.org/drawingml/2006/main">
            <a:off x="9582150" y="1438275"/>
            <a:ext cx="1676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Depth Anything V2</a:t>
            </a:r>
          </a:p>
        </p:txBody>
      </p:sp>
      <p:sp>
        <p:nvSpPr>
          <p:cNvPr id="27" name="">
            <a:extLst xmlns:a="http://schemas.openxmlformats.org/drawingml/2006/main">
              <a:ext uri="{FF2B5EF4-FFF2-40B4-BE49-F238E27FC236}">
                <a16:creationId xmlns:a16="http://schemas.microsoft.com/office/drawing/2014/main" id="{B30D3C3A-2E8A-4D61-B87E-DF75086928EB}"/>
              </a:ext>
            </a:extLst>
          </p:cNvPr>
          <p:cNvSpPr>
            <a:spLocks xmlns:a="http://schemas.openxmlformats.org/drawingml/2006/main" noGrp="1"/>
          </p:cNvSpPr>
          <p:nvPr/>
        </p:nvSpPr>
        <p:spPr>
          <a:xfrm xmlns:a="http://schemas.openxmlformats.org/drawingml/2006/main">
            <a:off x="9420225" y="2571750"/>
            <a:ext cx="1943100" cy="714375"/>
          </a:xfrm>
          <a:prstGeom xmlns:a="http://schemas.openxmlformats.org/drawingml/2006/main" prst="roundRect">
            <a:avLst>
              <a:gd name="adj" fmla="val 10667"/>
            </a:avLst>
          </a:prstGeom>
          <a:solidFill xmlns:a="http://schemas.openxmlformats.org/drawingml/2006/main">
            <a:srgbClr val="E3F3F1"/>
          </a:solidFill>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E7A8741F-AFBA-4CB4-87FA-9CAFBE0E6002}"/>
              </a:ext>
            </a:extLst>
          </p:cNvPr>
          <p:cNvSpPr>
            <a:spLocks xmlns:a="http://schemas.openxmlformats.org/drawingml/2006/main" noGrp="1"/>
          </p:cNvSpPr>
          <p:nvPr/>
        </p:nvSpPr>
        <p:spPr>
          <a:xfrm xmlns:a="http://schemas.openxmlformats.org/drawingml/2006/main">
            <a:off x="9420225" y="2571750"/>
            <a:ext cx="66675" cy="714375"/>
          </a:xfrm>
          <a:prstGeom xmlns:a="http://schemas.openxmlformats.org/drawingml/2006/main" prst="rect">
            <a:avLst/>
          </a:prstGeom>
          <a:solidFill xmlns:a="http://schemas.openxmlformats.org/drawingml/2006/main">
            <a:srgbClr val="168C8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FF64E9B-0B61-4A8D-B380-AD90A990F284}"/>
              </a:ext>
            </a:extLst>
          </p:cNvPr>
          <p:cNvSpPr>
            <a:spLocks xmlns:a="http://schemas.openxmlformats.org/drawingml/2006/main" noGrp="1"/>
          </p:cNvSpPr>
          <p:nvPr/>
        </p:nvSpPr>
        <p:spPr>
          <a:xfrm xmlns:a="http://schemas.openxmlformats.org/drawingml/2006/main">
            <a:off x="9582150" y="2667000"/>
            <a:ext cx="1676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DA2 depth</a:t>
            </a:r>
          </a:p>
        </p:txBody>
      </p:sp>
      <p:sp>
        <p:nvSpPr>
          <p:cNvPr id="30" name="">
            <a:extLst xmlns:a="http://schemas.openxmlformats.org/drawingml/2006/main">
              <a:ext uri="{FF2B5EF4-FFF2-40B4-BE49-F238E27FC236}">
                <a16:creationId xmlns:a16="http://schemas.microsoft.com/office/drawing/2014/main" id="{55786F3E-E645-42DE-B0DA-4BDCF9BBEFA8}"/>
              </a:ext>
            </a:extLst>
          </p:cNvPr>
          <p:cNvSpPr>
            <a:spLocks xmlns:a="http://schemas.openxmlformats.org/drawingml/2006/main" noGrp="1"/>
          </p:cNvSpPr>
          <p:nvPr/>
        </p:nvSpPr>
        <p:spPr>
          <a:xfrm xmlns:a="http://schemas.openxmlformats.org/drawingml/2006/main">
            <a:off x="10220325" y="2152650"/>
            <a:ext cx="323850" cy="323850"/>
          </a:xfrm>
          <a:prstGeom xmlns:a="http://schemas.openxmlformats.org/drawingml/2006/main" prst="downArrow">
            <a:avLst/>
          </a:prstGeom>
          <a:solidFill xmlns:a="http://schemas.openxmlformats.org/drawingml/2006/main">
            <a:srgbClr val="168C8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6D07C40-CFA3-4D99-988D-60A4708D51D1}"/>
              </a:ext>
            </a:extLst>
          </p:cNvPr>
          <p:cNvSpPr>
            <a:spLocks xmlns:a="http://schemas.openxmlformats.org/drawingml/2006/main" noGrp="1"/>
          </p:cNvSpPr>
          <p:nvPr/>
        </p:nvSpPr>
        <p:spPr>
          <a:xfrm xmlns:a="http://schemas.openxmlformats.org/drawingml/2006/main">
            <a:off x="8896350" y="2800350"/>
            <a:ext cx="438150" cy="257175"/>
          </a:xfrm>
          <a:prstGeom xmlns:a="http://schemas.openxmlformats.org/drawingml/2006/main" prst="leftArrow">
            <a:avLst/>
          </a:prstGeom>
          <a:solidFill xmlns:a="http://schemas.openxmlformats.org/drawingml/2006/main">
            <a:srgbClr val="D9883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FBB170-49D2-4F5C-9D03-35DF203B5FB3}"/>
              </a:ext>
            </a:extLst>
          </p:cNvPr>
          <p:cNvSpPr>
            <a:spLocks xmlns:a="http://schemas.openxmlformats.org/drawingml/2006/main" noGrp="1"/>
          </p:cNvSpPr>
          <p:nvPr/>
        </p:nvSpPr>
        <p:spPr>
          <a:xfrm xmlns:a="http://schemas.openxmlformats.org/drawingml/2006/main">
            <a:off x="6591300" y="2571750"/>
            <a:ext cx="2219325" cy="714375"/>
          </a:xfrm>
          <a:prstGeom xmlns:a="http://schemas.openxmlformats.org/drawingml/2006/main" prst="roundRect">
            <a:avLst>
              <a:gd name="adj" fmla="val 10667"/>
            </a:avLst>
          </a:prstGeom>
          <a:solidFill xmlns:a="http://schemas.openxmlformats.org/drawingml/2006/main">
            <a:srgbClr val="F4F7F9"/>
          </a:solidFill>
          <a:ln xmlns:a="http://schemas.openxmlformats.org/drawingml/2006/main" w="9525">
            <a:solidFill>
              <a:srgbClr val="D9E1E7"/>
            </a:solidFill>
            <a:prstDash val="solid"/>
          </a:ln>
        </p:spPr>
      </p:sp>
      <p:sp>
        <p:nvSpPr>
          <p:cNvPr id="33" name="">
            <a:extLst xmlns:a="http://schemas.openxmlformats.org/drawingml/2006/main">
              <a:ext uri="{FF2B5EF4-FFF2-40B4-BE49-F238E27FC236}">
                <a16:creationId xmlns:a16="http://schemas.microsoft.com/office/drawing/2014/main" id="{26057BF7-8F56-42B3-ACFD-C3E8D4644AE9}"/>
              </a:ext>
            </a:extLst>
          </p:cNvPr>
          <p:cNvSpPr>
            <a:spLocks xmlns:a="http://schemas.openxmlformats.org/drawingml/2006/main" noGrp="1"/>
          </p:cNvSpPr>
          <p:nvPr/>
        </p:nvSpPr>
        <p:spPr>
          <a:xfrm xmlns:a="http://schemas.openxmlformats.org/drawingml/2006/main">
            <a:off x="6591300" y="2571750"/>
            <a:ext cx="66675" cy="714375"/>
          </a:xfrm>
          <a:prstGeom xmlns:a="http://schemas.openxmlformats.org/drawingml/2006/main" prst="rect">
            <a:avLst/>
          </a:prstGeom>
          <a:solidFill xmlns:a="http://schemas.openxmlformats.org/drawingml/2006/main">
            <a:srgbClr val="142A4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22A5C1-1763-4E5C-83D4-4ECB26B72BDD}"/>
              </a:ext>
            </a:extLst>
          </p:cNvPr>
          <p:cNvSpPr>
            <a:spLocks xmlns:a="http://schemas.openxmlformats.org/drawingml/2006/main" noGrp="1"/>
          </p:cNvSpPr>
          <p:nvPr/>
        </p:nvSpPr>
        <p:spPr>
          <a:xfrm xmlns:a="http://schemas.openxmlformats.org/drawingml/2006/main">
            <a:off x="6753225" y="26670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Calibration</a:t>
            </a:r>
          </a:p>
        </p:txBody>
      </p:sp>
      <p:sp>
        <p:nvSpPr>
          <p:cNvPr id="35" name="">
            <a:extLst xmlns:a="http://schemas.openxmlformats.org/drawingml/2006/main">
              <a:ext uri="{FF2B5EF4-FFF2-40B4-BE49-F238E27FC236}">
                <a16:creationId xmlns:a16="http://schemas.microsoft.com/office/drawing/2014/main" id="{B34B3D37-D5F8-44C4-90B9-E6A258352484}"/>
              </a:ext>
            </a:extLst>
          </p:cNvPr>
          <p:cNvSpPr>
            <a:spLocks xmlns:a="http://schemas.openxmlformats.org/drawingml/2006/main" noGrp="1"/>
          </p:cNvSpPr>
          <p:nvPr/>
        </p:nvSpPr>
        <p:spPr>
          <a:xfrm xmlns:a="http://schemas.openxmlformats.org/drawingml/2006/main">
            <a:off x="6753225" y="299085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geometry correction</a:t>
            </a:r>
          </a:p>
        </p:txBody>
      </p:sp>
      <p:sp>
        <p:nvSpPr>
          <p:cNvPr id="36" name="">
            <a:extLst xmlns:a="http://schemas.openxmlformats.org/drawingml/2006/main">
              <a:ext uri="{FF2B5EF4-FFF2-40B4-BE49-F238E27FC236}">
                <a16:creationId xmlns:a16="http://schemas.microsoft.com/office/drawing/2014/main" id="{B6F610E7-FD93-44D7-8D08-0824FBA9696E}"/>
              </a:ext>
            </a:extLst>
          </p:cNvPr>
          <p:cNvSpPr>
            <a:spLocks xmlns:a="http://schemas.openxmlformats.org/drawingml/2006/main" noGrp="1"/>
          </p:cNvSpPr>
          <p:nvPr/>
        </p:nvSpPr>
        <p:spPr>
          <a:xfrm xmlns:a="http://schemas.openxmlformats.org/drawingml/2006/main">
            <a:off x="6067425" y="2800350"/>
            <a:ext cx="438150" cy="257175"/>
          </a:xfrm>
          <a:prstGeom xmlns:a="http://schemas.openxmlformats.org/drawingml/2006/main" prst="leftArrow">
            <a:avLst/>
          </a:prstGeom>
          <a:solidFill xmlns:a="http://schemas.openxmlformats.org/drawingml/2006/main">
            <a:srgbClr val="2D6F9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8FD34BE-E57C-4EE0-9672-1584A6E2A62F}"/>
              </a:ext>
            </a:extLst>
          </p:cNvPr>
          <p:cNvSpPr>
            <a:spLocks xmlns:a="http://schemas.openxmlformats.org/drawingml/2006/main" noGrp="1"/>
          </p:cNvSpPr>
          <p:nvPr/>
        </p:nvSpPr>
        <p:spPr>
          <a:xfrm xmlns:a="http://schemas.openxmlformats.org/drawingml/2006/main">
            <a:off x="3476625" y="2571750"/>
            <a:ext cx="2514600" cy="714375"/>
          </a:xfrm>
          <a:prstGeom xmlns:a="http://schemas.openxmlformats.org/drawingml/2006/main" prst="roundRect">
            <a:avLst>
              <a:gd name="adj" fmla="val 10667"/>
            </a:avLst>
          </a:prstGeom>
          <a:solidFill xmlns:a="http://schemas.openxmlformats.org/drawingml/2006/main">
            <a:srgbClr val="F8EBDD"/>
          </a:solidFill>
          <a:ln xmlns:a="http://schemas.openxmlformats.org/drawingml/2006/main" w="9525">
            <a:solidFill>
              <a:srgbClr val="D9E1E7"/>
            </a:solidFill>
            <a:prstDash val="solid"/>
          </a:ln>
        </p:spPr>
      </p:sp>
      <p:sp>
        <p:nvSpPr>
          <p:cNvPr id="38" name="">
            <a:extLst xmlns:a="http://schemas.openxmlformats.org/drawingml/2006/main">
              <a:ext uri="{FF2B5EF4-FFF2-40B4-BE49-F238E27FC236}">
                <a16:creationId xmlns:a16="http://schemas.microsoft.com/office/drawing/2014/main" id="{ED6DDBC7-1328-42E0-8623-EB02154FA5B5}"/>
              </a:ext>
            </a:extLst>
          </p:cNvPr>
          <p:cNvSpPr>
            <a:spLocks xmlns:a="http://schemas.openxmlformats.org/drawingml/2006/main" noGrp="1"/>
          </p:cNvSpPr>
          <p:nvPr/>
        </p:nvSpPr>
        <p:spPr>
          <a:xfrm xmlns:a="http://schemas.openxmlformats.org/drawingml/2006/main">
            <a:off x="3476625" y="2571750"/>
            <a:ext cx="66675" cy="714375"/>
          </a:xfrm>
          <a:prstGeom xmlns:a="http://schemas.openxmlformats.org/drawingml/2006/main" prst="rect">
            <a:avLst/>
          </a:prstGeom>
          <a:solidFill xmlns:a="http://schemas.openxmlformats.org/drawingml/2006/main">
            <a:srgbClr val="D98839"/>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A1E8955-E8CF-42D9-97E1-CB59CA19C738}"/>
              </a:ext>
            </a:extLst>
          </p:cNvPr>
          <p:cNvSpPr>
            <a:spLocks xmlns:a="http://schemas.openxmlformats.org/drawingml/2006/main" noGrp="1"/>
          </p:cNvSpPr>
          <p:nvPr/>
        </p:nvSpPr>
        <p:spPr>
          <a:xfrm xmlns:a="http://schemas.openxmlformats.org/drawingml/2006/main">
            <a:off x="3638550" y="26670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稲高推定</a:t>
            </a:r>
          </a:p>
        </p:txBody>
      </p:sp>
      <p:sp>
        <p:nvSpPr>
          <p:cNvPr id="40" name="">
            <a:extLst xmlns:a="http://schemas.openxmlformats.org/drawingml/2006/main">
              <a:ext uri="{FF2B5EF4-FFF2-40B4-BE49-F238E27FC236}">
                <a16:creationId xmlns:a16="http://schemas.microsoft.com/office/drawing/2014/main" id="{37A6A5E5-FEE0-473E-931A-D1ABDA50363C}"/>
              </a:ext>
            </a:extLst>
          </p:cNvPr>
          <p:cNvSpPr>
            <a:spLocks xmlns:a="http://schemas.openxmlformats.org/drawingml/2006/main" noGrp="1"/>
          </p:cNvSpPr>
          <p:nvPr/>
        </p:nvSpPr>
        <p:spPr>
          <a:xfrm xmlns:a="http://schemas.openxmlformats.org/drawingml/2006/main">
            <a:off x="3638550" y="2990850"/>
            <a:ext cx="2247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plot / date evaluation</a:t>
            </a:r>
          </a:p>
        </p:txBody>
      </p:sp>
      <p:sp>
        <p:nvSpPr>
          <p:cNvPr id="41" name="">
            <a:extLst xmlns:a="http://schemas.openxmlformats.org/drawingml/2006/main">
              <a:ext uri="{FF2B5EF4-FFF2-40B4-BE49-F238E27FC236}">
                <a16:creationId xmlns:a16="http://schemas.microsoft.com/office/drawing/2014/main" id="{8BFEEA19-E715-4E5C-A708-4ABE91AFC7B7}"/>
              </a:ext>
            </a:extLst>
          </p:cNvPr>
          <p:cNvSpPr>
            <a:spLocks xmlns:a="http://schemas.openxmlformats.org/drawingml/2006/main" noGrp="1"/>
          </p:cNvSpPr>
          <p:nvPr/>
        </p:nvSpPr>
        <p:spPr>
          <a:xfrm xmlns:a="http://schemas.openxmlformats.org/drawingml/2006/main">
            <a:off x="2952750" y="2800350"/>
            <a:ext cx="438150" cy="257175"/>
          </a:xfrm>
          <a:prstGeom xmlns:a="http://schemas.openxmlformats.org/drawingml/2006/main" prst="leftArrow">
            <a:avLst/>
          </a:prstGeom>
          <a:solidFill xmlns:a="http://schemas.openxmlformats.org/drawingml/2006/main">
            <a:srgbClr val="2D6F9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3247C05-EBF0-4F4E-B35A-B5CC87B00514}"/>
              </a:ext>
            </a:extLst>
          </p:cNvPr>
          <p:cNvSpPr>
            <a:spLocks xmlns:a="http://schemas.openxmlformats.org/drawingml/2006/main" noGrp="1"/>
          </p:cNvSpPr>
          <p:nvPr/>
        </p:nvSpPr>
        <p:spPr>
          <a:xfrm xmlns:a="http://schemas.openxmlformats.org/drawingml/2006/main">
            <a:off x="733425" y="2571750"/>
            <a:ext cx="2143125" cy="714375"/>
          </a:xfrm>
          <a:prstGeom xmlns:a="http://schemas.openxmlformats.org/drawingml/2006/main" prst="roundRect">
            <a:avLst>
              <a:gd name="adj" fmla="val 10667"/>
            </a:avLst>
          </a:prstGeom>
          <a:solidFill xmlns:a="http://schemas.openxmlformats.org/drawingml/2006/main">
            <a:srgbClr val="DCEAF4"/>
          </a:solidFill>
          <a:ln xmlns:a="http://schemas.openxmlformats.org/drawingml/2006/main" w="9525">
            <a:solidFill>
              <a:srgbClr val="D9E1E7"/>
            </a:solidFill>
            <a:prstDash val="solid"/>
          </a:ln>
        </p:spPr>
      </p:sp>
      <p:sp>
        <p:nvSpPr>
          <p:cNvPr id="43" name="">
            <a:extLst xmlns:a="http://schemas.openxmlformats.org/drawingml/2006/main">
              <a:ext uri="{FF2B5EF4-FFF2-40B4-BE49-F238E27FC236}">
                <a16:creationId xmlns:a16="http://schemas.microsoft.com/office/drawing/2014/main" id="{95DC1158-8DDE-483F-BA24-AB3B617BE9EC}"/>
              </a:ext>
            </a:extLst>
          </p:cNvPr>
          <p:cNvSpPr>
            <a:spLocks xmlns:a="http://schemas.openxmlformats.org/drawingml/2006/main" noGrp="1"/>
          </p:cNvSpPr>
          <p:nvPr/>
        </p:nvSpPr>
        <p:spPr>
          <a:xfrm xmlns:a="http://schemas.openxmlformats.org/drawingml/2006/main">
            <a:off x="733425" y="2571750"/>
            <a:ext cx="66675" cy="714375"/>
          </a:xfrm>
          <a:prstGeom xmlns:a="http://schemas.openxmlformats.org/drawingml/2006/main" prst="rect">
            <a:avLst/>
          </a:prstGeom>
          <a:solidFill xmlns:a="http://schemas.openxmlformats.org/drawingml/2006/main">
            <a:srgbClr val="2D6F9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0AFB427-D41F-47D0-9FB4-D268A8900F9E}"/>
              </a:ext>
            </a:extLst>
          </p:cNvPr>
          <p:cNvSpPr>
            <a:spLocks xmlns:a="http://schemas.openxmlformats.org/drawingml/2006/main" noGrp="1"/>
          </p:cNvSpPr>
          <p:nvPr/>
        </p:nvSpPr>
        <p:spPr>
          <a:xfrm xmlns:a="http://schemas.openxmlformats.org/drawingml/2006/main">
            <a:off x="895350" y="2667000"/>
            <a:ext cx="1876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142A43"/>
                </a:solidFill>
                <a:latin typeface="Yu Gothic"/>
                <a:ea typeface="Yu Gothic"/>
                <a:cs typeface="Yu Gothic"/>
              </a:defRPr>
            </a:pPr>
            <a:r>
              <a:rPr sz="1650" b="1">
                <a:solidFill>
                  <a:srgbClr val="142A43"/>
                </a:solidFill>
                <a:latin typeface="Yu Gothic"/>
                <a:ea typeface="Yu Gothic"/>
                <a:cs typeface="Yu Gothic"/>
              </a:rPr>
              <a:t>3D復元</a:t>
            </a:r>
          </a:p>
        </p:txBody>
      </p:sp>
      <p:sp>
        <p:nvSpPr>
          <p:cNvPr id="45" name="">
            <a:extLst xmlns:a="http://schemas.openxmlformats.org/drawingml/2006/main">
              <a:ext uri="{FF2B5EF4-FFF2-40B4-BE49-F238E27FC236}">
                <a16:creationId xmlns:a16="http://schemas.microsoft.com/office/drawing/2014/main" id="{1E7A4ECE-93D4-4542-AA7A-646C1D7BF05A}"/>
              </a:ext>
            </a:extLst>
          </p:cNvPr>
          <p:cNvSpPr>
            <a:spLocks xmlns:a="http://schemas.openxmlformats.org/drawingml/2006/main" noGrp="1"/>
          </p:cNvSpPr>
          <p:nvPr/>
        </p:nvSpPr>
        <p:spPr>
          <a:xfrm xmlns:a="http://schemas.openxmlformats.org/drawingml/2006/main">
            <a:off x="895350" y="2990850"/>
            <a:ext cx="1876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62717F"/>
                </a:solidFill>
                <a:latin typeface="Yu Gothic"/>
                <a:ea typeface="Yu Gothic"/>
                <a:cs typeface="Yu Gothic"/>
              </a:defRPr>
            </a:pPr>
            <a:r>
              <a:rPr sz="1200" b="0">
                <a:solidFill>
                  <a:srgbClr val="62717F"/>
                </a:solidFill>
                <a:latin typeface="Yu Gothic"/>
                <a:ea typeface="Yu Gothic"/>
                <a:cs typeface="Yu Gothic"/>
              </a:rPr>
              <a:t>稲群落 point cloud</a:t>
            </a:r>
          </a:p>
        </p:txBody>
      </p:sp>
      <p:sp>
        <p:nvSpPr>
          <p:cNvPr id="46" name="">
            <a:extLst xmlns:a="http://schemas.openxmlformats.org/drawingml/2006/main">
              <a:ext uri="{FF2B5EF4-FFF2-40B4-BE49-F238E27FC236}">
                <a16:creationId xmlns:a16="http://schemas.microsoft.com/office/drawing/2014/main" id="{14D47FD5-6A71-48B0-8FD8-54505DC6E1B9}"/>
              </a:ext>
            </a:extLst>
          </p:cNvPr>
          <p:cNvSpPr>
            <a:spLocks xmlns:a="http://schemas.openxmlformats.org/drawingml/2006/main" noGrp="1"/>
          </p:cNvSpPr>
          <p:nvPr/>
        </p:nvSpPr>
        <p:spPr>
          <a:xfrm xmlns:a="http://schemas.openxmlformats.org/drawingml/2006/main">
            <a:off x="781050" y="3524250"/>
            <a:ext cx="10620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142A43"/>
                </a:solidFill>
                <a:latin typeface="Yu Gothic"/>
                <a:ea typeface="Yu Gothic"/>
                <a:cs typeface="Yu Gothic"/>
              </a:defRPr>
            </a:pPr>
            <a:r>
              <a:rPr sz="1575" b="1">
                <a:solidFill>
                  <a:srgbClr val="142A43"/>
                </a:solidFill>
                <a:latin typeface="Yu Gothic"/>
                <a:ea typeface="Yu Gothic"/>
                <a:cs typeface="Yu Gothic"/>
              </a:rPr>
              <a:t>独立評価：plot-level / cross-date / 実測高hold-out</a:t>
            </a:r>
          </a:p>
        </p:txBody>
      </p:sp>
      <p:sp>
        <p:nvSpPr>
          <p:cNvPr id="47" name="">
            <a:extLst xmlns:a="http://schemas.openxmlformats.org/drawingml/2006/main">
              <a:ext uri="{FF2B5EF4-FFF2-40B4-BE49-F238E27FC236}">
                <a16:creationId xmlns:a16="http://schemas.microsoft.com/office/drawing/2014/main" id="{6A21B60F-0387-41E7-8255-91791248ED37}"/>
              </a:ext>
            </a:extLst>
          </p:cNvPr>
          <p:cNvSpPr>
            <a:spLocks xmlns:a="http://schemas.openxmlformats.org/drawingml/2006/main" noGrp="1"/>
          </p:cNvSpPr>
          <p:nvPr/>
        </p:nvSpPr>
        <p:spPr>
          <a:xfrm xmlns:a="http://schemas.openxmlformats.org/drawingml/2006/main">
            <a:off x="762000" y="4086225"/>
            <a:ext cx="10648950" cy="19050"/>
          </a:xfrm>
          <a:prstGeom xmlns:a="http://schemas.openxmlformats.org/drawingml/2006/main" prst="rect">
            <a:avLst/>
          </a:prstGeom>
          <a:solidFill xmlns:a="http://schemas.openxmlformats.org/drawingml/2006/main">
            <a:srgbClr val="D9E1E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DE51936-6A29-4B82-BE5B-48621A9B4DE2}"/>
              </a:ext>
            </a:extLst>
          </p:cNvPr>
          <p:cNvSpPr>
            <a:spLocks xmlns:a="http://schemas.openxmlformats.org/drawingml/2006/main" noGrp="1"/>
          </p:cNvSpPr>
          <p:nvPr/>
        </p:nvSpPr>
        <p:spPr>
          <a:xfrm xmlns:a="http://schemas.openxmlformats.org/drawingml/2006/main">
            <a:off x="790575" y="4229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2D6F9F"/>
                </a:solidFill>
                <a:latin typeface="Yu Gothic"/>
                <a:ea typeface="Yu Gothic"/>
                <a:cs typeface="Yu Gothic"/>
              </a:defRPr>
            </a:pPr>
            <a:r>
              <a:rPr sz="1425" b="1">
                <a:solidFill>
                  <a:srgbClr val="2D6F9F"/>
                </a:solidFill>
                <a:latin typeface="Yu Gothic"/>
                <a:ea typeface="Yu Gothic"/>
                <a:cs typeface="Yu Gothic"/>
              </a:rPr>
              <a:t>一次資料</a:t>
            </a:r>
          </a:p>
        </p:txBody>
      </p:sp>
      <p:sp>
        <p:nvSpPr>
          <p:cNvPr id="49" name="">
            <a:extLst xmlns:a="http://schemas.openxmlformats.org/drawingml/2006/main">
              <a:ext uri="{FF2B5EF4-FFF2-40B4-BE49-F238E27FC236}">
                <a16:creationId xmlns:a16="http://schemas.microsoft.com/office/drawing/2014/main" id="{CE30C0C7-29D2-45BE-BFFE-D42AB4A02DEE}"/>
              </a:ext>
            </a:extLst>
          </p:cNvPr>
          <p:cNvSpPr>
            <a:spLocks xmlns:a="http://schemas.openxmlformats.org/drawingml/2006/main" noGrp="1"/>
          </p:cNvSpPr>
          <p:nvPr/>
        </p:nvSpPr>
        <p:spPr>
          <a:xfrm xmlns:a="http://schemas.openxmlformats.org/drawingml/2006/main">
            <a:off x="876300" y="45720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[1] Depth Anything V2 — Yang et al., NeurIPS 2024</a:t>
            </a:r>
          </a:p>
        </p:txBody>
      </p:sp>
      <p:sp>
        <p:nvSpPr>
          <p:cNvPr id="50" name="">
            <a:extLst xmlns:a="http://schemas.openxmlformats.org/drawingml/2006/main">
              <a:ext uri="{FF2B5EF4-FFF2-40B4-BE49-F238E27FC236}">
                <a16:creationId xmlns:a16="http://schemas.microsoft.com/office/drawing/2014/main" id="{0C8329DB-DAF2-4671-94ED-6275F3923BCD}"/>
              </a:ext>
            </a:extLst>
          </p:cNvPr>
          <p:cNvSpPr>
            <a:spLocks xmlns:a="http://schemas.openxmlformats.org/drawingml/2006/main" noGrp="1"/>
          </p:cNvSpPr>
          <p:nvPr/>
        </p:nvSpPr>
        <p:spPr>
          <a:xfrm xmlns:a="http://schemas.openxmlformats.org/drawingml/2006/main">
            <a:off x="876300" y="4972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[2] KITTI — Geiger et al., CVPR 2012</a:t>
            </a:r>
          </a:p>
        </p:txBody>
      </p:sp>
      <p:sp>
        <p:nvSpPr>
          <p:cNvPr id="51" name="">
            <a:extLst xmlns:a="http://schemas.openxmlformats.org/drawingml/2006/main">
              <a:ext uri="{FF2B5EF4-FFF2-40B4-BE49-F238E27FC236}">
                <a16:creationId xmlns:a16="http://schemas.microsoft.com/office/drawing/2014/main" id="{A4455DD2-6053-46D3-91AB-B0D4F62AE598}"/>
              </a:ext>
            </a:extLst>
          </p:cNvPr>
          <p:cNvSpPr>
            <a:spLocks xmlns:a="http://schemas.openxmlformats.org/drawingml/2006/main" noGrp="1"/>
          </p:cNvSpPr>
          <p:nvPr/>
        </p:nvSpPr>
        <p:spPr>
          <a:xfrm xmlns:a="http://schemas.openxmlformats.org/drawingml/2006/main">
            <a:off x="876300" y="53721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[3] ETH3D — Schöps et al., CVPR 2017</a:t>
            </a:r>
          </a:p>
        </p:txBody>
      </p:sp>
      <p:sp>
        <p:nvSpPr>
          <p:cNvPr id="52" name="">
            <a:extLst xmlns:a="http://schemas.openxmlformats.org/drawingml/2006/main">
              <a:ext uri="{FF2B5EF4-FFF2-40B4-BE49-F238E27FC236}">
                <a16:creationId xmlns:a16="http://schemas.microsoft.com/office/drawing/2014/main" id="{D3F5E319-CFFA-424A-BF69-1680DE65F907}"/>
              </a:ext>
            </a:extLst>
          </p:cNvPr>
          <p:cNvSpPr>
            <a:spLocks xmlns:a="http://schemas.openxmlformats.org/drawingml/2006/main" noGrp="1"/>
          </p:cNvSpPr>
          <p:nvPr/>
        </p:nvSpPr>
        <p:spPr>
          <a:xfrm xmlns:a="http://schemas.openxmlformats.org/drawingml/2006/main">
            <a:off x="6305550" y="4572000"/>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[4] LUMS rice UAV — Chaudhry et al., 2026</a:t>
            </a:r>
          </a:p>
        </p:txBody>
      </p:sp>
      <p:sp>
        <p:nvSpPr>
          <p:cNvPr id="53" name="">
            <a:extLst xmlns:a="http://schemas.openxmlformats.org/drawingml/2006/main">
              <a:ext uri="{FF2B5EF4-FFF2-40B4-BE49-F238E27FC236}">
                <a16:creationId xmlns:a16="http://schemas.microsoft.com/office/drawing/2014/main" id="{7E2CE120-A933-4E28-AD89-6086AB913919}"/>
              </a:ext>
            </a:extLst>
          </p:cNvPr>
          <p:cNvSpPr>
            <a:spLocks xmlns:a="http://schemas.openxmlformats.org/drawingml/2006/main" noGrp="1"/>
          </p:cNvSpPr>
          <p:nvPr/>
        </p:nvSpPr>
        <p:spPr>
          <a:xfrm xmlns:a="http://schemas.openxmlformats.org/drawingml/2006/main">
            <a:off x="6305550" y="4972050"/>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[5] UAV3DCrop — Zhou et al., 2026</a:t>
            </a:r>
          </a:p>
        </p:txBody>
      </p:sp>
      <p:sp>
        <p:nvSpPr>
          <p:cNvPr id="54" name="">
            <a:extLst xmlns:a="http://schemas.openxmlformats.org/drawingml/2006/main">
              <a:ext uri="{FF2B5EF4-FFF2-40B4-BE49-F238E27FC236}">
                <a16:creationId xmlns:a16="http://schemas.microsoft.com/office/drawing/2014/main" id="{CF510BCE-64D3-43D8-AF09-0094A1BBD5F9}"/>
              </a:ext>
            </a:extLst>
          </p:cNvPr>
          <p:cNvSpPr>
            <a:spLocks xmlns:a="http://schemas.openxmlformats.org/drawingml/2006/main" noGrp="1"/>
          </p:cNvSpPr>
          <p:nvPr/>
        </p:nvSpPr>
        <p:spPr>
          <a:xfrm xmlns:a="http://schemas.openxmlformats.org/drawingml/2006/main">
            <a:off x="6305550" y="5372100"/>
            <a:ext cx="501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a:solidFill>
                  <a:srgbClr val="253443"/>
                </a:solidFill>
                <a:latin typeface="Yu Gothic"/>
                <a:ea typeface="Yu Gothic"/>
                <a:cs typeface="Yu Gothic"/>
              </a:defRPr>
            </a:pPr>
            <a:r>
              <a:rPr sz="1200" b="0">
                <a:solidFill>
                  <a:srgbClr val="253443"/>
                </a:solidFill>
                <a:latin typeface="Yu Gothic"/>
                <a:ea typeface="Yu Gothic"/>
                <a:cs typeface="Yu Gothic"/>
              </a:rPr>
              <a:t>[6] AirMeasurer — Sun et al., New Phytologist, 2022</a:t>
            </a:r>
          </a:p>
        </p:txBody>
      </p:sp>
    </p:spTree>
    <p:extLst>
      <p:ext uri="{BB962C8B-B14F-4D97-AF65-F5344CB8AC3E}">
        <p14:creationId xmlns:p14="http://schemas.microsoft.com/office/powerpoint/2010/main" val="801510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2026-09-25T00:20:48.1050000Z</dcterms:created>
  <dcterms:modified xsi:type="dcterms:W3CDTF">2026-09-25T00:20:48.1050000Z</dcterms:modified>
</coreProperties>
</file>